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نرحب بكم في حفل تدشين تطبيق نافذة أفراد، وشعاره: مدينتك بين يديك. سنروي اليوم قصة التطبيق من خلال ساكن في مدننا: ما يواجهه اليوم، وكيف تغيّر نافذة يومه. التطبيق من الهيئة الملكية للجبيل وينبع وشركة جبين، ومن تطوير شركة رقيم للحلول الذكية.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لنتعرف على أحمد، وهو مثال توضيحي لساكن في الجبيل مع أسرته. هذا الأسبوع يحتاج إلى ثلاثة أشياء: موعد في عيادة، وتسجيل ابنه في مدرسة، وفعالية لأسرته في نهاية الأسبوع. سؤالي لكم: من أين يبدأ أحمد اليوم؟ وكم تطبيقًا أو موقعًا أو زيارة سيحتاج؟ (امنح الحضور لحظة للإجابة).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واقع الخدمات اليوم في أربعة مجالات: الصحة والتعليم والترفيه والاستثمار. لكل مجال قنوات إلكترونية وحضورية مختلفة، والتحدي ليس في الخدمة نفسها بل في تفرّق الوصول إليها. [يُستكمل: القنوات الحالية وأبرز التحديات لكل مجال بالأرقام].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هنا يأتي دور نافذة أفراد. تطبيق واحد يجمع خدمات المدينة في المجالات الأربعة، فيصل الساكن إلى ما يحتاجه من مكان واحد بدل التنقل بين القنوات. وهذا معنى شعارنا: مدينتك بين يديك.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لكل تحدٍّ ذكرناه إجابة في نافذة. الصحة والتعليم والترفيه في مكان واحد، وخدمات المستثمرين تصل إلى السكان موسومة باسم مقدّمها. وأحمد الذي بدأ يومه بين قنوات كثيرة، ينجز حاجاته الثلاث من تطبيق واحد. [يُستكمل: التحديات من الشريحة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نافذة تنسجم مع ثلاثة توجهات. رؤية المملكة 2030 وجودة الحياة، وتوجه هيئة الحكومة الرقمية نحو توحيد القنوات وتجربة متكاملة للمستفيد، واستراتيجية الهيئة الملكية صناعة وحياة التي ترى المدن الصناعية بيئة متكاملة للعيش والعمل والاستثمار. [يُستكمل: الصياغة الرسمية لاستراتيجية صناعة وحياة ومرجع الحكومة الرقمية].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الصحة تجمع نافذة خدمات المدينة الصحية في مكان واحد. [يُستكمل: الخدمات الصحية الفعلية في التطبيق]. وهنا يجد أحمد خدمة العيادة التي يحتاجها دون أن يغادر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التعليم تجمع نافذة مدارس المدينة وخدماتها. [يُستكمل: الخدمات التعليمية الفعلية في التطبيق]. وأحمد يجد ما يحتاجه لتسجيل ابنه في مكان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الترفيه تعرض نافذة فعاليات المدينة ووجهاتها. [يُستكمل: خدمات الترفيه الفعلية في التطبيق]. وأحمد يختار فعالية نهاية الأسبوع لأسرته من التطبيق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الاستثمار تربط نافذة السكان بخدمات المستثمرين في المدينة، وتظهر كل خدمة موسومة باسم مقدّمها. [يُستكمل: بقية خدمات الاستثمار في التطبيق]. وهكذا يرى أحمد خدمات المستثمرين في مدينته ويصل إليها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استلهمنا هوية نافذة من نوافذ المدن الأربع وزخارفها: الساحل الشرقي للجبيل ورأس الخير، والروشان الحجازي في ينبع، وعمارة تهامة في جازان. بسّطنا عنصرًا من كل مدينة ودمجناها في نمط واحد جديد، في مركزه مُعيّن مفتوح يمثل النافذة إلى المدينة.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الألوان مأخوذة من شعار الهيئة الملكية للجبيل وينبع: الأزرق الداكن لنافذة أفراد، والأخضر لنافذة أعمال. والشعار اللفظي يلخص الفكرة كلها: مدينتك بين يديك.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نطلق اليوم المرحلة الأولى: نافذة أفراد للسكان والزوار. والمرحلة التالية نافذة أعمال للمستثمرين وأصحاب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نافذة أعمال هي المرحلة التالية. فيها كل ما يخص المستثمرين وخدماتهم، ومنها تظهر خدماتهم في نافذة أفراد موسومة باسم مقدّمها. وبهذا تصل خدمة المستثمر إلى الساكن مباشرة، ويصبح التطبيقان جسرًا بين الاستثمار والحياة في مدننا.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بدأنا بأحمد وحاجاته الثلاث، وانتهينا بتطبيق واحد يلبيها. بهذا نعلن تدشين نافذة أفراد: مدينتك بين يديك. يمكنكم تحميله الآن بمسح الرمز على الشاشة. شكرًا للهيئة الملكية للجبيل وينبع وشركة جبين، والتطبيق من تطوير شركة رقيم للحلول الذكية.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2.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image" Target="../media/image-11-5.jpg"/><Relationship Id="rId6" Type="http://schemas.openxmlformats.org/officeDocument/2006/relationships/image" Target="../media/image-11-6.png"/><Relationship Id="rId7" Type="http://schemas.openxmlformats.org/officeDocument/2006/relationships/image" Target="../media/image-11-7.jpg"/><Relationship Id="rId8" Type="http://schemas.openxmlformats.org/officeDocument/2006/relationships/image" Target="../media/image-11-8.png"/><Relationship Id="rId9" Type="http://schemas.openxmlformats.org/officeDocument/2006/relationships/image" Target="../media/image-11-9.jp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2.png"/><Relationship Id="rId13" Type="http://schemas.openxmlformats.org/officeDocument/2006/relationships/slideLayout" Target="../slideLayouts/slideLayout1.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image" Target="../media/image-14-2.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8778240" y="-2011680"/>
            <a:ext cx="5120640" cy="5167191"/>
          </a:xfrm>
          <a:prstGeom prst="rect">
            <a:avLst/>
          </a:prstGeom>
        </p:spPr>
      </p:pic>
      <p:pic>
        <p:nvPicPr>
          <p:cNvPr id="3" name="Image 1" descr="زخرفة شعار نافذة">    </p:cNvPr>
          <p:cNvPicPr>
            <a:picLocks noChangeAspect="1"/>
          </p:cNvPicPr>
          <p:nvPr/>
        </p:nvPicPr>
        <p:blipFill>
          <a:blip r:embed="rId2">
            <a:alphaModFix amt="6000"/>
          </a:blip>
          <a:stretch>
            <a:fillRect/>
          </a:stretch>
        </p:blipFill>
        <p:spPr>
          <a:xfrm>
            <a:off x="-2194560" y="3840480"/>
            <a:ext cx="5120640" cy="5167191"/>
          </a:xfrm>
          <a:prstGeom prst="rect">
            <a:avLst/>
          </a:prstGeom>
        </p:spPr>
      </p:pic>
      <p:pic>
        <p:nvPicPr>
          <p:cNvPr id="4" name="anim1_0" descr="نافذة أفراد">    </p:cNvPr>
          <p:cNvPicPr>
            <a:picLocks noChangeAspect="1"/>
          </p:cNvPicPr>
          <p:nvPr/>
        </p:nvPicPr>
        <p:blipFill>
          <a:blip r:embed="rId3"/>
          <a:stretch>
            <a:fillRect/>
          </a:stretch>
        </p:blipFill>
        <p:spPr>
          <a:xfrm>
            <a:off x="5227168" y="502920"/>
            <a:ext cx="1737360" cy="1753154"/>
          </a:xfrm>
          <a:prstGeom prst="rect">
            <a:avLst/>
          </a:prstGeom>
        </p:spPr>
      </p:pic>
      <p:sp>
        <p:nvSpPr>
          <p:cNvPr id="5" name="anim2_1"/>
          <p:cNvSpPr txBox="1"/>
          <p:nvPr/>
        </p:nvSpPr>
        <p:spPr>
          <a:xfrm>
            <a:off x="1828800" y="2331720"/>
            <a:ext cx="8534095" cy="960120"/>
          </a:xfrm>
          <a:prstGeom prst="rect">
            <a:avLst/>
          </a:prstGeom>
          <a:noFill/>
          <a:ln/>
        </p:spPr>
        <p:txBody>
          <a:bodyPr wrap="square" lIns="0" tIns="0" rIns="0" bIns="0" rtlCol="0" anchor="ctr"/>
          <a:lstStyle/>
          <a:p>
            <a:pPr rtl="1" algn="ctr" indent="0" marL="0">
              <a:buNone/>
            </a:pPr>
            <a:r>
              <a:rPr lang="ar-SA" altLang="en-US" sz="5200" b="1" dirty="0">
                <a:solidFill>
                  <a:srgbClr val="052977"/>
                </a:solidFill>
                <a:latin typeface="Cairo" pitchFamily="34" charset="0"/>
                <a:ea typeface="Cairo" pitchFamily="34" charset="-122"/>
                <a:cs typeface="Cairo" pitchFamily="34" charset="-120"/>
              </a:rPr>
              <a:t>نافذة أفراد</a:t>
            </a:r>
            <a:endParaRPr lang="ar-SA" sz="5200" dirty="0"/>
          </a:p>
        </p:txBody>
      </p:sp>
      <p:sp>
        <p:nvSpPr>
          <p:cNvPr id="6" name="anim3_2"/>
          <p:cNvSpPr txBox="1"/>
          <p:nvPr/>
        </p:nvSpPr>
        <p:spPr>
          <a:xfrm>
            <a:off x="1828800" y="3291840"/>
            <a:ext cx="8534095" cy="594360"/>
          </a:xfrm>
          <a:prstGeom prst="rect">
            <a:avLst/>
          </a:prstGeom>
          <a:noFill/>
          <a:ln/>
        </p:spPr>
        <p:txBody>
          <a:bodyPr wrap="square" lIns="0" tIns="0" rIns="0" bIns="0" rtlCol="0" anchor="ctr"/>
          <a:lstStyle/>
          <a:p>
            <a:pPr rtl="1" algn="ctr" indent="0" marL="0">
              <a:buNone/>
            </a:pPr>
            <a:r>
              <a:rPr lang="ar-SA" altLang="en-US" sz="2600" b="1" dirty="0">
                <a:solidFill>
                  <a:srgbClr val="5B6784"/>
                </a:solidFill>
                <a:latin typeface="Cairo" pitchFamily="34" charset="0"/>
                <a:ea typeface="Cairo" pitchFamily="34" charset="-122"/>
                <a:cs typeface="Cairo" pitchFamily="34" charset="-120"/>
              </a:rPr>
              <a:t>مدينتك بين يديك</a:t>
            </a:r>
            <a:endParaRPr lang="ar-SA" sz="2600" dirty="0"/>
          </a:p>
        </p:txBody>
      </p:sp>
      <p:sp>
        <p:nvSpPr>
          <p:cNvPr id="7" name="anim3_3"/>
          <p:cNvSpPr txBox="1"/>
          <p:nvPr/>
        </p:nvSpPr>
        <p:spPr>
          <a:xfrm>
            <a:off x="1828800" y="3840480"/>
            <a:ext cx="8534095" cy="411480"/>
          </a:xfrm>
          <a:prstGeom prst="rect">
            <a:avLst/>
          </a:prstGeom>
          <a:noFill/>
          <a:ln/>
        </p:spPr>
        <p:txBody>
          <a:bodyPr wrap="square" lIns="0" tIns="0" rIns="0" bIns="0" rtlCol="0" anchor="ctr"/>
          <a:lstStyle/>
          <a:p>
            <a:pPr algn="ctr" indent="0" marL="0">
              <a:buNone/>
            </a:pPr>
            <a:r>
              <a:rPr lang="en-US" altLang="en-US" sz="1500" dirty="0">
                <a:solidFill>
                  <a:srgbClr val="5B6784"/>
                </a:solidFill>
                <a:latin typeface="Cairo" pitchFamily="34" charset="0"/>
                <a:ea typeface="Cairo" pitchFamily="34" charset="-122"/>
                <a:cs typeface="Cairo" pitchFamily="34" charset="-120"/>
              </a:rPr>
              <a:t>Your City, within Reach</a:t>
            </a:r>
            <a:endParaRPr lang="en-US" sz="1500" dirty="0"/>
          </a:p>
        </p:txBody>
      </p:sp>
      <p:pic>
        <p:nvPicPr>
          <p:cNvPr id="8" name="anim4_4" descr="شعار الهيئة الملكية للجبيل وينبع">    </p:cNvPr>
          <p:cNvPicPr>
            <a:picLocks noChangeAspect="1"/>
          </p:cNvPicPr>
          <p:nvPr/>
        </p:nvPicPr>
        <p:blipFill>
          <a:blip r:embed="rId4"/>
          <a:stretch>
            <a:fillRect/>
          </a:stretch>
        </p:blipFill>
        <p:spPr>
          <a:xfrm>
            <a:off x="7784534" y="5120640"/>
            <a:ext cx="1145854" cy="868680"/>
          </a:xfrm>
          <a:prstGeom prst="rect">
            <a:avLst/>
          </a:prstGeom>
        </p:spPr>
      </p:pic>
      <p:sp>
        <p:nvSpPr>
          <p:cNvPr id="9" name="anim4_5"/>
          <p:cNvSpPr/>
          <p:nvPr/>
        </p:nvSpPr>
        <p:spPr>
          <a:xfrm>
            <a:off x="7281614" y="5212080"/>
            <a:ext cx="0" cy="685800"/>
          </a:xfrm>
          <a:prstGeom prst="line">
            <a:avLst/>
          </a:prstGeom>
          <a:noFill/>
          <a:ln w="12700">
            <a:solidFill>
              <a:srgbClr val="D6DEEE"/>
            </a:solidFill>
            <a:prstDash val="solid"/>
          </a:ln>
        </p:spPr>
      </p:sp>
      <p:pic>
        <p:nvPicPr>
          <p:cNvPr id="10" name="anim4_6" descr="شعار جبين">    </p:cNvPr>
          <p:cNvPicPr>
            <a:picLocks noChangeAspect="1"/>
          </p:cNvPicPr>
          <p:nvPr/>
        </p:nvPicPr>
        <p:blipFill>
          <a:blip r:embed="rId5"/>
          <a:stretch>
            <a:fillRect/>
          </a:stretch>
        </p:blipFill>
        <p:spPr>
          <a:xfrm>
            <a:off x="5537722" y="5120640"/>
            <a:ext cx="1240971" cy="868680"/>
          </a:xfrm>
          <a:prstGeom prst="rect">
            <a:avLst/>
          </a:prstGeom>
        </p:spPr>
      </p:pic>
      <p:sp>
        <p:nvSpPr>
          <p:cNvPr id="11" name="anim4_7"/>
          <p:cNvSpPr/>
          <p:nvPr/>
        </p:nvSpPr>
        <p:spPr>
          <a:xfrm>
            <a:off x="5034802" y="5212080"/>
            <a:ext cx="0" cy="685800"/>
          </a:xfrm>
          <a:prstGeom prst="line">
            <a:avLst/>
          </a:prstGeom>
          <a:noFill/>
          <a:ln w="12700">
            <a:solidFill>
              <a:srgbClr val="D6DEEE"/>
            </a:solidFill>
            <a:prstDash val="solid"/>
          </a:ln>
        </p:spPr>
      </p:sp>
      <p:pic>
        <p:nvPicPr>
          <p:cNvPr id="12" name="anim4_8" descr="شعار رقيم للحلول الذكية">    </p:cNvPr>
          <p:cNvPicPr>
            <a:picLocks noChangeAspect="1"/>
          </p:cNvPicPr>
          <p:nvPr/>
        </p:nvPicPr>
        <p:blipFill>
          <a:blip r:embed="rId6"/>
          <a:stretch>
            <a:fillRect/>
          </a:stretch>
        </p:blipFill>
        <p:spPr>
          <a:xfrm>
            <a:off x="3261307" y="5120640"/>
            <a:ext cx="1270575" cy="86868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0" fill="hold">
                            <p:stCondLst>
                              <p:cond delay="7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childTnLst>
                          </p:cTn>
                        </p:par>
                        <p:par>
                          <p:cTn id="17" fill="hold">
                            <p:stCondLst>
                              <p:cond delay="140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childTnLst>
                          </p:cTn>
                        </p:par>
                        <p:par>
                          <p:cTn id="33" fill="hold">
                            <p:stCondLst>
                              <p:cond delay="2100"/>
                            </p:stCondLst>
                            <p:childTnLst>
                              <p:par>
                                <p:cTn id="18" presetID="10"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45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القصة</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لنبدأ بيوم في حياة أحمد</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2</a:t>
            </a:r>
            <a:endParaRPr lang="ar-SA" sz="1100" dirty="0"/>
          </a:p>
        </p:txBody>
      </p:sp>
      <p:sp>
        <p:nvSpPr>
          <p:cNvPr id="8" name="anim1_9"/>
          <p:cNvSpPr/>
          <p:nvPr/>
        </p:nvSpPr>
        <p:spPr>
          <a:xfrm>
            <a:off x="731520" y="1783080"/>
            <a:ext cx="3291840" cy="3246120"/>
          </a:xfrm>
          <a:prstGeom prst="roundRect">
            <a:avLst>
              <a:gd name="adj" fmla="val 5634"/>
            </a:avLst>
          </a:prstGeom>
          <a:solidFill>
            <a:srgbClr val="EEF2FA"/>
          </a:solidFill>
          <a:ln/>
        </p:spPr>
      </p:sp>
      <p:sp>
        <p:nvSpPr>
          <p:cNvPr id="9" name="anim1_10"/>
          <p:cNvSpPr/>
          <p:nvPr/>
        </p:nvSpPr>
        <p:spPr>
          <a:xfrm>
            <a:off x="1691640" y="2103120"/>
            <a:ext cx="1371600" cy="1371600"/>
          </a:xfrm>
          <a:prstGeom prst="ellipse">
            <a:avLst/>
          </a:prstGeom>
          <a:solidFill>
            <a:srgbClr val="052977"/>
          </a:solidFill>
          <a:ln/>
        </p:spPr>
      </p:sp>
      <p:pic>
        <p:nvPicPr>
          <p:cNvPr id="10" name="anim1_11" descr="نافذة أفراد">    </p:cNvPr>
          <p:cNvPicPr>
            <a:picLocks noChangeAspect="1"/>
          </p:cNvPicPr>
          <p:nvPr/>
        </p:nvPicPr>
        <p:blipFill>
          <a:blip r:embed="rId3"/>
          <a:stretch>
            <a:fillRect/>
          </a:stretch>
        </p:blipFill>
        <p:spPr>
          <a:xfrm>
            <a:off x="1828800" y="2240280"/>
            <a:ext cx="1097280" cy="1097280"/>
          </a:xfrm>
          <a:prstGeom prst="rect">
            <a:avLst/>
          </a:prstGeom>
        </p:spPr>
      </p:pic>
      <p:sp>
        <p:nvSpPr>
          <p:cNvPr id="11" name="anim1_12"/>
          <p:cNvSpPr txBox="1"/>
          <p:nvPr/>
        </p:nvSpPr>
        <p:spPr>
          <a:xfrm>
            <a:off x="914400" y="3566160"/>
            <a:ext cx="2926080" cy="502920"/>
          </a:xfrm>
          <a:prstGeom prst="rect">
            <a:avLst/>
          </a:prstGeom>
          <a:noFill/>
          <a:ln/>
        </p:spPr>
        <p:txBody>
          <a:bodyPr wrap="square" lIns="0" tIns="0" rIns="0" bIns="0" rtlCol="0" anchor="t"/>
          <a:lstStyle/>
          <a:p>
            <a:pPr rtl="1" algn="ctr" indent="0" marL="0">
              <a:buNone/>
            </a:pPr>
            <a:r>
              <a:rPr lang="ar-SA" altLang="en-US" sz="2400" b="1" dirty="0">
                <a:solidFill>
                  <a:srgbClr val="052977"/>
                </a:solidFill>
                <a:latin typeface="Cairo" pitchFamily="34" charset="0"/>
                <a:ea typeface="Cairo" pitchFamily="34" charset="-122"/>
                <a:cs typeface="Cairo" pitchFamily="34" charset="-120"/>
              </a:rPr>
              <a:t>أحمد</a:t>
            </a:r>
            <a:endParaRPr lang="ar-SA" sz="2400" dirty="0"/>
          </a:p>
        </p:txBody>
      </p:sp>
      <p:sp>
        <p:nvSpPr>
          <p:cNvPr id="12" name="anim1_13"/>
          <p:cNvSpPr txBox="1"/>
          <p:nvPr/>
        </p:nvSpPr>
        <p:spPr>
          <a:xfrm>
            <a:off x="914400" y="4069080"/>
            <a:ext cx="2926080" cy="365760"/>
          </a:xfrm>
          <a:prstGeom prst="rect">
            <a:avLst/>
          </a:prstGeom>
          <a:noFill/>
          <a:ln/>
        </p:spPr>
        <p:txBody>
          <a:bodyPr wrap="square" lIns="0" tIns="0" rIns="0" bIns="0" rtlCol="0" anchor="t"/>
          <a:lstStyle/>
          <a:p>
            <a:pPr rtl="1" algn="ctr" indent="0" marL="0">
              <a:buNone/>
            </a:pPr>
            <a:r>
              <a:rPr lang="ar-SA" altLang="en-US" sz="1400" dirty="0">
                <a:solidFill>
                  <a:srgbClr val="5B6784"/>
                </a:solidFill>
                <a:latin typeface="Cairo" pitchFamily="34" charset="0"/>
                <a:ea typeface="Cairo" pitchFamily="34" charset="-122"/>
                <a:cs typeface="Cairo" pitchFamily="34" charset="-120"/>
              </a:rPr>
              <a:t>يسكن في الجبيل مع أسرته</a:t>
            </a:r>
            <a:endParaRPr lang="ar-SA" sz="1400" dirty="0"/>
          </a:p>
        </p:txBody>
      </p:sp>
      <p:sp>
        <p:nvSpPr>
          <p:cNvPr id="13" name="anim1_14"/>
          <p:cNvSpPr/>
          <p:nvPr/>
        </p:nvSpPr>
        <p:spPr>
          <a:xfrm>
            <a:off x="1760220" y="4526280"/>
            <a:ext cx="1234440" cy="329184"/>
          </a:xfrm>
          <a:prstGeom prst="roundRect">
            <a:avLst>
              <a:gd name="adj" fmla="val 50000"/>
            </a:avLst>
          </a:prstGeom>
          <a:solidFill>
            <a:srgbClr val="FFFFFF"/>
          </a:solidFill>
          <a:ln w="12700">
            <a:solidFill>
              <a:srgbClr val="052977"/>
            </a:solidFill>
            <a:prstDash val="solid"/>
          </a:ln>
        </p:spPr>
      </p:sp>
      <p:sp>
        <p:nvSpPr>
          <p:cNvPr id="14" name="anim1_15"/>
          <p:cNvSpPr txBox="1"/>
          <p:nvPr/>
        </p:nvSpPr>
        <p:spPr>
          <a:xfrm>
            <a:off x="1760220" y="4526280"/>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
        <p:nvSpPr>
          <p:cNvPr id="15" name="anim2_16"/>
          <p:cNvSpPr txBox="1"/>
          <p:nvPr/>
        </p:nvSpPr>
        <p:spPr>
          <a:xfrm>
            <a:off x="4480560" y="1783080"/>
            <a:ext cx="7162495" cy="457200"/>
          </a:xfrm>
          <a:prstGeom prst="rect">
            <a:avLst/>
          </a:prstGeom>
          <a:noFill/>
          <a:ln/>
        </p:spPr>
        <p:txBody>
          <a:bodyPr wrap="square" lIns="0" tIns="0" rIns="0" bIns="0" rtlCol="0" anchor="t"/>
          <a:lstStyle/>
          <a:p>
            <a:pPr rtl="1" algn="r" indent="0" marL="0">
              <a:buNone/>
            </a:pPr>
            <a:r>
              <a:rPr lang="ar-SA" altLang="en-US" sz="2000" b="1" dirty="0">
                <a:solidFill>
                  <a:srgbClr val="1A2340"/>
                </a:solidFill>
                <a:latin typeface="Cairo" pitchFamily="34" charset="0"/>
                <a:ea typeface="Cairo" pitchFamily="34" charset="-122"/>
                <a:cs typeface="Cairo" pitchFamily="34" charset="-120"/>
              </a:rPr>
              <a:t>هذا الأسبوع يحتاج أحمد إلى:</a:t>
            </a:r>
            <a:endParaRPr lang="ar-SA" sz="2000" dirty="0"/>
          </a:p>
        </p:txBody>
      </p:sp>
      <p:sp>
        <p:nvSpPr>
          <p:cNvPr id="16" name="anim3_17"/>
          <p:cNvSpPr/>
          <p:nvPr/>
        </p:nvSpPr>
        <p:spPr>
          <a:xfrm>
            <a:off x="10957255" y="2423160"/>
            <a:ext cx="685800" cy="685800"/>
          </a:xfrm>
          <a:prstGeom prst="ellipse">
            <a:avLst/>
          </a:prstGeom>
          <a:solidFill>
            <a:srgbClr val="EEF2FA"/>
          </a:solidFill>
          <a:ln/>
        </p:spPr>
      </p:sp>
      <p:pic>
        <p:nvPicPr>
          <p:cNvPr id="17" name="anim3_18" descr="نافذة أفراد">    </p:cNvPr>
          <p:cNvPicPr>
            <a:picLocks noChangeAspect="1"/>
          </p:cNvPicPr>
          <p:nvPr/>
        </p:nvPicPr>
        <p:blipFill>
          <a:blip r:embed="rId4"/>
          <a:stretch>
            <a:fillRect/>
          </a:stretch>
        </p:blipFill>
        <p:spPr>
          <a:xfrm>
            <a:off x="11135563" y="2601468"/>
            <a:ext cx="329184" cy="329184"/>
          </a:xfrm>
          <a:prstGeom prst="rect">
            <a:avLst/>
          </a:prstGeom>
        </p:spPr>
      </p:pic>
      <p:sp>
        <p:nvSpPr>
          <p:cNvPr id="18" name="anim3_19"/>
          <p:cNvSpPr txBox="1"/>
          <p:nvPr/>
        </p:nvSpPr>
        <p:spPr>
          <a:xfrm>
            <a:off x="6751015" y="2423160"/>
            <a:ext cx="4023360" cy="685800"/>
          </a:xfrm>
          <a:prstGeom prst="rect">
            <a:avLst/>
          </a:prstGeom>
          <a:noFill/>
          <a:ln/>
        </p:spPr>
        <p:txBody>
          <a:bodyPr wrap="square" lIns="0" tIns="0" rIns="0" bIns="0" rtlCol="0" anchor="ctr"/>
          <a:lstStyle/>
          <a:p>
            <a:pPr rtl="1" algn="r" indent="0" marL="0">
              <a:buNone/>
            </a:pPr>
            <a:r>
              <a:rPr lang="ar-SA" altLang="en-US" sz="1900" b="1" dirty="0">
                <a:solidFill>
                  <a:srgbClr val="1A2340"/>
                </a:solidFill>
                <a:latin typeface="Cairo" pitchFamily="34" charset="0"/>
                <a:ea typeface="Cairo" pitchFamily="34" charset="-122"/>
                <a:cs typeface="Cairo" pitchFamily="34" charset="-120"/>
              </a:rPr>
              <a:t>موعد في عيادة</a:t>
            </a:r>
            <a:endParaRPr lang="ar-SA" sz="1900" dirty="0"/>
          </a:p>
        </p:txBody>
      </p:sp>
      <p:sp>
        <p:nvSpPr>
          <p:cNvPr id="19" name="anim3_20"/>
          <p:cNvSpPr/>
          <p:nvPr/>
        </p:nvSpPr>
        <p:spPr>
          <a:xfrm>
            <a:off x="5379415" y="2596896"/>
            <a:ext cx="1188720" cy="347472"/>
          </a:xfrm>
          <a:prstGeom prst="roundRect">
            <a:avLst>
              <a:gd name="adj" fmla="val 50000"/>
            </a:avLst>
          </a:prstGeom>
          <a:solidFill>
            <a:srgbClr val="EEF2FA"/>
          </a:solidFill>
          <a:ln/>
        </p:spPr>
      </p:sp>
      <p:sp>
        <p:nvSpPr>
          <p:cNvPr id="20" name="anim3_21"/>
          <p:cNvSpPr txBox="1"/>
          <p:nvPr/>
        </p:nvSpPr>
        <p:spPr>
          <a:xfrm>
            <a:off x="5379415" y="2596896"/>
            <a:ext cx="1188720" cy="347472"/>
          </a:xfrm>
          <a:prstGeom prst="rect">
            <a:avLst/>
          </a:prstGeom>
          <a:noFill/>
          <a:ln/>
        </p:spPr>
        <p:txBody>
          <a:bodyPr wrap="square" lIns="0" tIns="0" rIns="0" bIns="0" rtlCol="0" anchor="ctr"/>
          <a:lstStyle/>
          <a:p>
            <a:pPr rtl="1" algn="ctr" indent="0" marL="0">
              <a:buNone/>
            </a:pPr>
            <a:r>
              <a:rPr lang="ar-SA" altLang="en-US" sz="1200" b="1" dirty="0">
                <a:solidFill>
                  <a:srgbClr val="052977"/>
                </a:solidFill>
                <a:latin typeface="Cairo" pitchFamily="34" charset="0"/>
                <a:ea typeface="Cairo" pitchFamily="34" charset="-122"/>
                <a:cs typeface="Cairo" pitchFamily="34" charset="-120"/>
              </a:rPr>
              <a:t>الصحة</a:t>
            </a:r>
            <a:endParaRPr lang="ar-SA" sz="1200" dirty="0"/>
          </a:p>
        </p:txBody>
      </p:sp>
      <p:sp>
        <p:nvSpPr>
          <p:cNvPr id="21" name="anim4_22"/>
          <p:cNvSpPr/>
          <p:nvPr/>
        </p:nvSpPr>
        <p:spPr>
          <a:xfrm>
            <a:off x="10957255" y="3291840"/>
            <a:ext cx="685800" cy="685800"/>
          </a:xfrm>
          <a:prstGeom prst="ellipse">
            <a:avLst/>
          </a:prstGeom>
          <a:solidFill>
            <a:srgbClr val="EEF2FA"/>
          </a:solidFill>
          <a:ln/>
        </p:spPr>
      </p:sp>
      <p:pic>
        <p:nvPicPr>
          <p:cNvPr id="22" name="anim4_23" descr="نافذة أفراد">    </p:cNvPr>
          <p:cNvPicPr>
            <a:picLocks noChangeAspect="1"/>
          </p:cNvPicPr>
          <p:nvPr/>
        </p:nvPicPr>
        <p:blipFill>
          <a:blip r:embed="rId5"/>
          <a:stretch>
            <a:fillRect/>
          </a:stretch>
        </p:blipFill>
        <p:spPr>
          <a:xfrm>
            <a:off x="11135563" y="3470148"/>
            <a:ext cx="329184" cy="329184"/>
          </a:xfrm>
          <a:prstGeom prst="rect">
            <a:avLst/>
          </a:prstGeom>
        </p:spPr>
      </p:pic>
      <p:sp>
        <p:nvSpPr>
          <p:cNvPr id="23" name="anim4_24"/>
          <p:cNvSpPr txBox="1"/>
          <p:nvPr/>
        </p:nvSpPr>
        <p:spPr>
          <a:xfrm>
            <a:off x="6751015" y="3291840"/>
            <a:ext cx="4023360" cy="685800"/>
          </a:xfrm>
          <a:prstGeom prst="rect">
            <a:avLst/>
          </a:prstGeom>
          <a:noFill/>
          <a:ln/>
        </p:spPr>
        <p:txBody>
          <a:bodyPr wrap="square" lIns="0" tIns="0" rIns="0" bIns="0" rtlCol="0" anchor="ctr"/>
          <a:lstStyle/>
          <a:p>
            <a:pPr rtl="1" algn="r" indent="0" marL="0">
              <a:buNone/>
            </a:pPr>
            <a:r>
              <a:rPr lang="ar-SA" altLang="en-US" sz="1900" b="1" dirty="0">
                <a:solidFill>
                  <a:srgbClr val="1A2340"/>
                </a:solidFill>
                <a:latin typeface="Cairo" pitchFamily="34" charset="0"/>
                <a:ea typeface="Cairo" pitchFamily="34" charset="-122"/>
                <a:cs typeface="Cairo" pitchFamily="34" charset="-120"/>
              </a:rPr>
              <a:t>تسجيل ابنه في مدرسة</a:t>
            </a:r>
            <a:endParaRPr lang="ar-SA" sz="1900" dirty="0"/>
          </a:p>
        </p:txBody>
      </p:sp>
      <p:sp>
        <p:nvSpPr>
          <p:cNvPr id="24" name="anim4_25"/>
          <p:cNvSpPr/>
          <p:nvPr/>
        </p:nvSpPr>
        <p:spPr>
          <a:xfrm>
            <a:off x="5379415" y="3465576"/>
            <a:ext cx="1188720" cy="347472"/>
          </a:xfrm>
          <a:prstGeom prst="roundRect">
            <a:avLst>
              <a:gd name="adj" fmla="val 50000"/>
            </a:avLst>
          </a:prstGeom>
          <a:solidFill>
            <a:srgbClr val="EEF2FA"/>
          </a:solidFill>
          <a:ln/>
        </p:spPr>
      </p:sp>
      <p:sp>
        <p:nvSpPr>
          <p:cNvPr id="25" name="anim4_26"/>
          <p:cNvSpPr txBox="1"/>
          <p:nvPr/>
        </p:nvSpPr>
        <p:spPr>
          <a:xfrm>
            <a:off x="5379415" y="3465576"/>
            <a:ext cx="1188720" cy="347472"/>
          </a:xfrm>
          <a:prstGeom prst="rect">
            <a:avLst/>
          </a:prstGeom>
          <a:noFill/>
          <a:ln/>
        </p:spPr>
        <p:txBody>
          <a:bodyPr wrap="square" lIns="0" tIns="0" rIns="0" bIns="0" rtlCol="0" anchor="ctr"/>
          <a:lstStyle/>
          <a:p>
            <a:pPr rtl="1" algn="ctr" indent="0" marL="0">
              <a:buNone/>
            </a:pPr>
            <a:r>
              <a:rPr lang="ar-SA" altLang="en-US" sz="1200" b="1" dirty="0">
                <a:solidFill>
                  <a:srgbClr val="052977"/>
                </a:solidFill>
                <a:latin typeface="Cairo" pitchFamily="34" charset="0"/>
                <a:ea typeface="Cairo" pitchFamily="34" charset="-122"/>
                <a:cs typeface="Cairo" pitchFamily="34" charset="-120"/>
              </a:rPr>
              <a:t>التعليم</a:t>
            </a:r>
            <a:endParaRPr lang="ar-SA" sz="1200" dirty="0"/>
          </a:p>
        </p:txBody>
      </p:sp>
      <p:sp>
        <p:nvSpPr>
          <p:cNvPr id="26" name="anim5_27"/>
          <p:cNvSpPr/>
          <p:nvPr/>
        </p:nvSpPr>
        <p:spPr>
          <a:xfrm>
            <a:off x="10957255" y="4160520"/>
            <a:ext cx="685800" cy="685800"/>
          </a:xfrm>
          <a:prstGeom prst="ellipse">
            <a:avLst/>
          </a:prstGeom>
          <a:solidFill>
            <a:srgbClr val="EEF2FA"/>
          </a:solidFill>
          <a:ln/>
        </p:spPr>
      </p:sp>
      <p:pic>
        <p:nvPicPr>
          <p:cNvPr id="27" name="anim5_28" descr="نافذة أفراد">    </p:cNvPr>
          <p:cNvPicPr>
            <a:picLocks noChangeAspect="1"/>
          </p:cNvPicPr>
          <p:nvPr/>
        </p:nvPicPr>
        <p:blipFill>
          <a:blip r:embed="rId6"/>
          <a:stretch>
            <a:fillRect/>
          </a:stretch>
        </p:blipFill>
        <p:spPr>
          <a:xfrm>
            <a:off x="11135563" y="4338828"/>
            <a:ext cx="329184" cy="329184"/>
          </a:xfrm>
          <a:prstGeom prst="rect">
            <a:avLst/>
          </a:prstGeom>
        </p:spPr>
      </p:pic>
      <p:sp>
        <p:nvSpPr>
          <p:cNvPr id="28" name="anim5_29"/>
          <p:cNvSpPr txBox="1"/>
          <p:nvPr/>
        </p:nvSpPr>
        <p:spPr>
          <a:xfrm>
            <a:off x="6751015" y="4160520"/>
            <a:ext cx="4023360" cy="685800"/>
          </a:xfrm>
          <a:prstGeom prst="rect">
            <a:avLst/>
          </a:prstGeom>
          <a:noFill/>
          <a:ln/>
        </p:spPr>
        <p:txBody>
          <a:bodyPr wrap="square" lIns="0" tIns="0" rIns="0" bIns="0" rtlCol="0" anchor="ctr"/>
          <a:lstStyle/>
          <a:p>
            <a:pPr rtl="1" algn="r" indent="0" marL="0">
              <a:buNone/>
            </a:pPr>
            <a:r>
              <a:rPr lang="ar-SA" altLang="en-US" sz="1900" b="1" dirty="0">
                <a:solidFill>
                  <a:srgbClr val="1A2340"/>
                </a:solidFill>
                <a:latin typeface="Cairo" pitchFamily="34" charset="0"/>
                <a:ea typeface="Cairo" pitchFamily="34" charset="-122"/>
                <a:cs typeface="Cairo" pitchFamily="34" charset="-120"/>
              </a:rPr>
              <a:t>فعالية لأسرته في نهاية الأسبوع</a:t>
            </a:r>
            <a:endParaRPr lang="ar-SA" sz="1900" dirty="0"/>
          </a:p>
        </p:txBody>
      </p:sp>
      <p:sp>
        <p:nvSpPr>
          <p:cNvPr id="29" name="anim5_30"/>
          <p:cNvSpPr/>
          <p:nvPr/>
        </p:nvSpPr>
        <p:spPr>
          <a:xfrm>
            <a:off x="5379415" y="4334256"/>
            <a:ext cx="1188720" cy="347472"/>
          </a:xfrm>
          <a:prstGeom prst="roundRect">
            <a:avLst>
              <a:gd name="adj" fmla="val 50000"/>
            </a:avLst>
          </a:prstGeom>
          <a:solidFill>
            <a:srgbClr val="EEF2FA"/>
          </a:solidFill>
          <a:ln/>
        </p:spPr>
      </p:sp>
      <p:sp>
        <p:nvSpPr>
          <p:cNvPr id="30" name="anim5_31"/>
          <p:cNvSpPr txBox="1"/>
          <p:nvPr/>
        </p:nvSpPr>
        <p:spPr>
          <a:xfrm>
            <a:off x="5379415" y="4334256"/>
            <a:ext cx="1188720" cy="347472"/>
          </a:xfrm>
          <a:prstGeom prst="rect">
            <a:avLst/>
          </a:prstGeom>
          <a:noFill/>
          <a:ln/>
        </p:spPr>
        <p:txBody>
          <a:bodyPr wrap="square" lIns="0" tIns="0" rIns="0" bIns="0" rtlCol="0" anchor="ctr"/>
          <a:lstStyle/>
          <a:p>
            <a:pPr rtl="1" algn="ctr" indent="0" marL="0">
              <a:buNone/>
            </a:pPr>
            <a:r>
              <a:rPr lang="ar-SA" altLang="en-US" sz="1200" b="1" dirty="0">
                <a:solidFill>
                  <a:srgbClr val="052977"/>
                </a:solidFill>
                <a:latin typeface="Cairo" pitchFamily="34" charset="0"/>
                <a:ea typeface="Cairo" pitchFamily="34" charset="-122"/>
                <a:cs typeface="Cairo" pitchFamily="34" charset="-120"/>
              </a:rPr>
              <a:t>الترفيه</a:t>
            </a:r>
            <a:endParaRPr lang="ar-SA" sz="1200" dirty="0"/>
          </a:p>
        </p:txBody>
      </p:sp>
      <p:sp>
        <p:nvSpPr>
          <p:cNvPr id="31" name="anim6_32"/>
          <p:cNvSpPr/>
          <p:nvPr/>
        </p:nvSpPr>
        <p:spPr>
          <a:xfrm>
            <a:off x="548640" y="5257800"/>
            <a:ext cx="11094415" cy="777240"/>
          </a:xfrm>
          <a:prstGeom prst="roundRect">
            <a:avLst>
              <a:gd name="adj" fmla="val 16471"/>
            </a:avLst>
          </a:prstGeom>
          <a:solidFill>
            <a:srgbClr val="052977"/>
          </a:solidFill>
          <a:ln/>
        </p:spPr>
      </p:sp>
      <p:sp>
        <p:nvSpPr>
          <p:cNvPr id="32" name="anim6_33"/>
          <p:cNvSpPr/>
          <p:nvPr/>
        </p:nvSpPr>
        <p:spPr>
          <a:xfrm>
            <a:off x="10948111" y="5390388"/>
            <a:ext cx="512064" cy="512064"/>
          </a:xfrm>
          <a:prstGeom prst="ellipse">
            <a:avLst/>
          </a:prstGeom>
          <a:solidFill>
            <a:srgbClr val="FFFFFF"/>
          </a:solidFill>
          <a:ln/>
        </p:spPr>
      </p:sp>
      <p:pic>
        <p:nvPicPr>
          <p:cNvPr id="33" name="anim6_34" descr="نافذة أفراد">    </p:cNvPr>
          <p:cNvPicPr>
            <a:picLocks noChangeAspect="1"/>
          </p:cNvPicPr>
          <p:nvPr/>
        </p:nvPicPr>
        <p:blipFill>
          <a:blip r:embed="rId7"/>
          <a:stretch>
            <a:fillRect/>
          </a:stretch>
        </p:blipFill>
        <p:spPr>
          <a:xfrm>
            <a:off x="11086368" y="5528645"/>
            <a:ext cx="235549" cy="235549"/>
          </a:xfrm>
          <a:prstGeom prst="rect">
            <a:avLst/>
          </a:prstGeom>
        </p:spPr>
      </p:pic>
      <p:sp>
        <p:nvSpPr>
          <p:cNvPr id="34" name="anim6_35"/>
          <p:cNvSpPr txBox="1"/>
          <p:nvPr/>
        </p:nvSpPr>
        <p:spPr>
          <a:xfrm>
            <a:off x="868680" y="5257800"/>
            <a:ext cx="9905695" cy="777240"/>
          </a:xfrm>
          <a:prstGeom prst="rect">
            <a:avLst/>
          </a:prstGeom>
          <a:noFill/>
          <a:ln/>
        </p:spPr>
        <p:txBody>
          <a:bodyPr wrap="square" lIns="0" tIns="0" rIns="0" bIns="0" rtlCol="0" anchor="ctr"/>
          <a:lstStyle/>
          <a:p>
            <a:pPr rtl="1" algn="r" indent="0" marL="0">
              <a:buNone/>
            </a:pPr>
            <a:r>
              <a:rPr lang="ar-SA" altLang="en-US" sz="1700" b="1" dirty="0">
                <a:solidFill>
                  <a:srgbClr val="FFFFFF"/>
                </a:solidFill>
                <a:latin typeface="Cairo" pitchFamily="34" charset="0"/>
                <a:ea typeface="Cairo" pitchFamily="34" charset="-122"/>
                <a:cs typeface="Cairo" pitchFamily="34" charset="-120"/>
              </a:rPr>
              <a:t>سؤال للحضور: من أين يبدأ أحمد اليوم؟ وكم تطبيقًا أو موقعًا أو زيارة سيحتاج؟</a:t>
            </a:r>
            <a:endParaRPr lang="ar-SA"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0" fill="hold">
                      <p:stCondLst>
                        <p:cond delay="indefinite"/>
                        <p:cond evt="onBegin" delay="0">
                          <p:tn val="2"/>
                        </p:cond>
                      </p:stCondLst>
                      <p:childTnLst>
                        <p:par>
                          <p:cTn id="24"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childTnLst>
                          </p:cTn>
                        </p:par>
                        <p:par>
                          <p:cTn id="28"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childTnLst>
                          </p:cTn>
                        </p:par>
                        <p:par>
                          <p:cTn id="44" fill="hold">
                            <p:stCondLst>
                              <p:cond delay="1400"/>
                            </p:stCondLst>
                            <p:childTnLst>
                              <p:par>
                                <p:cTn id="29" presetID="10" presetClass="entr" presetSubtype="0" fill="hold" grpId="0" nodeType="after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5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5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par>
                          <p:cTn id="60" fill="hold">
                            <p:stCondLst>
                              <p:cond delay="2100"/>
                            </p:stCondLst>
                            <p:childTnLst>
                              <p:par>
                                <p:cTn id="45" presetID="10" presetClass="entr" presetSubtype="0" fill="hold" grpId="0" nodeType="after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50"/>
                                        <p:tgtEl>
                                          <p:spTgt spid="2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50"/>
                                        <p:tgtEl>
                                          <p:spTgt spid="2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50"/>
                                        <p:tgtEl>
                                          <p:spTgt spid="2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450"/>
                                        <p:tgtEl>
                                          <p:spTgt spid="2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50"/>
                                        <p:tgtEl>
                                          <p:spTgt spid="25"/>
                                        </p:tgtEl>
                                      </p:cBhvr>
                                    </p:animEffect>
                                  </p:childTnLst>
                                </p:cTn>
                              </p:par>
                            </p:childTnLst>
                          </p:cTn>
                        </p:par>
                        <p:par>
                          <p:cTn id="76" fill="hold">
                            <p:stCondLst>
                              <p:cond delay="280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45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45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45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5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450"/>
                                        <p:tgtEl>
                                          <p:spTgt spid="30"/>
                                        </p:tgtEl>
                                      </p:cBhvr>
                                    </p:animEffect>
                                  </p:childTnLst>
                                </p:cTn>
                              </p:par>
                            </p:childTnLst>
                          </p:cTn>
                        </p:par>
                        <p:par>
                          <p:cTn id="89" fill="hold">
                            <p:stCondLst>
                              <p:cond delay="350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4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4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2" grpId="0" animBg="1"/>
      <p:bldP spid="3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الوضع الحالي</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الخدمات اليوم موزعة على قنوات كثيرة</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3</a:t>
            </a:r>
            <a:endParaRPr lang="ar-SA" sz="1100" dirty="0"/>
          </a:p>
        </p:txBody>
      </p:sp>
      <p:sp>
        <p:nvSpPr>
          <p:cNvPr id="8" name="anim1_36"/>
          <p:cNvSpPr/>
          <p:nvPr/>
        </p:nvSpPr>
        <p:spPr>
          <a:xfrm>
            <a:off x="9037015" y="1691640"/>
            <a:ext cx="2606040" cy="3429000"/>
          </a:xfrm>
          <a:prstGeom prst="roundRect">
            <a:avLst>
              <a:gd name="adj" fmla="val 5614"/>
            </a:avLst>
          </a:prstGeom>
          <a:solidFill>
            <a:srgbClr val="FFFFFF"/>
          </a:solidFill>
          <a:ln w="12700">
            <a:solidFill>
              <a:srgbClr val="D6DEEE"/>
            </a:solidFill>
            <a:prstDash val="solid"/>
          </a:ln>
        </p:spPr>
      </p:sp>
      <p:sp>
        <p:nvSpPr>
          <p:cNvPr id="9" name="anim1_37"/>
          <p:cNvSpPr/>
          <p:nvPr/>
        </p:nvSpPr>
        <p:spPr>
          <a:xfrm>
            <a:off x="10893247" y="1874520"/>
            <a:ext cx="566928" cy="566928"/>
          </a:xfrm>
          <a:prstGeom prst="ellipse">
            <a:avLst/>
          </a:prstGeom>
          <a:solidFill>
            <a:srgbClr val="052977"/>
          </a:solidFill>
          <a:ln/>
        </p:spPr>
      </p:sp>
      <p:pic>
        <p:nvPicPr>
          <p:cNvPr id="10" name="anim1_38" descr="نافذة أفراد">    </p:cNvPr>
          <p:cNvPicPr>
            <a:picLocks noChangeAspect="1"/>
          </p:cNvPicPr>
          <p:nvPr/>
        </p:nvPicPr>
        <p:blipFill>
          <a:blip r:embed="rId3"/>
          <a:stretch>
            <a:fillRect/>
          </a:stretch>
        </p:blipFill>
        <p:spPr>
          <a:xfrm>
            <a:off x="11029310" y="2010583"/>
            <a:ext cx="294803" cy="294803"/>
          </a:xfrm>
          <a:prstGeom prst="rect">
            <a:avLst/>
          </a:prstGeom>
        </p:spPr>
      </p:pic>
      <p:sp>
        <p:nvSpPr>
          <p:cNvPr id="11" name="anim1_39"/>
          <p:cNvSpPr txBox="1"/>
          <p:nvPr/>
        </p:nvSpPr>
        <p:spPr>
          <a:xfrm>
            <a:off x="9219895" y="1874520"/>
            <a:ext cx="1600200" cy="566928"/>
          </a:xfrm>
          <a:prstGeom prst="rect">
            <a:avLst/>
          </a:prstGeom>
          <a:noFill/>
          <a:ln/>
        </p:spPr>
        <p:txBody>
          <a:bodyPr wrap="square" lIns="0" tIns="0" rIns="0" bIns="0" rtlCol="0" anchor="ctr"/>
          <a:lstStyle/>
          <a:p>
            <a:pPr rtl="1" algn="r" indent="0" marL="0">
              <a:buNone/>
            </a:pPr>
            <a:r>
              <a:rPr lang="ar-SA" altLang="en-US" sz="2000" b="1" dirty="0">
                <a:solidFill>
                  <a:srgbClr val="052977"/>
                </a:solidFill>
                <a:latin typeface="Cairo" pitchFamily="34" charset="0"/>
                <a:ea typeface="Cairo" pitchFamily="34" charset="-122"/>
                <a:cs typeface="Cairo" pitchFamily="34" charset="-120"/>
              </a:rPr>
              <a:t>الصحة</a:t>
            </a:r>
            <a:endParaRPr lang="ar-SA" sz="2000" dirty="0"/>
          </a:p>
        </p:txBody>
      </p:sp>
      <p:sp>
        <p:nvSpPr>
          <p:cNvPr id="12" name="anim1_40"/>
          <p:cNvSpPr txBox="1"/>
          <p:nvPr/>
        </p:nvSpPr>
        <p:spPr>
          <a:xfrm>
            <a:off x="9219895" y="260604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القنوات الحالية</a:t>
            </a:r>
            <a:endParaRPr lang="ar-SA" sz="1200" dirty="0"/>
          </a:p>
        </p:txBody>
      </p:sp>
      <p:sp>
        <p:nvSpPr>
          <p:cNvPr id="13" name="anim1_41_TODO"/>
          <p:cNvSpPr/>
          <p:nvPr/>
        </p:nvSpPr>
        <p:spPr>
          <a:xfrm>
            <a:off x="9219895" y="2926080"/>
            <a:ext cx="2240280" cy="731520"/>
          </a:xfrm>
          <a:prstGeom prst="roundRect">
            <a:avLst>
              <a:gd name="adj" fmla="val 12500"/>
            </a:avLst>
          </a:prstGeom>
          <a:solidFill>
            <a:srgbClr val="FFF6E5"/>
          </a:solidFill>
          <a:ln w="12700">
            <a:solidFill>
              <a:srgbClr val="D97706"/>
            </a:solidFill>
            <a:prstDash val="dash"/>
          </a:ln>
        </p:spPr>
      </p:sp>
      <p:sp>
        <p:nvSpPr>
          <p:cNvPr id="14" name="anim1_42_TODO"/>
          <p:cNvSpPr txBox="1"/>
          <p:nvPr/>
        </p:nvSpPr>
        <p:spPr>
          <a:xfrm>
            <a:off x="9357055" y="2926080"/>
            <a:ext cx="1965960" cy="73152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القنوات الإلكترونية والحضورية</a:t>
            </a:r>
            <a:endParaRPr lang="ar-SA" sz="1200" dirty="0"/>
          </a:p>
        </p:txBody>
      </p:sp>
      <p:sp>
        <p:nvSpPr>
          <p:cNvPr id="15" name="anim1_43"/>
          <p:cNvSpPr txBox="1"/>
          <p:nvPr/>
        </p:nvSpPr>
        <p:spPr>
          <a:xfrm>
            <a:off x="9219895" y="379476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أبرز التحديات</a:t>
            </a:r>
            <a:endParaRPr lang="ar-SA" sz="1200" dirty="0"/>
          </a:p>
        </p:txBody>
      </p:sp>
      <p:sp>
        <p:nvSpPr>
          <p:cNvPr id="16" name="anim1_44_TODO"/>
          <p:cNvSpPr/>
          <p:nvPr/>
        </p:nvSpPr>
        <p:spPr>
          <a:xfrm>
            <a:off x="9219895" y="4114800"/>
            <a:ext cx="2240280" cy="822960"/>
          </a:xfrm>
          <a:prstGeom prst="roundRect">
            <a:avLst>
              <a:gd name="adj" fmla="val 11111"/>
            </a:avLst>
          </a:prstGeom>
          <a:solidFill>
            <a:srgbClr val="FFF6E5"/>
          </a:solidFill>
          <a:ln w="12700">
            <a:solidFill>
              <a:srgbClr val="D97706"/>
            </a:solidFill>
            <a:prstDash val="dash"/>
          </a:ln>
        </p:spPr>
      </p:sp>
      <p:sp>
        <p:nvSpPr>
          <p:cNvPr id="17" name="anim1_45_TODO"/>
          <p:cNvSpPr txBox="1"/>
          <p:nvPr/>
        </p:nvSpPr>
        <p:spPr>
          <a:xfrm>
            <a:off x="9357055" y="4114800"/>
            <a:ext cx="1965960" cy="82296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تحديان مدعومان ببيانات فعلية</a:t>
            </a:r>
            <a:endParaRPr lang="ar-SA" sz="1200" dirty="0"/>
          </a:p>
        </p:txBody>
      </p:sp>
      <p:sp>
        <p:nvSpPr>
          <p:cNvPr id="18" name="anim2_46"/>
          <p:cNvSpPr/>
          <p:nvPr/>
        </p:nvSpPr>
        <p:spPr>
          <a:xfrm>
            <a:off x="6208776" y="1691640"/>
            <a:ext cx="2606040" cy="3429000"/>
          </a:xfrm>
          <a:prstGeom prst="roundRect">
            <a:avLst>
              <a:gd name="adj" fmla="val 5614"/>
            </a:avLst>
          </a:prstGeom>
          <a:solidFill>
            <a:srgbClr val="FFFFFF"/>
          </a:solidFill>
          <a:ln w="12700">
            <a:solidFill>
              <a:srgbClr val="D6DEEE"/>
            </a:solidFill>
            <a:prstDash val="solid"/>
          </a:ln>
        </p:spPr>
      </p:sp>
      <p:sp>
        <p:nvSpPr>
          <p:cNvPr id="19" name="anim2_47"/>
          <p:cNvSpPr/>
          <p:nvPr/>
        </p:nvSpPr>
        <p:spPr>
          <a:xfrm>
            <a:off x="8065008" y="1874520"/>
            <a:ext cx="566928" cy="566928"/>
          </a:xfrm>
          <a:prstGeom prst="ellipse">
            <a:avLst/>
          </a:prstGeom>
          <a:solidFill>
            <a:srgbClr val="052977"/>
          </a:solidFill>
          <a:ln/>
        </p:spPr>
      </p:sp>
      <p:pic>
        <p:nvPicPr>
          <p:cNvPr id="20" name="anim2_48" descr="نافذة أفراد">    </p:cNvPr>
          <p:cNvPicPr>
            <a:picLocks noChangeAspect="1"/>
          </p:cNvPicPr>
          <p:nvPr/>
        </p:nvPicPr>
        <p:blipFill>
          <a:blip r:embed="rId4"/>
          <a:stretch>
            <a:fillRect/>
          </a:stretch>
        </p:blipFill>
        <p:spPr>
          <a:xfrm>
            <a:off x="8201071" y="2010583"/>
            <a:ext cx="294803" cy="294803"/>
          </a:xfrm>
          <a:prstGeom prst="rect">
            <a:avLst/>
          </a:prstGeom>
        </p:spPr>
      </p:pic>
      <p:sp>
        <p:nvSpPr>
          <p:cNvPr id="21" name="anim2_49"/>
          <p:cNvSpPr txBox="1"/>
          <p:nvPr/>
        </p:nvSpPr>
        <p:spPr>
          <a:xfrm>
            <a:off x="6391656" y="1874520"/>
            <a:ext cx="1600200" cy="566928"/>
          </a:xfrm>
          <a:prstGeom prst="rect">
            <a:avLst/>
          </a:prstGeom>
          <a:noFill/>
          <a:ln/>
        </p:spPr>
        <p:txBody>
          <a:bodyPr wrap="square" lIns="0" tIns="0" rIns="0" bIns="0" rtlCol="0" anchor="ctr"/>
          <a:lstStyle/>
          <a:p>
            <a:pPr rtl="1" algn="r" indent="0" marL="0">
              <a:buNone/>
            </a:pPr>
            <a:r>
              <a:rPr lang="ar-SA" altLang="en-US" sz="2000" b="1" dirty="0">
                <a:solidFill>
                  <a:srgbClr val="052977"/>
                </a:solidFill>
                <a:latin typeface="Cairo" pitchFamily="34" charset="0"/>
                <a:ea typeface="Cairo" pitchFamily="34" charset="-122"/>
                <a:cs typeface="Cairo" pitchFamily="34" charset="-120"/>
              </a:rPr>
              <a:t>التعليم</a:t>
            </a:r>
            <a:endParaRPr lang="ar-SA" sz="2000" dirty="0"/>
          </a:p>
        </p:txBody>
      </p:sp>
      <p:sp>
        <p:nvSpPr>
          <p:cNvPr id="22" name="anim2_50"/>
          <p:cNvSpPr txBox="1"/>
          <p:nvPr/>
        </p:nvSpPr>
        <p:spPr>
          <a:xfrm>
            <a:off x="6391656" y="260604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القنوات الحالية</a:t>
            </a:r>
            <a:endParaRPr lang="ar-SA" sz="1200" dirty="0"/>
          </a:p>
        </p:txBody>
      </p:sp>
      <p:sp>
        <p:nvSpPr>
          <p:cNvPr id="23" name="anim2_51_TODO"/>
          <p:cNvSpPr/>
          <p:nvPr/>
        </p:nvSpPr>
        <p:spPr>
          <a:xfrm>
            <a:off x="6391656" y="2926080"/>
            <a:ext cx="2240280" cy="731520"/>
          </a:xfrm>
          <a:prstGeom prst="roundRect">
            <a:avLst>
              <a:gd name="adj" fmla="val 12500"/>
            </a:avLst>
          </a:prstGeom>
          <a:solidFill>
            <a:srgbClr val="FFF6E5"/>
          </a:solidFill>
          <a:ln w="12700">
            <a:solidFill>
              <a:srgbClr val="D97706"/>
            </a:solidFill>
            <a:prstDash val="dash"/>
          </a:ln>
        </p:spPr>
      </p:sp>
      <p:sp>
        <p:nvSpPr>
          <p:cNvPr id="24" name="anim2_52_TODO"/>
          <p:cNvSpPr txBox="1"/>
          <p:nvPr/>
        </p:nvSpPr>
        <p:spPr>
          <a:xfrm>
            <a:off x="6528816" y="2926080"/>
            <a:ext cx="1965960" cy="73152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القنوات الإلكترونية والحضورية</a:t>
            </a:r>
            <a:endParaRPr lang="ar-SA" sz="1200" dirty="0"/>
          </a:p>
        </p:txBody>
      </p:sp>
      <p:sp>
        <p:nvSpPr>
          <p:cNvPr id="25" name="anim2_53"/>
          <p:cNvSpPr txBox="1"/>
          <p:nvPr/>
        </p:nvSpPr>
        <p:spPr>
          <a:xfrm>
            <a:off x="6391656" y="379476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أبرز التحديات</a:t>
            </a:r>
            <a:endParaRPr lang="ar-SA" sz="1200" dirty="0"/>
          </a:p>
        </p:txBody>
      </p:sp>
      <p:sp>
        <p:nvSpPr>
          <p:cNvPr id="26" name="anim2_54_TODO"/>
          <p:cNvSpPr/>
          <p:nvPr/>
        </p:nvSpPr>
        <p:spPr>
          <a:xfrm>
            <a:off x="6391656" y="4114800"/>
            <a:ext cx="2240280" cy="822960"/>
          </a:xfrm>
          <a:prstGeom prst="roundRect">
            <a:avLst>
              <a:gd name="adj" fmla="val 11111"/>
            </a:avLst>
          </a:prstGeom>
          <a:solidFill>
            <a:srgbClr val="FFF6E5"/>
          </a:solidFill>
          <a:ln w="12700">
            <a:solidFill>
              <a:srgbClr val="D97706"/>
            </a:solidFill>
            <a:prstDash val="dash"/>
          </a:ln>
        </p:spPr>
      </p:sp>
      <p:sp>
        <p:nvSpPr>
          <p:cNvPr id="27" name="anim2_55_TODO"/>
          <p:cNvSpPr txBox="1"/>
          <p:nvPr/>
        </p:nvSpPr>
        <p:spPr>
          <a:xfrm>
            <a:off x="6528816" y="4114800"/>
            <a:ext cx="1965960" cy="82296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تحديان مدعومان ببيانات فعلية</a:t>
            </a:r>
            <a:endParaRPr lang="ar-SA" sz="1200" dirty="0"/>
          </a:p>
        </p:txBody>
      </p:sp>
      <p:sp>
        <p:nvSpPr>
          <p:cNvPr id="28" name="anim3_56"/>
          <p:cNvSpPr/>
          <p:nvPr/>
        </p:nvSpPr>
        <p:spPr>
          <a:xfrm>
            <a:off x="3380537" y="1691640"/>
            <a:ext cx="2606040" cy="3429000"/>
          </a:xfrm>
          <a:prstGeom prst="roundRect">
            <a:avLst>
              <a:gd name="adj" fmla="val 5614"/>
            </a:avLst>
          </a:prstGeom>
          <a:solidFill>
            <a:srgbClr val="FFFFFF"/>
          </a:solidFill>
          <a:ln w="12700">
            <a:solidFill>
              <a:srgbClr val="D6DEEE"/>
            </a:solidFill>
            <a:prstDash val="solid"/>
          </a:ln>
        </p:spPr>
      </p:sp>
      <p:sp>
        <p:nvSpPr>
          <p:cNvPr id="29" name="anim3_57"/>
          <p:cNvSpPr/>
          <p:nvPr/>
        </p:nvSpPr>
        <p:spPr>
          <a:xfrm>
            <a:off x="5236769" y="1874520"/>
            <a:ext cx="566928" cy="566928"/>
          </a:xfrm>
          <a:prstGeom prst="ellipse">
            <a:avLst/>
          </a:prstGeom>
          <a:solidFill>
            <a:srgbClr val="052977"/>
          </a:solidFill>
          <a:ln/>
        </p:spPr>
      </p:sp>
      <p:pic>
        <p:nvPicPr>
          <p:cNvPr id="30" name="anim3_58" descr="نافذة أفراد">    </p:cNvPr>
          <p:cNvPicPr>
            <a:picLocks noChangeAspect="1"/>
          </p:cNvPicPr>
          <p:nvPr/>
        </p:nvPicPr>
        <p:blipFill>
          <a:blip r:embed="rId5"/>
          <a:stretch>
            <a:fillRect/>
          </a:stretch>
        </p:blipFill>
        <p:spPr>
          <a:xfrm>
            <a:off x="5372832" y="2010583"/>
            <a:ext cx="294803" cy="294803"/>
          </a:xfrm>
          <a:prstGeom prst="rect">
            <a:avLst/>
          </a:prstGeom>
        </p:spPr>
      </p:pic>
      <p:sp>
        <p:nvSpPr>
          <p:cNvPr id="31" name="anim3_59"/>
          <p:cNvSpPr txBox="1"/>
          <p:nvPr/>
        </p:nvSpPr>
        <p:spPr>
          <a:xfrm>
            <a:off x="3563417" y="1874520"/>
            <a:ext cx="1600200" cy="566928"/>
          </a:xfrm>
          <a:prstGeom prst="rect">
            <a:avLst/>
          </a:prstGeom>
          <a:noFill/>
          <a:ln/>
        </p:spPr>
        <p:txBody>
          <a:bodyPr wrap="square" lIns="0" tIns="0" rIns="0" bIns="0" rtlCol="0" anchor="ctr"/>
          <a:lstStyle/>
          <a:p>
            <a:pPr rtl="1" algn="r" indent="0" marL="0">
              <a:buNone/>
            </a:pPr>
            <a:r>
              <a:rPr lang="ar-SA" altLang="en-US" sz="2000" b="1" dirty="0">
                <a:solidFill>
                  <a:srgbClr val="052977"/>
                </a:solidFill>
                <a:latin typeface="Cairo" pitchFamily="34" charset="0"/>
                <a:ea typeface="Cairo" pitchFamily="34" charset="-122"/>
                <a:cs typeface="Cairo" pitchFamily="34" charset="-120"/>
              </a:rPr>
              <a:t>الترفيه</a:t>
            </a:r>
            <a:endParaRPr lang="ar-SA" sz="2000" dirty="0"/>
          </a:p>
        </p:txBody>
      </p:sp>
      <p:sp>
        <p:nvSpPr>
          <p:cNvPr id="32" name="anim3_60"/>
          <p:cNvSpPr txBox="1"/>
          <p:nvPr/>
        </p:nvSpPr>
        <p:spPr>
          <a:xfrm>
            <a:off x="3563417" y="260604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القنوات الحالية</a:t>
            </a:r>
            <a:endParaRPr lang="ar-SA" sz="1200" dirty="0"/>
          </a:p>
        </p:txBody>
      </p:sp>
      <p:sp>
        <p:nvSpPr>
          <p:cNvPr id="33" name="anim3_61_TODO"/>
          <p:cNvSpPr/>
          <p:nvPr/>
        </p:nvSpPr>
        <p:spPr>
          <a:xfrm>
            <a:off x="3563417" y="2926080"/>
            <a:ext cx="2240280" cy="731520"/>
          </a:xfrm>
          <a:prstGeom prst="roundRect">
            <a:avLst>
              <a:gd name="adj" fmla="val 12500"/>
            </a:avLst>
          </a:prstGeom>
          <a:solidFill>
            <a:srgbClr val="FFF6E5"/>
          </a:solidFill>
          <a:ln w="12700">
            <a:solidFill>
              <a:srgbClr val="D97706"/>
            </a:solidFill>
            <a:prstDash val="dash"/>
          </a:ln>
        </p:spPr>
      </p:sp>
      <p:sp>
        <p:nvSpPr>
          <p:cNvPr id="34" name="anim3_62_TODO"/>
          <p:cNvSpPr txBox="1"/>
          <p:nvPr/>
        </p:nvSpPr>
        <p:spPr>
          <a:xfrm>
            <a:off x="3700577" y="2926080"/>
            <a:ext cx="1965960" cy="73152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القنوات الإلكترونية والحضورية</a:t>
            </a:r>
            <a:endParaRPr lang="ar-SA" sz="1200" dirty="0"/>
          </a:p>
        </p:txBody>
      </p:sp>
      <p:sp>
        <p:nvSpPr>
          <p:cNvPr id="35" name="anim3_63"/>
          <p:cNvSpPr txBox="1"/>
          <p:nvPr/>
        </p:nvSpPr>
        <p:spPr>
          <a:xfrm>
            <a:off x="3563417" y="379476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أبرز التحديات</a:t>
            </a:r>
            <a:endParaRPr lang="ar-SA" sz="1200" dirty="0"/>
          </a:p>
        </p:txBody>
      </p:sp>
      <p:sp>
        <p:nvSpPr>
          <p:cNvPr id="36" name="anim3_64_TODO"/>
          <p:cNvSpPr/>
          <p:nvPr/>
        </p:nvSpPr>
        <p:spPr>
          <a:xfrm>
            <a:off x="3563417" y="4114800"/>
            <a:ext cx="2240280" cy="822960"/>
          </a:xfrm>
          <a:prstGeom prst="roundRect">
            <a:avLst>
              <a:gd name="adj" fmla="val 11111"/>
            </a:avLst>
          </a:prstGeom>
          <a:solidFill>
            <a:srgbClr val="FFF6E5"/>
          </a:solidFill>
          <a:ln w="12700">
            <a:solidFill>
              <a:srgbClr val="D97706"/>
            </a:solidFill>
            <a:prstDash val="dash"/>
          </a:ln>
        </p:spPr>
      </p:sp>
      <p:sp>
        <p:nvSpPr>
          <p:cNvPr id="37" name="anim3_65_TODO"/>
          <p:cNvSpPr txBox="1"/>
          <p:nvPr/>
        </p:nvSpPr>
        <p:spPr>
          <a:xfrm>
            <a:off x="3700577" y="4114800"/>
            <a:ext cx="1965960" cy="82296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تحديان مدعومان ببيانات فعلية</a:t>
            </a:r>
            <a:endParaRPr lang="ar-SA" sz="1200" dirty="0"/>
          </a:p>
        </p:txBody>
      </p:sp>
      <p:sp>
        <p:nvSpPr>
          <p:cNvPr id="38" name="anim4_66"/>
          <p:cNvSpPr/>
          <p:nvPr/>
        </p:nvSpPr>
        <p:spPr>
          <a:xfrm>
            <a:off x="552298" y="1691640"/>
            <a:ext cx="2606040" cy="3429000"/>
          </a:xfrm>
          <a:prstGeom prst="roundRect">
            <a:avLst>
              <a:gd name="adj" fmla="val 5614"/>
            </a:avLst>
          </a:prstGeom>
          <a:solidFill>
            <a:srgbClr val="FFFFFF"/>
          </a:solidFill>
          <a:ln w="12700">
            <a:solidFill>
              <a:srgbClr val="D6DEEE"/>
            </a:solidFill>
            <a:prstDash val="solid"/>
          </a:ln>
        </p:spPr>
      </p:sp>
      <p:sp>
        <p:nvSpPr>
          <p:cNvPr id="39" name="anim4_67"/>
          <p:cNvSpPr/>
          <p:nvPr/>
        </p:nvSpPr>
        <p:spPr>
          <a:xfrm>
            <a:off x="2408530" y="1874520"/>
            <a:ext cx="566928" cy="566928"/>
          </a:xfrm>
          <a:prstGeom prst="ellipse">
            <a:avLst/>
          </a:prstGeom>
          <a:solidFill>
            <a:srgbClr val="052977"/>
          </a:solidFill>
          <a:ln/>
        </p:spPr>
      </p:sp>
      <p:pic>
        <p:nvPicPr>
          <p:cNvPr id="40" name="anim4_68" descr="نافذة أفراد">    </p:cNvPr>
          <p:cNvPicPr>
            <a:picLocks noChangeAspect="1"/>
          </p:cNvPicPr>
          <p:nvPr/>
        </p:nvPicPr>
        <p:blipFill>
          <a:blip r:embed="rId6"/>
          <a:stretch>
            <a:fillRect/>
          </a:stretch>
        </p:blipFill>
        <p:spPr>
          <a:xfrm>
            <a:off x="2544592" y="2010583"/>
            <a:ext cx="294803" cy="294803"/>
          </a:xfrm>
          <a:prstGeom prst="rect">
            <a:avLst/>
          </a:prstGeom>
        </p:spPr>
      </p:pic>
      <p:sp>
        <p:nvSpPr>
          <p:cNvPr id="41" name="anim4_69"/>
          <p:cNvSpPr txBox="1"/>
          <p:nvPr/>
        </p:nvSpPr>
        <p:spPr>
          <a:xfrm>
            <a:off x="735178" y="1874520"/>
            <a:ext cx="1600200" cy="566928"/>
          </a:xfrm>
          <a:prstGeom prst="rect">
            <a:avLst/>
          </a:prstGeom>
          <a:noFill/>
          <a:ln/>
        </p:spPr>
        <p:txBody>
          <a:bodyPr wrap="square" lIns="0" tIns="0" rIns="0" bIns="0" rtlCol="0" anchor="ctr"/>
          <a:lstStyle/>
          <a:p>
            <a:pPr rtl="1" algn="r" indent="0" marL="0">
              <a:buNone/>
            </a:pPr>
            <a:r>
              <a:rPr lang="ar-SA" altLang="en-US" sz="2000" b="1" dirty="0">
                <a:solidFill>
                  <a:srgbClr val="052977"/>
                </a:solidFill>
                <a:latin typeface="Cairo" pitchFamily="34" charset="0"/>
                <a:ea typeface="Cairo" pitchFamily="34" charset="-122"/>
                <a:cs typeface="Cairo" pitchFamily="34" charset="-120"/>
              </a:rPr>
              <a:t>الاستثمار</a:t>
            </a:r>
            <a:endParaRPr lang="ar-SA" sz="2000" dirty="0"/>
          </a:p>
        </p:txBody>
      </p:sp>
      <p:sp>
        <p:nvSpPr>
          <p:cNvPr id="42" name="anim4_70"/>
          <p:cNvSpPr txBox="1"/>
          <p:nvPr/>
        </p:nvSpPr>
        <p:spPr>
          <a:xfrm>
            <a:off x="735178" y="260604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القنوات الحالية</a:t>
            </a:r>
            <a:endParaRPr lang="ar-SA" sz="1200" dirty="0"/>
          </a:p>
        </p:txBody>
      </p:sp>
      <p:sp>
        <p:nvSpPr>
          <p:cNvPr id="43" name="anim4_71_TODO"/>
          <p:cNvSpPr/>
          <p:nvPr/>
        </p:nvSpPr>
        <p:spPr>
          <a:xfrm>
            <a:off x="735178" y="2926080"/>
            <a:ext cx="2240280" cy="731520"/>
          </a:xfrm>
          <a:prstGeom prst="roundRect">
            <a:avLst>
              <a:gd name="adj" fmla="val 12500"/>
            </a:avLst>
          </a:prstGeom>
          <a:solidFill>
            <a:srgbClr val="FFF6E5"/>
          </a:solidFill>
          <a:ln w="12700">
            <a:solidFill>
              <a:srgbClr val="D97706"/>
            </a:solidFill>
            <a:prstDash val="dash"/>
          </a:ln>
        </p:spPr>
      </p:sp>
      <p:sp>
        <p:nvSpPr>
          <p:cNvPr id="44" name="anim4_72_TODO"/>
          <p:cNvSpPr txBox="1"/>
          <p:nvPr/>
        </p:nvSpPr>
        <p:spPr>
          <a:xfrm>
            <a:off x="872338" y="2926080"/>
            <a:ext cx="1965960" cy="73152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القنوات الإلكترونية والحضورية</a:t>
            </a:r>
            <a:endParaRPr lang="ar-SA" sz="1200" dirty="0"/>
          </a:p>
        </p:txBody>
      </p:sp>
      <p:sp>
        <p:nvSpPr>
          <p:cNvPr id="45" name="anim4_73"/>
          <p:cNvSpPr txBox="1"/>
          <p:nvPr/>
        </p:nvSpPr>
        <p:spPr>
          <a:xfrm>
            <a:off x="735178" y="3794760"/>
            <a:ext cx="2240280" cy="292608"/>
          </a:xfrm>
          <a:prstGeom prst="rect">
            <a:avLst/>
          </a:prstGeom>
          <a:noFill/>
          <a:ln/>
        </p:spPr>
        <p:txBody>
          <a:bodyPr wrap="square" lIns="0" tIns="0" rIns="0" bIns="0" rtlCol="0" anchor="t"/>
          <a:lstStyle/>
          <a:p>
            <a:pPr rtl="1" algn="r" indent="0" marL="0">
              <a:buNone/>
            </a:pPr>
            <a:r>
              <a:rPr lang="ar-SA" altLang="en-US" sz="1200" b="1" dirty="0">
                <a:solidFill>
                  <a:srgbClr val="5B6784"/>
                </a:solidFill>
                <a:latin typeface="Cairo" pitchFamily="34" charset="0"/>
                <a:ea typeface="Cairo" pitchFamily="34" charset="-122"/>
                <a:cs typeface="Cairo" pitchFamily="34" charset="-120"/>
              </a:rPr>
              <a:t>أبرز التحديات</a:t>
            </a:r>
            <a:endParaRPr lang="ar-SA" sz="1200" dirty="0"/>
          </a:p>
        </p:txBody>
      </p:sp>
      <p:sp>
        <p:nvSpPr>
          <p:cNvPr id="46" name="anim4_74_TODO"/>
          <p:cNvSpPr/>
          <p:nvPr/>
        </p:nvSpPr>
        <p:spPr>
          <a:xfrm>
            <a:off x="735178" y="4114800"/>
            <a:ext cx="2240280" cy="822960"/>
          </a:xfrm>
          <a:prstGeom prst="roundRect">
            <a:avLst>
              <a:gd name="adj" fmla="val 11111"/>
            </a:avLst>
          </a:prstGeom>
          <a:solidFill>
            <a:srgbClr val="FFF6E5"/>
          </a:solidFill>
          <a:ln w="12700">
            <a:solidFill>
              <a:srgbClr val="D97706"/>
            </a:solidFill>
            <a:prstDash val="dash"/>
          </a:ln>
        </p:spPr>
      </p:sp>
      <p:sp>
        <p:nvSpPr>
          <p:cNvPr id="47" name="anim4_75_TODO"/>
          <p:cNvSpPr txBox="1"/>
          <p:nvPr/>
        </p:nvSpPr>
        <p:spPr>
          <a:xfrm>
            <a:off x="872338" y="4114800"/>
            <a:ext cx="1965960" cy="82296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تحديان مدعومان ببيانات فعلية</a:t>
            </a:r>
            <a:endParaRPr lang="ar-SA" sz="1200" dirty="0"/>
          </a:p>
        </p:txBody>
      </p:sp>
      <p:sp>
        <p:nvSpPr>
          <p:cNvPr id="48" name="anim5_76"/>
          <p:cNvSpPr/>
          <p:nvPr/>
        </p:nvSpPr>
        <p:spPr>
          <a:xfrm>
            <a:off x="548640" y="5349240"/>
            <a:ext cx="11094415" cy="658368"/>
          </a:xfrm>
          <a:prstGeom prst="roundRect">
            <a:avLst>
              <a:gd name="adj" fmla="val 19444"/>
            </a:avLst>
          </a:prstGeom>
          <a:solidFill>
            <a:srgbClr val="EEF2FA"/>
          </a:solidFill>
          <a:ln/>
        </p:spPr>
      </p:sp>
      <p:sp>
        <p:nvSpPr>
          <p:cNvPr id="49" name="anim5_77"/>
          <p:cNvSpPr/>
          <p:nvPr/>
        </p:nvSpPr>
        <p:spPr>
          <a:xfrm>
            <a:off x="10984687" y="5440680"/>
            <a:ext cx="475488" cy="475488"/>
          </a:xfrm>
          <a:prstGeom prst="ellipse">
            <a:avLst/>
          </a:prstGeom>
          <a:solidFill>
            <a:srgbClr val="052977"/>
          </a:solidFill>
          <a:ln/>
        </p:spPr>
      </p:sp>
      <p:pic>
        <p:nvPicPr>
          <p:cNvPr id="50" name="anim5_78" descr="نافذة أفراد">    </p:cNvPr>
          <p:cNvPicPr>
            <a:picLocks noChangeAspect="1"/>
          </p:cNvPicPr>
          <p:nvPr/>
        </p:nvPicPr>
        <p:blipFill>
          <a:blip r:embed="rId7"/>
          <a:stretch>
            <a:fillRect/>
          </a:stretch>
        </p:blipFill>
        <p:spPr>
          <a:xfrm>
            <a:off x="11051256" y="5507248"/>
            <a:ext cx="342351" cy="342351"/>
          </a:xfrm>
          <a:prstGeom prst="rect">
            <a:avLst/>
          </a:prstGeom>
        </p:spPr>
      </p:pic>
      <p:sp>
        <p:nvSpPr>
          <p:cNvPr id="51" name="anim5_79"/>
          <p:cNvSpPr txBox="1"/>
          <p:nvPr/>
        </p:nvSpPr>
        <p:spPr>
          <a:xfrm>
            <a:off x="2286000" y="5349240"/>
            <a:ext cx="8579815" cy="658368"/>
          </a:xfrm>
          <a:prstGeom prst="rect">
            <a:avLst/>
          </a:prstGeom>
          <a:noFill/>
          <a:ln/>
        </p:spPr>
        <p:txBody>
          <a:bodyPr wrap="square" lIns="0" tIns="0" rIns="0" bIns="0" rtlCol="0" anchor="ctr"/>
          <a:lstStyle/>
          <a:p>
            <a:pPr rtl="1" algn="r" indent="0" marL="0">
              <a:buNone/>
            </a:pPr>
            <a:r>
              <a:rPr lang="ar-SA" altLang="en-US" sz="1600" b="1" dirty="0">
                <a:solidFill>
                  <a:srgbClr val="052977"/>
                </a:solidFill>
                <a:latin typeface="Cairo" pitchFamily="34" charset="0"/>
                <a:ea typeface="Cairo" pitchFamily="34" charset="-122"/>
                <a:cs typeface="Cairo" pitchFamily="34" charset="-120"/>
              </a:rPr>
              <a:t>أحمد اليوم: يتنقل بين أكثر من قناة ليُنجز حاجاته الثلاث</a:t>
            </a:r>
            <a:endParaRPr lang="ar-SA" sz="1600" dirty="0"/>
          </a:p>
        </p:txBody>
      </p:sp>
      <p:sp>
        <p:nvSpPr>
          <p:cNvPr id="52" name="anim5_80"/>
          <p:cNvSpPr/>
          <p:nvPr/>
        </p:nvSpPr>
        <p:spPr>
          <a:xfrm>
            <a:off x="777240" y="5513832"/>
            <a:ext cx="1234440" cy="329184"/>
          </a:xfrm>
          <a:prstGeom prst="roundRect">
            <a:avLst>
              <a:gd name="adj" fmla="val 50000"/>
            </a:avLst>
          </a:prstGeom>
          <a:solidFill>
            <a:srgbClr val="FFFFFF"/>
          </a:solidFill>
          <a:ln w="12700">
            <a:solidFill>
              <a:srgbClr val="052977"/>
            </a:solidFill>
            <a:prstDash val="solid"/>
          </a:ln>
        </p:spPr>
      </p:sp>
      <p:sp>
        <p:nvSpPr>
          <p:cNvPr id="53" name="anim5_81"/>
          <p:cNvSpPr txBox="1"/>
          <p:nvPr/>
        </p:nvSpPr>
        <p:spPr>
          <a:xfrm>
            <a:off x="777240" y="5513832"/>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6" fill="hold">
                      <p:stCondLst>
                        <p:cond delay="indefinite"/>
                        <p:cond evt="onBegin" delay="0">
                          <p:tn val="2"/>
                        </p:cond>
                      </p:stCondLst>
                      <p:childTnLst>
                        <p:par>
                          <p:cTn id="33"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5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450"/>
                                        <p:tgtEl>
                                          <p:spTgt spid="1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450"/>
                                        <p:tgtEl>
                                          <p:spTgt spid="17"/>
                                        </p:tgtEl>
                                      </p:cBhvr>
                                    </p:animEffect>
                                  </p:childTnLst>
                                </p:cTn>
                              </p:par>
                            </p:childTnLst>
                          </p:cTn>
                        </p:par>
                        <p:par>
                          <p:cTn id="64"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50"/>
                                        <p:tgtEl>
                                          <p:spTgt spid="2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50"/>
                                        <p:tgtEl>
                                          <p:spTgt spid="2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50"/>
                                        <p:tgtEl>
                                          <p:spTgt spid="2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50"/>
                                        <p:tgtEl>
                                          <p:spTgt spid="2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50"/>
                                        <p:tgtEl>
                                          <p:spTgt spid="2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50"/>
                                        <p:tgtEl>
                                          <p:spTgt spid="2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50"/>
                                        <p:tgtEl>
                                          <p:spTgt spid="27"/>
                                        </p:tgtEl>
                                      </p:cBhvr>
                                    </p:animEffect>
                                  </p:childTnLst>
                                </p:cTn>
                              </p:par>
                            </p:childTnLst>
                          </p:cTn>
                        </p:par>
                        <p:par>
                          <p:cTn id="95" fill="hold">
                            <p:stCondLst>
                              <p:cond delay="1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50"/>
                                        <p:tgtEl>
                                          <p:spTgt spid="2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450"/>
                                        <p:tgtEl>
                                          <p:spTgt spid="2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450"/>
                                        <p:tgtEl>
                                          <p:spTgt spid="3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450"/>
                                        <p:tgtEl>
                                          <p:spTgt spid="3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50"/>
                                        <p:tgtEl>
                                          <p:spTgt spid="32"/>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50"/>
                                        <p:tgtEl>
                                          <p:spTgt spid="33"/>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animEffect transition="in" filter="fade">
                                      <p:cBhvr>
                                        <p:cTn id="85" dur="450"/>
                                        <p:tgtEl>
                                          <p:spTgt spid="34"/>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450"/>
                                        <p:tgtEl>
                                          <p:spTgt spid="35"/>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450"/>
                                        <p:tgtEl>
                                          <p:spTgt spid="36"/>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7"/>
                                        </p:tgtEl>
                                        <p:attrNameLst>
                                          <p:attrName>style.visibility</p:attrName>
                                        </p:attrNameLst>
                                      </p:cBhvr>
                                      <p:to>
                                        <p:strVal val="visible"/>
                                      </p:to>
                                    </p:set>
                                    <p:animEffect transition="in" filter="fade">
                                      <p:cBhvr>
                                        <p:cTn id="94" dur="450"/>
                                        <p:tgtEl>
                                          <p:spTgt spid="37"/>
                                        </p:tgtEl>
                                      </p:cBhvr>
                                    </p:animEffect>
                                  </p:childTnLst>
                                </p:cTn>
                              </p:par>
                            </p:childTnLst>
                          </p:cTn>
                        </p:par>
                        <p:par>
                          <p:cTn id="126" fill="hold">
                            <p:stCondLst>
                              <p:cond delay="2100"/>
                            </p:stCondLst>
                            <p:childTnLst>
                              <p:par>
                                <p:cTn id="96" presetID="10" presetClass="entr" presetSubtype="0" fill="hold" grpId="0" nodeType="after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fade">
                                      <p:cBhvr>
                                        <p:cTn id="98" dur="450"/>
                                        <p:tgtEl>
                                          <p:spTgt spid="3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450"/>
                                        <p:tgtEl>
                                          <p:spTgt spid="3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40"/>
                                        </p:tgtEl>
                                        <p:attrNameLst>
                                          <p:attrName>style.visibility</p:attrName>
                                        </p:attrNameLst>
                                      </p:cBhvr>
                                      <p:to>
                                        <p:strVal val="visible"/>
                                      </p:to>
                                    </p:set>
                                    <p:animEffect transition="in" filter="fade">
                                      <p:cBhvr>
                                        <p:cTn id="104" dur="450"/>
                                        <p:tgtEl>
                                          <p:spTgt spid="4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50"/>
                                        <p:tgtEl>
                                          <p:spTgt spid="4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450"/>
                                        <p:tgtEl>
                                          <p:spTgt spid="4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450"/>
                                        <p:tgtEl>
                                          <p:spTgt spid="4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450"/>
                                        <p:tgtEl>
                                          <p:spTgt spid="4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450"/>
                                        <p:tgtEl>
                                          <p:spTgt spid="45"/>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450"/>
                                        <p:tgtEl>
                                          <p:spTgt spid="46"/>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7"/>
                                        </p:tgtEl>
                                        <p:attrNameLst>
                                          <p:attrName>style.visibility</p:attrName>
                                        </p:attrNameLst>
                                      </p:cBhvr>
                                      <p:to>
                                        <p:strVal val="visible"/>
                                      </p:to>
                                    </p:set>
                                    <p:animEffect transition="in" filter="fade">
                                      <p:cBhvr>
                                        <p:cTn id="125" dur="450"/>
                                        <p:tgtEl>
                                          <p:spTgt spid="47"/>
                                        </p:tgtEl>
                                      </p:cBhvr>
                                    </p:animEffect>
                                  </p:childTnLst>
                                </p:cTn>
                              </p:par>
                            </p:childTnLst>
                          </p:cTn>
                        </p:par>
                        <p:par>
                          <p:cTn id="145" fill="hold">
                            <p:stCondLst>
                              <p:cond delay="2800"/>
                            </p:stCondLst>
                            <p:childTnLst>
                              <p:par>
                                <p:cTn id="127" presetID="10" presetClass="entr" presetSubtype="0" fill="hold" grpId="0" nodeType="afterEffect">
                                  <p:stCondLst>
                                    <p:cond delay="0"/>
                                  </p:stCondLst>
                                  <p:childTnLst>
                                    <p:set>
                                      <p:cBhvr>
                                        <p:cTn id="128" dur="1" fill="hold">
                                          <p:stCondLst>
                                            <p:cond delay="0"/>
                                          </p:stCondLst>
                                        </p:cTn>
                                        <p:tgtEl>
                                          <p:spTgt spid="48"/>
                                        </p:tgtEl>
                                        <p:attrNameLst>
                                          <p:attrName>style.visibility</p:attrName>
                                        </p:attrNameLst>
                                      </p:cBhvr>
                                      <p:to>
                                        <p:strVal val="visible"/>
                                      </p:to>
                                    </p:set>
                                    <p:animEffect transition="in" filter="fade">
                                      <p:cBhvr>
                                        <p:cTn id="129" dur="450"/>
                                        <p:tgtEl>
                                          <p:spTgt spid="48"/>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9"/>
                                        </p:tgtEl>
                                        <p:attrNameLst>
                                          <p:attrName>style.visibility</p:attrName>
                                        </p:attrNameLst>
                                      </p:cBhvr>
                                      <p:to>
                                        <p:strVal val="visible"/>
                                      </p:to>
                                    </p:set>
                                    <p:animEffect transition="in" filter="fade">
                                      <p:cBhvr>
                                        <p:cTn id="132" dur="450"/>
                                        <p:tgtEl>
                                          <p:spTgt spid="49"/>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50"/>
                                        </p:tgtEl>
                                        <p:attrNameLst>
                                          <p:attrName>style.visibility</p:attrName>
                                        </p:attrNameLst>
                                      </p:cBhvr>
                                      <p:to>
                                        <p:strVal val="visible"/>
                                      </p:to>
                                    </p:set>
                                    <p:animEffect transition="in" filter="fade">
                                      <p:cBhvr>
                                        <p:cTn id="135" dur="450"/>
                                        <p:tgtEl>
                                          <p:spTgt spid="50"/>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51"/>
                                        </p:tgtEl>
                                        <p:attrNameLst>
                                          <p:attrName>style.visibility</p:attrName>
                                        </p:attrNameLst>
                                      </p:cBhvr>
                                      <p:to>
                                        <p:strVal val="visible"/>
                                      </p:to>
                                    </p:set>
                                    <p:animEffect transition="in" filter="fade">
                                      <p:cBhvr>
                                        <p:cTn id="138" dur="450"/>
                                        <p:tgtEl>
                                          <p:spTgt spid="51"/>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52"/>
                                        </p:tgtEl>
                                        <p:attrNameLst>
                                          <p:attrName>style.visibility</p:attrName>
                                        </p:attrNameLst>
                                      </p:cBhvr>
                                      <p:to>
                                        <p:strVal val="visible"/>
                                      </p:to>
                                    </p:set>
                                    <p:animEffect transition="in" filter="fade">
                                      <p:cBhvr>
                                        <p:cTn id="141" dur="450"/>
                                        <p:tgtEl>
                                          <p:spTgt spid="52"/>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53"/>
                                        </p:tgtEl>
                                        <p:attrNameLst>
                                          <p:attrName>style.visibility</p:attrName>
                                        </p:attrNameLst>
                                      </p:cBhvr>
                                      <p:to>
                                        <p:strVal val="visible"/>
                                      </p:to>
                                    </p:set>
                                    <p:animEffect transition="in" filter="fade">
                                      <p:cBhvr>
                                        <p:cTn id="144"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P spid="46" grpId="0" animBg="1"/>
      <p:bldP spid="47" grpId="0" animBg="1"/>
      <p:bldP spid="48" grpId="0" animBg="1"/>
      <p:bldP spid="49" grpId="0" animBg="1"/>
      <p:bldP spid="51" grpId="0" animBg="1"/>
      <p:bldP spid="52" grpId="0" animBg="1"/>
      <p:bldP spid="5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الحل</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نافذة أفراد: مدينتك بين يديك</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4</a:t>
            </a:r>
            <a:endParaRPr lang="ar-SA" sz="1100" dirty="0"/>
          </a:p>
        </p:txBody>
      </p:sp>
      <p:sp>
        <p:nvSpPr>
          <p:cNvPr id="8" name="anim1_82"/>
          <p:cNvSpPr/>
          <p:nvPr/>
        </p:nvSpPr>
        <p:spPr>
          <a:xfrm>
            <a:off x="749808" y="1892808"/>
            <a:ext cx="603504" cy="603504"/>
          </a:xfrm>
          <a:prstGeom prst="ellipse">
            <a:avLst/>
          </a:prstGeom>
          <a:solidFill>
            <a:srgbClr val="EEF2FA"/>
          </a:solidFill>
          <a:ln/>
        </p:spPr>
      </p:sp>
      <p:pic>
        <p:nvPicPr>
          <p:cNvPr id="9" name="anim1_83" descr="نافذة أفراد">    </p:cNvPr>
          <p:cNvPicPr>
            <a:picLocks noChangeAspect="1"/>
          </p:cNvPicPr>
          <p:nvPr/>
        </p:nvPicPr>
        <p:blipFill>
          <a:blip r:embed="rId3"/>
          <a:stretch>
            <a:fillRect/>
          </a:stretch>
        </p:blipFill>
        <p:spPr>
          <a:xfrm>
            <a:off x="906719" y="2049719"/>
            <a:ext cx="289682" cy="289682"/>
          </a:xfrm>
          <a:prstGeom prst="rect">
            <a:avLst/>
          </a:prstGeom>
        </p:spPr>
      </p:pic>
      <p:sp>
        <p:nvSpPr>
          <p:cNvPr id="10" name="anim1_84"/>
          <p:cNvSpPr/>
          <p:nvPr/>
        </p:nvSpPr>
        <p:spPr>
          <a:xfrm>
            <a:off x="521208" y="3264408"/>
            <a:ext cx="603504" cy="603504"/>
          </a:xfrm>
          <a:prstGeom prst="ellipse">
            <a:avLst/>
          </a:prstGeom>
          <a:solidFill>
            <a:srgbClr val="EEF2FA"/>
          </a:solidFill>
          <a:ln/>
        </p:spPr>
      </p:sp>
      <p:pic>
        <p:nvPicPr>
          <p:cNvPr id="11" name="anim1_85" descr="نافذة أفراد">    </p:cNvPr>
          <p:cNvPicPr>
            <a:picLocks noChangeAspect="1"/>
          </p:cNvPicPr>
          <p:nvPr/>
        </p:nvPicPr>
        <p:blipFill>
          <a:blip r:embed="rId4"/>
          <a:stretch>
            <a:fillRect/>
          </a:stretch>
        </p:blipFill>
        <p:spPr>
          <a:xfrm>
            <a:off x="678119" y="3421319"/>
            <a:ext cx="289682" cy="289682"/>
          </a:xfrm>
          <a:prstGeom prst="rect">
            <a:avLst/>
          </a:prstGeom>
        </p:spPr>
      </p:pic>
      <p:sp>
        <p:nvSpPr>
          <p:cNvPr id="12" name="anim1_86"/>
          <p:cNvSpPr/>
          <p:nvPr/>
        </p:nvSpPr>
        <p:spPr>
          <a:xfrm>
            <a:off x="749808" y="4544568"/>
            <a:ext cx="603504" cy="603504"/>
          </a:xfrm>
          <a:prstGeom prst="ellipse">
            <a:avLst/>
          </a:prstGeom>
          <a:solidFill>
            <a:srgbClr val="EEF2FA"/>
          </a:solidFill>
          <a:ln/>
        </p:spPr>
      </p:sp>
      <p:pic>
        <p:nvPicPr>
          <p:cNvPr id="13" name="anim1_87" descr="نافذة أفراد">    </p:cNvPr>
          <p:cNvPicPr>
            <a:picLocks noChangeAspect="1"/>
          </p:cNvPicPr>
          <p:nvPr/>
        </p:nvPicPr>
        <p:blipFill>
          <a:blip r:embed="rId5"/>
          <a:stretch>
            <a:fillRect/>
          </a:stretch>
        </p:blipFill>
        <p:spPr>
          <a:xfrm>
            <a:off x="906719" y="4701479"/>
            <a:ext cx="289682" cy="289682"/>
          </a:xfrm>
          <a:prstGeom prst="rect">
            <a:avLst/>
          </a:prstGeom>
        </p:spPr>
      </p:pic>
      <p:sp>
        <p:nvSpPr>
          <p:cNvPr id="14" name="anim1_88"/>
          <p:cNvSpPr/>
          <p:nvPr/>
        </p:nvSpPr>
        <p:spPr>
          <a:xfrm>
            <a:off x="1938528" y="1435608"/>
            <a:ext cx="603504" cy="603504"/>
          </a:xfrm>
          <a:prstGeom prst="ellipse">
            <a:avLst/>
          </a:prstGeom>
          <a:solidFill>
            <a:srgbClr val="EEF2FA"/>
          </a:solidFill>
          <a:ln/>
        </p:spPr>
      </p:sp>
      <p:pic>
        <p:nvPicPr>
          <p:cNvPr id="15" name="anim1_89" descr="نافذة أفراد">    </p:cNvPr>
          <p:cNvPicPr>
            <a:picLocks noChangeAspect="1"/>
          </p:cNvPicPr>
          <p:nvPr/>
        </p:nvPicPr>
        <p:blipFill>
          <a:blip r:embed="rId6"/>
          <a:stretch>
            <a:fillRect/>
          </a:stretch>
        </p:blipFill>
        <p:spPr>
          <a:xfrm>
            <a:off x="2095439" y="1592519"/>
            <a:ext cx="289682" cy="289682"/>
          </a:xfrm>
          <a:prstGeom prst="rect">
            <a:avLst/>
          </a:prstGeom>
        </p:spPr>
      </p:pic>
      <p:sp>
        <p:nvSpPr>
          <p:cNvPr id="16" name="anim1_90"/>
          <p:cNvSpPr/>
          <p:nvPr/>
        </p:nvSpPr>
        <p:spPr>
          <a:xfrm>
            <a:off x="1938528" y="5001768"/>
            <a:ext cx="603504" cy="603504"/>
          </a:xfrm>
          <a:prstGeom prst="ellipse">
            <a:avLst/>
          </a:prstGeom>
          <a:solidFill>
            <a:srgbClr val="EEF2FA"/>
          </a:solidFill>
          <a:ln/>
        </p:spPr>
      </p:sp>
      <p:pic>
        <p:nvPicPr>
          <p:cNvPr id="17" name="anim1_91" descr="نافذة أفراد">    </p:cNvPr>
          <p:cNvPicPr>
            <a:picLocks noChangeAspect="1"/>
          </p:cNvPicPr>
          <p:nvPr/>
        </p:nvPicPr>
        <p:blipFill>
          <a:blip r:embed="rId7"/>
          <a:stretch>
            <a:fillRect/>
          </a:stretch>
        </p:blipFill>
        <p:spPr>
          <a:xfrm>
            <a:off x="2095439" y="5158679"/>
            <a:ext cx="289682" cy="289682"/>
          </a:xfrm>
          <a:prstGeom prst="rect">
            <a:avLst/>
          </a:prstGeom>
        </p:spPr>
      </p:pic>
      <p:sp>
        <p:nvSpPr>
          <p:cNvPr id="18" name="anim2_92"/>
          <p:cNvSpPr/>
          <p:nvPr/>
        </p:nvSpPr>
        <p:spPr>
          <a:xfrm>
            <a:off x="1614830" y="2565806"/>
            <a:ext cx="643738" cy="424282"/>
          </a:xfrm>
          <a:prstGeom prst="line">
            <a:avLst/>
          </a:prstGeom>
          <a:noFill/>
          <a:ln w="12700">
            <a:solidFill>
              <a:srgbClr val="5B6784"/>
            </a:solidFill>
            <a:prstDash val="solid"/>
            <a:tailEnd type="triangle"/>
          </a:ln>
        </p:spPr>
      </p:sp>
      <p:sp>
        <p:nvSpPr>
          <p:cNvPr id="19" name="anim2_93"/>
          <p:cNvSpPr/>
          <p:nvPr/>
        </p:nvSpPr>
        <p:spPr>
          <a:xfrm flipV="1">
            <a:off x="1450238" y="3538728"/>
            <a:ext cx="716890" cy="14630"/>
          </a:xfrm>
          <a:prstGeom prst="line">
            <a:avLst/>
          </a:prstGeom>
          <a:noFill/>
          <a:ln w="12700">
            <a:solidFill>
              <a:srgbClr val="5B6784"/>
            </a:solidFill>
            <a:prstDash val="solid"/>
            <a:tailEnd type="triangle"/>
          </a:ln>
        </p:spPr>
      </p:sp>
      <p:sp>
        <p:nvSpPr>
          <p:cNvPr id="20" name="anim2_94"/>
          <p:cNvSpPr/>
          <p:nvPr/>
        </p:nvSpPr>
        <p:spPr>
          <a:xfrm flipV="1">
            <a:off x="1614830" y="4050792"/>
            <a:ext cx="643738" cy="424282"/>
          </a:xfrm>
          <a:prstGeom prst="line">
            <a:avLst/>
          </a:prstGeom>
          <a:noFill/>
          <a:ln w="12700">
            <a:solidFill>
              <a:srgbClr val="5B6784"/>
            </a:solidFill>
            <a:prstDash val="solid"/>
            <a:tailEnd type="triangle"/>
          </a:ln>
        </p:spPr>
      </p:sp>
      <p:sp>
        <p:nvSpPr>
          <p:cNvPr id="21" name="anim2_95"/>
          <p:cNvSpPr/>
          <p:nvPr/>
        </p:nvSpPr>
        <p:spPr>
          <a:xfrm>
            <a:off x="2470709" y="2236622"/>
            <a:ext cx="263347" cy="570586"/>
          </a:xfrm>
          <a:prstGeom prst="line">
            <a:avLst/>
          </a:prstGeom>
          <a:noFill/>
          <a:ln w="12700">
            <a:solidFill>
              <a:srgbClr val="5B6784"/>
            </a:solidFill>
            <a:prstDash val="solid"/>
            <a:tailEnd type="triangle"/>
          </a:ln>
        </p:spPr>
      </p:sp>
      <p:sp>
        <p:nvSpPr>
          <p:cNvPr id="22" name="anim2_96"/>
          <p:cNvSpPr/>
          <p:nvPr/>
        </p:nvSpPr>
        <p:spPr>
          <a:xfrm flipV="1">
            <a:off x="2470709" y="4233672"/>
            <a:ext cx="263347" cy="570586"/>
          </a:xfrm>
          <a:prstGeom prst="line">
            <a:avLst/>
          </a:prstGeom>
          <a:noFill/>
          <a:ln w="12700">
            <a:solidFill>
              <a:srgbClr val="5B6784"/>
            </a:solidFill>
            <a:prstDash val="solid"/>
            <a:tailEnd type="triangle"/>
          </a:ln>
        </p:spPr>
      </p:sp>
      <p:sp>
        <p:nvSpPr>
          <p:cNvPr id="23" name="anim3_97"/>
          <p:cNvSpPr/>
          <p:nvPr/>
        </p:nvSpPr>
        <p:spPr>
          <a:xfrm>
            <a:off x="2286000" y="2651760"/>
            <a:ext cx="1737360" cy="1737360"/>
          </a:xfrm>
          <a:prstGeom prst="ellipse">
            <a:avLst/>
          </a:prstGeom>
          <a:solidFill>
            <a:srgbClr val="FFFFFF"/>
          </a:solidFill>
          <a:ln w="12700">
            <a:solidFill>
              <a:srgbClr val="D6DEEE"/>
            </a:solidFill>
            <a:prstDash val="solid"/>
          </a:ln>
          <a:effectLst>
            <a:outerShdw sx="100000" sy="100000" kx="0" ky="0" algn="bl" rotWithShape="0" blurRad="177800" dist="50800" dir="5400000">
              <a:srgbClr val="052977">
                <a:alpha val="15000"/>
              </a:srgbClr>
            </a:outerShdw>
          </a:effectLst>
        </p:spPr>
      </p:sp>
      <p:pic>
        <p:nvPicPr>
          <p:cNvPr id="24" name="anim3_98" descr="نافذة أفراد">    </p:cNvPr>
          <p:cNvPicPr>
            <a:picLocks noChangeAspect="1"/>
          </p:cNvPicPr>
          <p:nvPr/>
        </p:nvPicPr>
        <p:blipFill>
          <a:blip r:embed="rId8"/>
          <a:stretch>
            <a:fillRect/>
          </a:stretch>
        </p:blipFill>
        <p:spPr>
          <a:xfrm>
            <a:off x="2587752" y="2948358"/>
            <a:ext cx="1133856" cy="1144164"/>
          </a:xfrm>
          <a:prstGeom prst="rect">
            <a:avLst/>
          </a:prstGeom>
        </p:spPr>
      </p:pic>
      <p:sp>
        <p:nvSpPr>
          <p:cNvPr id="25" name="anim4_99"/>
          <p:cNvSpPr txBox="1"/>
          <p:nvPr/>
        </p:nvSpPr>
        <p:spPr>
          <a:xfrm>
            <a:off x="5852160" y="1828800"/>
            <a:ext cx="5790895" cy="1188720"/>
          </a:xfrm>
          <a:prstGeom prst="rect">
            <a:avLst/>
          </a:prstGeom>
          <a:noFill/>
          <a:ln/>
        </p:spPr>
        <p:txBody>
          <a:bodyPr wrap="square" lIns="0" tIns="0" rIns="0" bIns="0" rtlCol="0" anchor="t"/>
          <a:lstStyle/>
          <a:p>
            <a:pPr rtl="1" algn="r" indent="0" marL="0">
              <a:buNone/>
            </a:pPr>
            <a:r>
              <a:rPr lang="ar-SA" altLang="en-US" sz="2400" b="1" dirty="0">
                <a:solidFill>
                  <a:srgbClr val="052977"/>
                </a:solidFill>
                <a:latin typeface="Cairo" pitchFamily="34" charset="0"/>
                <a:ea typeface="Cairo" pitchFamily="34" charset="-122"/>
                <a:cs typeface="Cairo" pitchFamily="34" charset="-120"/>
              </a:rPr>
              <a:t>تطبيق واحد يجمع خدمات المدينة في الصحة والتعليم والترفيه والاستثمار.</a:t>
            </a:r>
            <a:endParaRPr lang="ar-SA" sz="2400" dirty="0"/>
          </a:p>
        </p:txBody>
      </p:sp>
      <p:sp>
        <p:nvSpPr>
          <p:cNvPr id="26" name="anim5_100"/>
          <p:cNvSpPr txBox="1"/>
          <p:nvPr/>
        </p:nvSpPr>
        <p:spPr>
          <a:xfrm>
            <a:off x="5852160" y="3108960"/>
            <a:ext cx="5790895" cy="822960"/>
          </a:xfrm>
          <a:prstGeom prst="rect">
            <a:avLst/>
          </a:prstGeom>
          <a:noFill/>
          <a:ln/>
        </p:spPr>
        <p:txBody>
          <a:bodyPr wrap="square" lIns="0" tIns="0" rIns="0" bIns="0" rtlCol="0" anchor="t"/>
          <a:lstStyle/>
          <a:p>
            <a:pPr rtl="1" algn="r" indent="0" marL="0">
              <a:buNone/>
            </a:pPr>
            <a:r>
              <a:rPr lang="ar-SA" altLang="en-US" sz="1700" dirty="0">
                <a:solidFill>
                  <a:srgbClr val="1A2340"/>
                </a:solidFill>
                <a:latin typeface="Cairo" pitchFamily="34" charset="0"/>
                <a:ea typeface="Cairo" pitchFamily="34" charset="-122"/>
                <a:cs typeface="Cairo" pitchFamily="34" charset="-120"/>
              </a:rPr>
              <a:t>بدل التنقل بين القنوات، يصل الساكن إلى ما يحتاجه من مكان واحد.</a:t>
            </a:r>
            <a:endParaRPr lang="ar-SA" sz="1700" dirty="0"/>
          </a:p>
        </p:txBody>
      </p:sp>
      <p:sp>
        <p:nvSpPr>
          <p:cNvPr id="27" name="anim6_101"/>
          <p:cNvSpPr/>
          <p:nvPr/>
        </p:nvSpPr>
        <p:spPr>
          <a:xfrm>
            <a:off x="10381183" y="4206240"/>
            <a:ext cx="1261872" cy="502920"/>
          </a:xfrm>
          <a:prstGeom prst="roundRect">
            <a:avLst>
              <a:gd name="adj" fmla="val 49091"/>
            </a:avLst>
          </a:prstGeom>
          <a:solidFill>
            <a:srgbClr val="EEF2FA"/>
          </a:solidFill>
          <a:ln/>
        </p:spPr>
      </p:sp>
      <p:pic>
        <p:nvPicPr>
          <p:cNvPr id="28" name="anim6_102" descr="نافذة أفراد">    </p:cNvPr>
          <p:cNvPicPr>
            <a:picLocks noChangeAspect="1"/>
          </p:cNvPicPr>
          <p:nvPr/>
        </p:nvPicPr>
        <p:blipFill>
          <a:blip r:embed="rId9"/>
          <a:stretch>
            <a:fillRect/>
          </a:stretch>
        </p:blipFill>
        <p:spPr>
          <a:xfrm>
            <a:off x="11259007" y="4334256"/>
            <a:ext cx="246888" cy="246888"/>
          </a:xfrm>
          <a:prstGeom prst="rect">
            <a:avLst/>
          </a:prstGeom>
        </p:spPr>
      </p:pic>
      <p:sp>
        <p:nvSpPr>
          <p:cNvPr id="29" name="anim6_103"/>
          <p:cNvSpPr txBox="1"/>
          <p:nvPr/>
        </p:nvSpPr>
        <p:spPr>
          <a:xfrm>
            <a:off x="10472623" y="4206240"/>
            <a:ext cx="758952" cy="502920"/>
          </a:xfrm>
          <a:prstGeom prst="rect">
            <a:avLst/>
          </a:prstGeom>
          <a:noFill/>
          <a:ln/>
        </p:spPr>
        <p:txBody>
          <a:bodyPr wrap="square" lIns="0" tIns="0" rIns="0" bIns="0" rtlCol="0" anchor="ctr"/>
          <a:lstStyle/>
          <a:p>
            <a:pPr rtl="1" algn="r" indent="0" marL="0">
              <a:buNone/>
            </a:pPr>
            <a:r>
              <a:rPr lang="ar-SA" altLang="en-US" sz="1300" b="1" dirty="0">
                <a:solidFill>
                  <a:srgbClr val="052977"/>
                </a:solidFill>
                <a:latin typeface="Cairo" pitchFamily="34" charset="0"/>
                <a:ea typeface="Cairo" pitchFamily="34" charset="-122"/>
                <a:cs typeface="Cairo" pitchFamily="34" charset="-120"/>
              </a:rPr>
              <a:t>الصحة</a:t>
            </a:r>
            <a:endParaRPr lang="ar-SA" sz="1300" dirty="0"/>
          </a:p>
        </p:txBody>
      </p:sp>
      <p:sp>
        <p:nvSpPr>
          <p:cNvPr id="30" name="anim6_104"/>
          <p:cNvSpPr/>
          <p:nvPr/>
        </p:nvSpPr>
        <p:spPr>
          <a:xfrm>
            <a:off x="9000439" y="4206240"/>
            <a:ext cx="1261872" cy="502920"/>
          </a:xfrm>
          <a:prstGeom prst="roundRect">
            <a:avLst>
              <a:gd name="adj" fmla="val 49091"/>
            </a:avLst>
          </a:prstGeom>
          <a:solidFill>
            <a:srgbClr val="EEF2FA"/>
          </a:solidFill>
          <a:ln/>
        </p:spPr>
      </p:sp>
      <p:pic>
        <p:nvPicPr>
          <p:cNvPr id="31" name="anim6_105" descr="نافذة أفراد">    </p:cNvPr>
          <p:cNvPicPr>
            <a:picLocks noChangeAspect="1"/>
          </p:cNvPicPr>
          <p:nvPr/>
        </p:nvPicPr>
        <p:blipFill>
          <a:blip r:embed="rId10"/>
          <a:stretch>
            <a:fillRect/>
          </a:stretch>
        </p:blipFill>
        <p:spPr>
          <a:xfrm>
            <a:off x="9878263" y="4334256"/>
            <a:ext cx="246888" cy="246888"/>
          </a:xfrm>
          <a:prstGeom prst="rect">
            <a:avLst/>
          </a:prstGeom>
        </p:spPr>
      </p:pic>
      <p:sp>
        <p:nvSpPr>
          <p:cNvPr id="32" name="anim6_106"/>
          <p:cNvSpPr txBox="1"/>
          <p:nvPr/>
        </p:nvSpPr>
        <p:spPr>
          <a:xfrm>
            <a:off x="9091879" y="4206240"/>
            <a:ext cx="758952" cy="502920"/>
          </a:xfrm>
          <a:prstGeom prst="rect">
            <a:avLst/>
          </a:prstGeom>
          <a:noFill/>
          <a:ln/>
        </p:spPr>
        <p:txBody>
          <a:bodyPr wrap="square" lIns="0" tIns="0" rIns="0" bIns="0" rtlCol="0" anchor="ctr"/>
          <a:lstStyle/>
          <a:p>
            <a:pPr rtl="1" algn="r" indent="0" marL="0">
              <a:buNone/>
            </a:pPr>
            <a:r>
              <a:rPr lang="ar-SA" altLang="en-US" sz="1300" b="1" dirty="0">
                <a:solidFill>
                  <a:srgbClr val="052977"/>
                </a:solidFill>
                <a:latin typeface="Cairo" pitchFamily="34" charset="0"/>
                <a:ea typeface="Cairo" pitchFamily="34" charset="-122"/>
                <a:cs typeface="Cairo" pitchFamily="34" charset="-120"/>
              </a:rPr>
              <a:t>التعليم</a:t>
            </a:r>
            <a:endParaRPr lang="ar-SA" sz="1300" dirty="0"/>
          </a:p>
        </p:txBody>
      </p:sp>
      <p:sp>
        <p:nvSpPr>
          <p:cNvPr id="33" name="anim6_107"/>
          <p:cNvSpPr/>
          <p:nvPr/>
        </p:nvSpPr>
        <p:spPr>
          <a:xfrm>
            <a:off x="7619695" y="4206240"/>
            <a:ext cx="1261872" cy="502920"/>
          </a:xfrm>
          <a:prstGeom prst="roundRect">
            <a:avLst>
              <a:gd name="adj" fmla="val 49091"/>
            </a:avLst>
          </a:prstGeom>
          <a:solidFill>
            <a:srgbClr val="EEF2FA"/>
          </a:solidFill>
          <a:ln/>
        </p:spPr>
      </p:sp>
      <p:pic>
        <p:nvPicPr>
          <p:cNvPr id="34" name="anim6_108" descr="نافذة أفراد">    </p:cNvPr>
          <p:cNvPicPr>
            <a:picLocks noChangeAspect="1"/>
          </p:cNvPicPr>
          <p:nvPr/>
        </p:nvPicPr>
        <p:blipFill>
          <a:blip r:embed="rId11"/>
          <a:stretch>
            <a:fillRect/>
          </a:stretch>
        </p:blipFill>
        <p:spPr>
          <a:xfrm>
            <a:off x="8497519" y="4334256"/>
            <a:ext cx="246888" cy="246888"/>
          </a:xfrm>
          <a:prstGeom prst="rect">
            <a:avLst/>
          </a:prstGeom>
        </p:spPr>
      </p:pic>
      <p:sp>
        <p:nvSpPr>
          <p:cNvPr id="35" name="anim6_109"/>
          <p:cNvSpPr txBox="1"/>
          <p:nvPr/>
        </p:nvSpPr>
        <p:spPr>
          <a:xfrm>
            <a:off x="7711135" y="4206240"/>
            <a:ext cx="758952" cy="502920"/>
          </a:xfrm>
          <a:prstGeom prst="rect">
            <a:avLst/>
          </a:prstGeom>
          <a:noFill/>
          <a:ln/>
        </p:spPr>
        <p:txBody>
          <a:bodyPr wrap="square" lIns="0" tIns="0" rIns="0" bIns="0" rtlCol="0" anchor="ctr"/>
          <a:lstStyle/>
          <a:p>
            <a:pPr rtl="1" algn="r" indent="0" marL="0">
              <a:buNone/>
            </a:pPr>
            <a:r>
              <a:rPr lang="ar-SA" altLang="en-US" sz="1300" b="1" dirty="0">
                <a:solidFill>
                  <a:srgbClr val="052977"/>
                </a:solidFill>
                <a:latin typeface="Cairo" pitchFamily="34" charset="0"/>
                <a:ea typeface="Cairo" pitchFamily="34" charset="-122"/>
                <a:cs typeface="Cairo" pitchFamily="34" charset="-120"/>
              </a:rPr>
              <a:t>الترفيه</a:t>
            </a:r>
            <a:endParaRPr lang="ar-SA" sz="1300" dirty="0"/>
          </a:p>
        </p:txBody>
      </p:sp>
      <p:sp>
        <p:nvSpPr>
          <p:cNvPr id="36" name="anim6_110"/>
          <p:cNvSpPr/>
          <p:nvPr/>
        </p:nvSpPr>
        <p:spPr>
          <a:xfrm>
            <a:off x="6238951" y="4206240"/>
            <a:ext cx="1261872" cy="502920"/>
          </a:xfrm>
          <a:prstGeom prst="roundRect">
            <a:avLst>
              <a:gd name="adj" fmla="val 49091"/>
            </a:avLst>
          </a:prstGeom>
          <a:solidFill>
            <a:srgbClr val="EEF2FA"/>
          </a:solidFill>
          <a:ln/>
        </p:spPr>
      </p:sp>
      <p:pic>
        <p:nvPicPr>
          <p:cNvPr id="37" name="anim6_111" descr="نافذة أفراد">    </p:cNvPr>
          <p:cNvPicPr>
            <a:picLocks noChangeAspect="1"/>
          </p:cNvPicPr>
          <p:nvPr/>
        </p:nvPicPr>
        <p:blipFill>
          <a:blip r:embed="rId12"/>
          <a:stretch>
            <a:fillRect/>
          </a:stretch>
        </p:blipFill>
        <p:spPr>
          <a:xfrm>
            <a:off x="7116775" y="4334256"/>
            <a:ext cx="246888" cy="246888"/>
          </a:xfrm>
          <a:prstGeom prst="rect">
            <a:avLst/>
          </a:prstGeom>
        </p:spPr>
      </p:pic>
      <p:sp>
        <p:nvSpPr>
          <p:cNvPr id="38" name="anim6_112"/>
          <p:cNvSpPr txBox="1"/>
          <p:nvPr/>
        </p:nvSpPr>
        <p:spPr>
          <a:xfrm>
            <a:off x="6330391" y="4206240"/>
            <a:ext cx="758952" cy="502920"/>
          </a:xfrm>
          <a:prstGeom prst="rect">
            <a:avLst/>
          </a:prstGeom>
          <a:noFill/>
          <a:ln/>
        </p:spPr>
        <p:txBody>
          <a:bodyPr wrap="square" lIns="0" tIns="0" rIns="0" bIns="0" rtlCol="0" anchor="ctr"/>
          <a:lstStyle/>
          <a:p>
            <a:pPr rtl="1" algn="r" indent="0" marL="0">
              <a:buNone/>
            </a:pPr>
            <a:r>
              <a:rPr lang="ar-SA" altLang="en-US" sz="1300" b="1" dirty="0">
                <a:solidFill>
                  <a:srgbClr val="052977"/>
                </a:solidFill>
                <a:latin typeface="Cairo" pitchFamily="34" charset="0"/>
                <a:ea typeface="Cairo" pitchFamily="34" charset="-122"/>
                <a:cs typeface="Cairo" pitchFamily="34" charset="-120"/>
              </a:rPr>
              <a:t>الاستثمار</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2" fill="hold">
                      <p:stCondLst>
                        <p:cond delay="indefinite"/>
                        <p:cond evt="onBegin" delay="0">
                          <p:tn val="2"/>
                        </p:cond>
                      </p:stCondLst>
                      <p:childTnLst>
                        <p:par>
                          <p:cTn id="33"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5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450"/>
                                        <p:tgtEl>
                                          <p:spTgt spid="1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450"/>
                                        <p:tgtEl>
                                          <p:spTgt spid="17"/>
                                        </p:tgtEl>
                                      </p:cBhvr>
                                    </p:animEffect>
                                  </p:childTnLst>
                                </p:cTn>
                              </p:par>
                            </p:childTnLst>
                          </p:cTn>
                        </p:par>
                        <p:par>
                          <p:cTn id="49"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50"/>
                                        <p:tgtEl>
                                          <p:spTgt spid="2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50"/>
                                        <p:tgtEl>
                                          <p:spTgt spid="22"/>
                                        </p:tgtEl>
                                      </p:cBhvr>
                                    </p:animEffect>
                                  </p:childTnLst>
                                </p:cTn>
                              </p:par>
                            </p:childTnLst>
                          </p:cTn>
                        </p:par>
                        <p:par>
                          <p:cTn id="56" fill="hold">
                            <p:stCondLst>
                              <p:cond delay="1400"/>
                            </p:stCondLst>
                            <p:childTnLst>
                              <p:par>
                                <p:cTn id="50" presetID="10" presetClass="entr" presetSubtype="0" fill="hold" grpId="0"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5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childTnLst>
                          </p:cTn>
                        </p:par>
                        <p:par>
                          <p:cTn id="60" fill="hold">
                            <p:stCondLst>
                              <p:cond delay="210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50"/>
                                        <p:tgtEl>
                                          <p:spTgt spid="25"/>
                                        </p:tgtEl>
                                      </p:cBhvr>
                                    </p:animEffect>
                                  </p:childTnLst>
                                </p:cTn>
                              </p:par>
                            </p:childTnLst>
                          </p:cTn>
                        </p:par>
                        <p:par>
                          <p:cTn id="64" fill="hold">
                            <p:stCondLst>
                              <p:cond delay="280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450"/>
                                        <p:tgtEl>
                                          <p:spTgt spid="26"/>
                                        </p:tgtEl>
                                      </p:cBhvr>
                                    </p:animEffect>
                                  </p:childTnLst>
                                </p:cTn>
                              </p:par>
                            </p:childTnLst>
                          </p:cTn>
                        </p:par>
                        <p:par>
                          <p:cTn id="101" fill="hold">
                            <p:stCondLst>
                              <p:cond delay="3500"/>
                            </p:stCondLst>
                            <p:childTnLst>
                              <p:par>
                                <p:cTn id="65" presetID="10" presetClass="entr" presetSubtype="0" fill="hold" grpId="0" nodeType="after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450"/>
                                        <p:tgtEl>
                                          <p:spTgt spid="2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450"/>
                                        <p:tgtEl>
                                          <p:spTgt spid="2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4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4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4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4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4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450"/>
                                        <p:tgtEl>
                                          <p:spTgt spid="3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7"/>
                                        </p:tgtEl>
                                        <p:attrNameLst>
                                          <p:attrName>style.visibility</p:attrName>
                                        </p:attrNameLst>
                                      </p:cBhvr>
                                      <p:to>
                                        <p:strVal val="visible"/>
                                      </p:to>
                                    </p:set>
                                    <p:animEffect transition="in" filter="fade">
                                      <p:cBhvr>
                                        <p:cTn id="97" dur="450"/>
                                        <p:tgtEl>
                                          <p:spTgt spid="3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8"/>
                                        </p:tgtEl>
                                        <p:attrNameLst>
                                          <p:attrName>style.visibility</p:attrName>
                                        </p:attrNameLst>
                                      </p:cBhvr>
                                      <p:to>
                                        <p:strVal val="visible"/>
                                      </p:to>
                                    </p:set>
                                    <p:animEffect transition="in" filter="fade">
                                      <p:cBhvr>
                                        <p:cTn id="100"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P spid="14"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9" grpId="0" animBg="1"/>
      <p:bldP spid="30" grpId="0" animBg="1"/>
      <p:bldP spid="32" grpId="0" animBg="1"/>
      <p:bldP spid="33" grpId="0" animBg="1"/>
      <p:bldP spid="35" grpId="0" animBg="1"/>
      <p:bldP spid="36" grpId="0" animBg="1"/>
      <p:bldP spid="3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الحل</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كيف تعالج نافذة هذه التحديات؟</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5</a:t>
            </a:r>
            <a:endParaRPr lang="ar-SA" sz="1100" dirty="0"/>
          </a:p>
        </p:txBody>
      </p:sp>
      <p:sp>
        <p:nvSpPr>
          <p:cNvPr id="8" name="anim1_113"/>
          <p:cNvSpPr txBox="1"/>
          <p:nvPr/>
        </p:nvSpPr>
        <p:spPr>
          <a:xfrm>
            <a:off x="6263640" y="1600200"/>
            <a:ext cx="3840480" cy="320040"/>
          </a:xfrm>
          <a:prstGeom prst="rect">
            <a:avLst/>
          </a:prstGeom>
          <a:noFill/>
          <a:ln/>
        </p:spPr>
        <p:txBody>
          <a:bodyPr wrap="square" lIns="0" tIns="0" rIns="0" bIns="0" rtlCol="0" anchor="t"/>
          <a:lstStyle/>
          <a:p>
            <a:pPr rtl="1" algn="r" indent="0" marL="0">
              <a:buNone/>
            </a:pPr>
            <a:r>
              <a:rPr lang="ar-SA" altLang="en-US" sz="1300" b="1" dirty="0">
                <a:solidFill>
                  <a:srgbClr val="5B6784"/>
                </a:solidFill>
                <a:latin typeface="Cairo" pitchFamily="34" charset="0"/>
                <a:ea typeface="Cairo" pitchFamily="34" charset="-122"/>
                <a:cs typeface="Cairo" pitchFamily="34" charset="-120"/>
              </a:rPr>
              <a:t>التحدي</a:t>
            </a:r>
            <a:endParaRPr lang="ar-SA" sz="1300" dirty="0"/>
          </a:p>
        </p:txBody>
      </p:sp>
      <p:sp>
        <p:nvSpPr>
          <p:cNvPr id="9" name="anim1_114"/>
          <p:cNvSpPr txBox="1"/>
          <p:nvPr/>
        </p:nvSpPr>
        <p:spPr>
          <a:xfrm>
            <a:off x="548640" y="1600200"/>
            <a:ext cx="4846320" cy="320040"/>
          </a:xfrm>
          <a:prstGeom prst="rect">
            <a:avLst/>
          </a:prstGeom>
          <a:noFill/>
          <a:ln/>
        </p:spPr>
        <p:txBody>
          <a:bodyPr wrap="square" lIns="0" tIns="0" rIns="0" bIns="0" rtlCol="0" anchor="t"/>
          <a:lstStyle/>
          <a:p>
            <a:pPr rtl="1" algn="r" indent="0" marL="0">
              <a:buNone/>
            </a:pPr>
            <a:r>
              <a:rPr lang="ar-SA" altLang="en-US" sz="1300" b="1" dirty="0">
                <a:solidFill>
                  <a:srgbClr val="5B6784"/>
                </a:solidFill>
                <a:latin typeface="Cairo" pitchFamily="34" charset="0"/>
                <a:ea typeface="Cairo" pitchFamily="34" charset="-122"/>
                <a:cs typeface="Cairo" pitchFamily="34" charset="-120"/>
              </a:rPr>
              <a:t>ما تقدمه نافذة</a:t>
            </a:r>
            <a:endParaRPr lang="ar-SA" sz="1300" dirty="0"/>
          </a:p>
        </p:txBody>
      </p:sp>
      <p:sp>
        <p:nvSpPr>
          <p:cNvPr id="10" name="anim1_115"/>
          <p:cNvSpPr/>
          <p:nvPr/>
        </p:nvSpPr>
        <p:spPr>
          <a:xfrm>
            <a:off x="11076127" y="2011680"/>
            <a:ext cx="566928" cy="566928"/>
          </a:xfrm>
          <a:prstGeom prst="ellipse">
            <a:avLst/>
          </a:prstGeom>
          <a:solidFill>
            <a:srgbClr val="052977"/>
          </a:solidFill>
          <a:ln/>
        </p:spPr>
      </p:sp>
      <p:pic>
        <p:nvPicPr>
          <p:cNvPr id="11" name="anim1_116" descr="نافذة أفراد">    </p:cNvPr>
          <p:cNvPicPr>
            <a:picLocks noChangeAspect="1"/>
          </p:cNvPicPr>
          <p:nvPr/>
        </p:nvPicPr>
        <p:blipFill>
          <a:blip r:embed="rId3"/>
          <a:stretch>
            <a:fillRect/>
          </a:stretch>
        </p:blipFill>
        <p:spPr>
          <a:xfrm>
            <a:off x="11212190" y="2147743"/>
            <a:ext cx="294803" cy="294803"/>
          </a:xfrm>
          <a:prstGeom prst="rect">
            <a:avLst/>
          </a:prstGeom>
        </p:spPr>
      </p:pic>
      <p:sp>
        <p:nvSpPr>
          <p:cNvPr id="12" name="anim1_117"/>
          <p:cNvSpPr txBox="1"/>
          <p:nvPr/>
        </p:nvSpPr>
        <p:spPr>
          <a:xfrm>
            <a:off x="10104120" y="1965960"/>
            <a:ext cx="914400" cy="658368"/>
          </a:xfrm>
          <a:prstGeom prst="rect">
            <a:avLst/>
          </a:prstGeom>
          <a:noFill/>
          <a:ln/>
        </p:spPr>
        <p:txBody>
          <a:bodyPr wrap="square" lIns="0" tIns="0" rIns="0" bIns="0" rtlCol="0" anchor="ctr"/>
          <a:lstStyle/>
          <a:p>
            <a:pPr rtl="1" algn="r" indent="0" marL="0">
              <a:buNone/>
            </a:pPr>
            <a:r>
              <a:rPr lang="ar-SA" altLang="en-US" sz="1500" b="1" dirty="0">
                <a:solidFill>
                  <a:srgbClr val="052977"/>
                </a:solidFill>
                <a:latin typeface="Cairo" pitchFamily="34" charset="0"/>
                <a:ea typeface="Cairo" pitchFamily="34" charset="-122"/>
                <a:cs typeface="Cairo" pitchFamily="34" charset="-120"/>
              </a:rPr>
              <a:t>الصحة</a:t>
            </a:r>
            <a:endParaRPr lang="ar-SA" sz="1500" dirty="0"/>
          </a:p>
        </p:txBody>
      </p:sp>
      <p:sp>
        <p:nvSpPr>
          <p:cNvPr id="13" name="anim1_118_TODO"/>
          <p:cNvSpPr/>
          <p:nvPr/>
        </p:nvSpPr>
        <p:spPr>
          <a:xfrm>
            <a:off x="6263640" y="2020824"/>
            <a:ext cx="3749040" cy="548640"/>
          </a:xfrm>
          <a:prstGeom prst="roundRect">
            <a:avLst>
              <a:gd name="adj" fmla="val 16667"/>
            </a:avLst>
          </a:prstGeom>
          <a:solidFill>
            <a:srgbClr val="FFF6E5"/>
          </a:solidFill>
          <a:ln w="12700">
            <a:solidFill>
              <a:srgbClr val="D97706"/>
            </a:solidFill>
            <a:prstDash val="dash"/>
          </a:ln>
        </p:spPr>
      </p:sp>
      <p:sp>
        <p:nvSpPr>
          <p:cNvPr id="14" name="anim1_119_TODO"/>
          <p:cNvSpPr txBox="1"/>
          <p:nvPr/>
        </p:nvSpPr>
        <p:spPr>
          <a:xfrm>
            <a:off x="6400800" y="2020824"/>
            <a:ext cx="3474720" cy="54864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التحدي كما في الشريحة 3</a:t>
            </a:r>
            <a:endParaRPr lang="ar-SA" sz="1200" dirty="0"/>
          </a:p>
        </p:txBody>
      </p:sp>
      <p:pic>
        <p:nvPicPr>
          <p:cNvPr id="15" name="anim1_120" descr="نافذة أفراد">    </p:cNvPr>
          <p:cNvPicPr>
            <a:picLocks noChangeAspect="1"/>
          </p:cNvPicPr>
          <p:nvPr/>
        </p:nvPicPr>
        <p:blipFill>
          <a:blip r:embed="rId4"/>
          <a:stretch>
            <a:fillRect/>
          </a:stretch>
        </p:blipFill>
        <p:spPr>
          <a:xfrm>
            <a:off x="5669280" y="2157984"/>
            <a:ext cx="274320" cy="274320"/>
          </a:xfrm>
          <a:prstGeom prst="rect">
            <a:avLst/>
          </a:prstGeom>
        </p:spPr>
      </p:pic>
      <p:sp>
        <p:nvSpPr>
          <p:cNvPr id="16" name="anim1_121"/>
          <p:cNvSpPr/>
          <p:nvPr/>
        </p:nvSpPr>
        <p:spPr>
          <a:xfrm>
            <a:off x="548640" y="2020824"/>
            <a:ext cx="4892040" cy="548640"/>
          </a:xfrm>
          <a:prstGeom prst="roundRect">
            <a:avLst>
              <a:gd name="adj" fmla="val 16667"/>
            </a:avLst>
          </a:prstGeom>
          <a:solidFill>
            <a:srgbClr val="EEF2FA"/>
          </a:solidFill>
          <a:ln/>
        </p:spPr>
      </p:sp>
      <p:sp>
        <p:nvSpPr>
          <p:cNvPr id="17" name="anim1_122"/>
          <p:cNvSpPr txBox="1"/>
          <p:nvPr/>
        </p:nvSpPr>
        <p:spPr>
          <a:xfrm>
            <a:off x="731520" y="2020824"/>
            <a:ext cx="4526280" cy="548640"/>
          </a:xfrm>
          <a:prstGeom prst="rect">
            <a:avLst/>
          </a:prstGeom>
          <a:noFill/>
          <a:ln/>
        </p:spPr>
        <p:txBody>
          <a:bodyPr wrap="square" lIns="0" tIns="0" rIns="0" bIns="0" rtlCol="0" anchor="ctr"/>
          <a:lstStyle/>
          <a:p>
            <a:pPr rtl="1" algn="r" indent="0" marL="0">
              <a:buNone/>
            </a:pPr>
            <a:r>
              <a:rPr lang="ar-SA" altLang="en-US" sz="1400" b="1" dirty="0">
                <a:solidFill>
                  <a:srgbClr val="1A2340"/>
                </a:solidFill>
                <a:latin typeface="Cairo" pitchFamily="34" charset="0"/>
                <a:ea typeface="Cairo" pitchFamily="34" charset="-122"/>
                <a:cs typeface="Cairo" pitchFamily="34" charset="-120"/>
              </a:rPr>
              <a:t>خدمات الصحة في المدينة من التطبيق نفسه</a:t>
            </a:r>
            <a:endParaRPr lang="ar-SA" sz="1400" dirty="0"/>
          </a:p>
        </p:txBody>
      </p:sp>
      <p:sp>
        <p:nvSpPr>
          <p:cNvPr id="18" name="anim2_123"/>
          <p:cNvSpPr/>
          <p:nvPr/>
        </p:nvSpPr>
        <p:spPr>
          <a:xfrm>
            <a:off x="11076127" y="2834640"/>
            <a:ext cx="566928" cy="566928"/>
          </a:xfrm>
          <a:prstGeom prst="ellipse">
            <a:avLst/>
          </a:prstGeom>
          <a:solidFill>
            <a:srgbClr val="052977"/>
          </a:solidFill>
          <a:ln/>
        </p:spPr>
      </p:sp>
      <p:pic>
        <p:nvPicPr>
          <p:cNvPr id="19" name="anim2_124" descr="نافذة أفراد">    </p:cNvPr>
          <p:cNvPicPr>
            <a:picLocks noChangeAspect="1"/>
          </p:cNvPicPr>
          <p:nvPr/>
        </p:nvPicPr>
        <p:blipFill>
          <a:blip r:embed="rId5"/>
          <a:stretch>
            <a:fillRect/>
          </a:stretch>
        </p:blipFill>
        <p:spPr>
          <a:xfrm>
            <a:off x="11212190" y="2970703"/>
            <a:ext cx="294803" cy="294803"/>
          </a:xfrm>
          <a:prstGeom prst="rect">
            <a:avLst/>
          </a:prstGeom>
        </p:spPr>
      </p:pic>
      <p:sp>
        <p:nvSpPr>
          <p:cNvPr id="20" name="anim2_125"/>
          <p:cNvSpPr txBox="1"/>
          <p:nvPr/>
        </p:nvSpPr>
        <p:spPr>
          <a:xfrm>
            <a:off x="10104120" y="2788920"/>
            <a:ext cx="914400" cy="658368"/>
          </a:xfrm>
          <a:prstGeom prst="rect">
            <a:avLst/>
          </a:prstGeom>
          <a:noFill/>
          <a:ln/>
        </p:spPr>
        <p:txBody>
          <a:bodyPr wrap="square" lIns="0" tIns="0" rIns="0" bIns="0" rtlCol="0" anchor="ctr"/>
          <a:lstStyle/>
          <a:p>
            <a:pPr rtl="1" algn="r" indent="0" marL="0">
              <a:buNone/>
            </a:pPr>
            <a:r>
              <a:rPr lang="ar-SA" altLang="en-US" sz="1500" b="1" dirty="0">
                <a:solidFill>
                  <a:srgbClr val="052977"/>
                </a:solidFill>
                <a:latin typeface="Cairo" pitchFamily="34" charset="0"/>
                <a:ea typeface="Cairo" pitchFamily="34" charset="-122"/>
                <a:cs typeface="Cairo" pitchFamily="34" charset="-120"/>
              </a:rPr>
              <a:t>التعليم</a:t>
            </a:r>
            <a:endParaRPr lang="ar-SA" sz="1500" dirty="0"/>
          </a:p>
        </p:txBody>
      </p:sp>
      <p:sp>
        <p:nvSpPr>
          <p:cNvPr id="21" name="anim2_126_TODO"/>
          <p:cNvSpPr/>
          <p:nvPr/>
        </p:nvSpPr>
        <p:spPr>
          <a:xfrm>
            <a:off x="6263640" y="2843784"/>
            <a:ext cx="3749040" cy="548640"/>
          </a:xfrm>
          <a:prstGeom prst="roundRect">
            <a:avLst>
              <a:gd name="adj" fmla="val 16667"/>
            </a:avLst>
          </a:prstGeom>
          <a:solidFill>
            <a:srgbClr val="FFF6E5"/>
          </a:solidFill>
          <a:ln w="12700">
            <a:solidFill>
              <a:srgbClr val="D97706"/>
            </a:solidFill>
            <a:prstDash val="dash"/>
          </a:ln>
        </p:spPr>
      </p:sp>
      <p:sp>
        <p:nvSpPr>
          <p:cNvPr id="22" name="anim2_127_TODO"/>
          <p:cNvSpPr txBox="1"/>
          <p:nvPr/>
        </p:nvSpPr>
        <p:spPr>
          <a:xfrm>
            <a:off x="6400800" y="2843784"/>
            <a:ext cx="3474720" cy="54864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التحدي كما في الشريحة 3</a:t>
            </a:r>
            <a:endParaRPr lang="ar-SA" sz="1200" dirty="0"/>
          </a:p>
        </p:txBody>
      </p:sp>
      <p:pic>
        <p:nvPicPr>
          <p:cNvPr id="23" name="anim2_128" descr="نافذة أفراد">    </p:cNvPr>
          <p:cNvPicPr>
            <a:picLocks noChangeAspect="1"/>
          </p:cNvPicPr>
          <p:nvPr/>
        </p:nvPicPr>
        <p:blipFill>
          <a:blip r:embed="rId6"/>
          <a:stretch>
            <a:fillRect/>
          </a:stretch>
        </p:blipFill>
        <p:spPr>
          <a:xfrm>
            <a:off x="5669280" y="2980944"/>
            <a:ext cx="274320" cy="274320"/>
          </a:xfrm>
          <a:prstGeom prst="rect">
            <a:avLst/>
          </a:prstGeom>
        </p:spPr>
      </p:pic>
      <p:sp>
        <p:nvSpPr>
          <p:cNvPr id="24" name="anim2_129"/>
          <p:cNvSpPr/>
          <p:nvPr/>
        </p:nvSpPr>
        <p:spPr>
          <a:xfrm>
            <a:off x="548640" y="2843784"/>
            <a:ext cx="4892040" cy="548640"/>
          </a:xfrm>
          <a:prstGeom prst="roundRect">
            <a:avLst>
              <a:gd name="adj" fmla="val 16667"/>
            </a:avLst>
          </a:prstGeom>
          <a:solidFill>
            <a:srgbClr val="EEF2FA"/>
          </a:solidFill>
          <a:ln/>
        </p:spPr>
      </p:sp>
      <p:sp>
        <p:nvSpPr>
          <p:cNvPr id="25" name="anim2_130"/>
          <p:cNvSpPr txBox="1"/>
          <p:nvPr/>
        </p:nvSpPr>
        <p:spPr>
          <a:xfrm>
            <a:off x="731520" y="2843784"/>
            <a:ext cx="4526280" cy="548640"/>
          </a:xfrm>
          <a:prstGeom prst="rect">
            <a:avLst/>
          </a:prstGeom>
          <a:noFill/>
          <a:ln/>
        </p:spPr>
        <p:txBody>
          <a:bodyPr wrap="square" lIns="0" tIns="0" rIns="0" bIns="0" rtlCol="0" anchor="ctr"/>
          <a:lstStyle/>
          <a:p>
            <a:pPr rtl="1" algn="r" indent="0" marL="0">
              <a:buNone/>
            </a:pPr>
            <a:r>
              <a:rPr lang="ar-SA" altLang="en-US" sz="1400" b="1" dirty="0">
                <a:solidFill>
                  <a:srgbClr val="1A2340"/>
                </a:solidFill>
                <a:latin typeface="Cairo" pitchFamily="34" charset="0"/>
                <a:ea typeface="Cairo" pitchFamily="34" charset="-122"/>
                <a:cs typeface="Cairo" pitchFamily="34" charset="-120"/>
              </a:rPr>
              <a:t>مدارس المدينة وخدماتها في مكان واحد</a:t>
            </a:r>
            <a:endParaRPr lang="ar-SA" sz="1400" dirty="0"/>
          </a:p>
        </p:txBody>
      </p:sp>
      <p:sp>
        <p:nvSpPr>
          <p:cNvPr id="26" name="anim3_131"/>
          <p:cNvSpPr/>
          <p:nvPr/>
        </p:nvSpPr>
        <p:spPr>
          <a:xfrm>
            <a:off x="11076127" y="3657600"/>
            <a:ext cx="566928" cy="566928"/>
          </a:xfrm>
          <a:prstGeom prst="ellipse">
            <a:avLst/>
          </a:prstGeom>
          <a:solidFill>
            <a:srgbClr val="052977"/>
          </a:solidFill>
          <a:ln/>
        </p:spPr>
      </p:sp>
      <p:pic>
        <p:nvPicPr>
          <p:cNvPr id="27" name="anim3_132" descr="نافذة أفراد">    </p:cNvPr>
          <p:cNvPicPr>
            <a:picLocks noChangeAspect="1"/>
          </p:cNvPicPr>
          <p:nvPr/>
        </p:nvPicPr>
        <p:blipFill>
          <a:blip r:embed="rId7"/>
          <a:stretch>
            <a:fillRect/>
          </a:stretch>
        </p:blipFill>
        <p:spPr>
          <a:xfrm>
            <a:off x="11212190" y="3793663"/>
            <a:ext cx="294803" cy="294803"/>
          </a:xfrm>
          <a:prstGeom prst="rect">
            <a:avLst/>
          </a:prstGeom>
        </p:spPr>
      </p:pic>
      <p:sp>
        <p:nvSpPr>
          <p:cNvPr id="28" name="anim3_133"/>
          <p:cNvSpPr txBox="1"/>
          <p:nvPr/>
        </p:nvSpPr>
        <p:spPr>
          <a:xfrm>
            <a:off x="10104120" y="3611880"/>
            <a:ext cx="914400" cy="658368"/>
          </a:xfrm>
          <a:prstGeom prst="rect">
            <a:avLst/>
          </a:prstGeom>
          <a:noFill/>
          <a:ln/>
        </p:spPr>
        <p:txBody>
          <a:bodyPr wrap="square" lIns="0" tIns="0" rIns="0" bIns="0" rtlCol="0" anchor="ctr"/>
          <a:lstStyle/>
          <a:p>
            <a:pPr rtl="1" algn="r" indent="0" marL="0">
              <a:buNone/>
            </a:pPr>
            <a:r>
              <a:rPr lang="ar-SA" altLang="en-US" sz="1500" b="1" dirty="0">
                <a:solidFill>
                  <a:srgbClr val="052977"/>
                </a:solidFill>
                <a:latin typeface="Cairo" pitchFamily="34" charset="0"/>
                <a:ea typeface="Cairo" pitchFamily="34" charset="-122"/>
                <a:cs typeface="Cairo" pitchFamily="34" charset="-120"/>
              </a:rPr>
              <a:t>الترفيه</a:t>
            </a:r>
            <a:endParaRPr lang="ar-SA" sz="1500" dirty="0"/>
          </a:p>
        </p:txBody>
      </p:sp>
      <p:sp>
        <p:nvSpPr>
          <p:cNvPr id="29" name="anim3_134_TODO"/>
          <p:cNvSpPr/>
          <p:nvPr/>
        </p:nvSpPr>
        <p:spPr>
          <a:xfrm>
            <a:off x="6263640" y="3666744"/>
            <a:ext cx="3749040" cy="548640"/>
          </a:xfrm>
          <a:prstGeom prst="roundRect">
            <a:avLst>
              <a:gd name="adj" fmla="val 16667"/>
            </a:avLst>
          </a:prstGeom>
          <a:solidFill>
            <a:srgbClr val="FFF6E5"/>
          </a:solidFill>
          <a:ln w="12700">
            <a:solidFill>
              <a:srgbClr val="D97706"/>
            </a:solidFill>
            <a:prstDash val="dash"/>
          </a:ln>
        </p:spPr>
      </p:sp>
      <p:sp>
        <p:nvSpPr>
          <p:cNvPr id="30" name="anim3_135_TODO"/>
          <p:cNvSpPr txBox="1"/>
          <p:nvPr/>
        </p:nvSpPr>
        <p:spPr>
          <a:xfrm>
            <a:off x="6400800" y="3666744"/>
            <a:ext cx="3474720" cy="54864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التحدي كما في الشريحة 3</a:t>
            </a:r>
            <a:endParaRPr lang="ar-SA" sz="1200" dirty="0"/>
          </a:p>
        </p:txBody>
      </p:sp>
      <p:pic>
        <p:nvPicPr>
          <p:cNvPr id="31" name="anim3_136" descr="نافذة أفراد">    </p:cNvPr>
          <p:cNvPicPr>
            <a:picLocks noChangeAspect="1"/>
          </p:cNvPicPr>
          <p:nvPr/>
        </p:nvPicPr>
        <p:blipFill>
          <a:blip r:embed="rId8"/>
          <a:stretch>
            <a:fillRect/>
          </a:stretch>
        </p:blipFill>
        <p:spPr>
          <a:xfrm>
            <a:off x="5669280" y="3803904"/>
            <a:ext cx="274320" cy="274320"/>
          </a:xfrm>
          <a:prstGeom prst="rect">
            <a:avLst/>
          </a:prstGeom>
        </p:spPr>
      </p:pic>
      <p:sp>
        <p:nvSpPr>
          <p:cNvPr id="32" name="anim3_137"/>
          <p:cNvSpPr/>
          <p:nvPr/>
        </p:nvSpPr>
        <p:spPr>
          <a:xfrm>
            <a:off x="548640" y="3666744"/>
            <a:ext cx="4892040" cy="548640"/>
          </a:xfrm>
          <a:prstGeom prst="roundRect">
            <a:avLst>
              <a:gd name="adj" fmla="val 16667"/>
            </a:avLst>
          </a:prstGeom>
          <a:solidFill>
            <a:srgbClr val="EEF2FA"/>
          </a:solidFill>
          <a:ln/>
        </p:spPr>
      </p:sp>
      <p:sp>
        <p:nvSpPr>
          <p:cNvPr id="33" name="anim3_138"/>
          <p:cNvSpPr txBox="1"/>
          <p:nvPr/>
        </p:nvSpPr>
        <p:spPr>
          <a:xfrm>
            <a:off x="731520" y="3666744"/>
            <a:ext cx="4526280" cy="548640"/>
          </a:xfrm>
          <a:prstGeom prst="rect">
            <a:avLst/>
          </a:prstGeom>
          <a:noFill/>
          <a:ln/>
        </p:spPr>
        <p:txBody>
          <a:bodyPr wrap="square" lIns="0" tIns="0" rIns="0" bIns="0" rtlCol="0" anchor="ctr"/>
          <a:lstStyle/>
          <a:p>
            <a:pPr rtl="1" algn="r" indent="0" marL="0">
              <a:buNone/>
            </a:pPr>
            <a:r>
              <a:rPr lang="ar-SA" altLang="en-US" sz="1400" b="1" dirty="0">
                <a:solidFill>
                  <a:srgbClr val="1A2340"/>
                </a:solidFill>
                <a:latin typeface="Cairo" pitchFamily="34" charset="0"/>
                <a:ea typeface="Cairo" pitchFamily="34" charset="-122"/>
                <a:cs typeface="Cairo" pitchFamily="34" charset="-120"/>
              </a:rPr>
              <a:t>فعاليات المدينة ووجهاتها في مكان واحد</a:t>
            </a:r>
            <a:endParaRPr lang="ar-SA" sz="1400" dirty="0"/>
          </a:p>
        </p:txBody>
      </p:sp>
      <p:sp>
        <p:nvSpPr>
          <p:cNvPr id="34" name="anim4_139"/>
          <p:cNvSpPr/>
          <p:nvPr/>
        </p:nvSpPr>
        <p:spPr>
          <a:xfrm>
            <a:off x="11076127" y="4480560"/>
            <a:ext cx="566928" cy="566928"/>
          </a:xfrm>
          <a:prstGeom prst="ellipse">
            <a:avLst/>
          </a:prstGeom>
          <a:solidFill>
            <a:srgbClr val="052977"/>
          </a:solidFill>
          <a:ln/>
        </p:spPr>
      </p:sp>
      <p:pic>
        <p:nvPicPr>
          <p:cNvPr id="35" name="anim4_140" descr="نافذة أفراد">    </p:cNvPr>
          <p:cNvPicPr>
            <a:picLocks noChangeAspect="1"/>
          </p:cNvPicPr>
          <p:nvPr/>
        </p:nvPicPr>
        <p:blipFill>
          <a:blip r:embed="rId9"/>
          <a:stretch>
            <a:fillRect/>
          </a:stretch>
        </p:blipFill>
        <p:spPr>
          <a:xfrm>
            <a:off x="11212190" y="4616623"/>
            <a:ext cx="294803" cy="294803"/>
          </a:xfrm>
          <a:prstGeom prst="rect">
            <a:avLst/>
          </a:prstGeom>
        </p:spPr>
      </p:pic>
      <p:sp>
        <p:nvSpPr>
          <p:cNvPr id="36" name="anim4_141"/>
          <p:cNvSpPr txBox="1"/>
          <p:nvPr/>
        </p:nvSpPr>
        <p:spPr>
          <a:xfrm>
            <a:off x="10104120" y="4434840"/>
            <a:ext cx="914400" cy="658368"/>
          </a:xfrm>
          <a:prstGeom prst="rect">
            <a:avLst/>
          </a:prstGeom>
          <a:noFill/>
          <a:ln/>
        </p:spPr>
        <p:txBody>
          <a:bodyPr wrap="square" lIns="0" tIns="0" rIns="0" bIns="0" rtlCol="0" anchor="ctr"/>
          <a:lstStyle/>
          <a:p>
            <a:pPr rtl="1" algn="r" indent="0" marL="0">
              <a:buNone/>
            </a:pPr>
            <a:r>
              <a:rPr lang="ar-SA" altLang="en-US" sz="1500" b="1" dirty="0">
                <a:solidFill>
                  <a:srgbClr val="052977"/>
                </a:solidFill>
                <a:latin typeface="Cairo" pitchFamily="34" charset="0"/>
                <a:ea typeface="Cairo" pitchFamily="34" charset="-122"/>
                <a:cs typeface="Cairo" pitchFamily="34" charset="-120"/>
              </a:rPr>
              <a:t>الاستثمار</a:t>
            </a:r>
            <a:endParaRPr lang="ar-SA" sz="1500" dirty="0"/>
          </a:p>
        </p:txBody>
      </p:sp>
      <p:sp>
        <p:nvSpPr>
          <p:cNvPr id="37" name="anim4_142_TODO"/>
          <p:cNvSpPr/>
          <p:nvPr/>
        </p:nvSpPr>
        <p:spPr>
          <a:xfrm>
            <a:off x="6263640" y="4489704"/>
            <a:ext cx="3749040" cy="548640"/>
          </a:xfrm>
          <a:prstGeom prst="roundRect">
            <a:avLst>
              <a:gd name="adj" fmla="val 16667"/>
            </a:avLst>
          </a:prstGeom>
          <a:solidFill>
            <a:srgbClr val="FFF6E5"/>
          </a:solidFill>
          <a:ln w="12700">
            <a:solidFill>
              <a:srgbClr val="D97706"/>
            </a:solidFill>
            <a:prstDash val="dash"/>
          </a:ln>
        </p:spPr>
      </p:sp>
      <p:sp>
        <p:nvSpPr>
          <p:cNvPr id="38" name="anim4_143_TODO"/>
          <p:cNvSpPr txBox="1"/>
          <p:nvPr/>
        </p:nvSpPr>
        <p:spPr>
          <a:xfrm>
            <a:off x="6400800" y="4489704"/>
            <a:ext cx="3474720" cy="548640"/>
          </a:xfrm>
          <a:prstGeom prst="rect">
            <a:avLst/>
          </a:prstGeom>
          <a:noFill/>
          <a:ln/>
        </p:spPr>
        <p:txBody>
          <a:bodyPr wrap="square" lIns="0" tIns="0" rIns="0" bIns="0" rtlCol="0" anchor="ctr"/>
          <a:lstStyle/>
          <a:p>
            <a:pPr rtl="1" algn="r" indent="0" marL="0">
              <a:buNone/>
            </a:pPr>
            <a:r>
              <a:rPr lang="ar-SA" altLang="en-US" sz="1200" dirty="0">
                <a:solidFill>
                  <a:srgbClr val="92400E"/>
                </a:solidFill>
                <a:latin typeface="Cairo" pitchFamily="34" charset="0"/>
                <a:ea typeface="Cairo" pitchFamily="34" charset="-122"/>
                <a:cs typeface="Cairo" pitchFamily="34" charset="-120"/>
              </a:rPr>
              <a:t>يُستكمل: التحدي كما في الشريحة 3</a:t>
            </a:r>
            <a:endParaRPr lang="ar-SA" sz="1200" dirty="0"/>
          </a:p>
        </p:txBody>
      </p:sp>
      <p:pic>
        <p:nvPicPr>
          <p:cNvPr id="39" name="anim4_144" descr="نافذة أفراد">    </p:cNvPr>
          <p:cNvPicPr>
            <a:picLocks noChangeAspect="1"/>
          </p:cNvPicPr>
          <p:nvPr/>
        </p:nvPicPr>
        <p:blipFill>
          <a:blip r:embed="rId10"/>
          <a:stretch>
            <a:fillRect/>
          </a:stretch>
        </p:blipFill>
        <p:spPr>
          <a:xfrm>
            <a:off x="5669280" y="4626864"/>
            <a:ext cx="274320" cy="274320"/>
          </a:xfrm>
          <a:prstGeom prst="rect">
            <a:avLst/>
          </a:prstGeom>
        </p:spPr>
      </p:pic>
      <p:sp>
        <p:nvSpPr>
          <p:cNvPr id="40" name="anim4_145"/>
          <p:cNvSpPr/>
          <p:nvPr/>
        </p:nvSpPr>
        <p:spPr>
          <a:xfrm>
            <a:off x="548640" y="4489704"/>
            <a:ext cx="4892040" cy="548640"/>
          </a:xfrm>
          <a:prstGeom prst="roundRect">
            <a:avLst>
              <a:gd name="adj" fmla="val 16667"/>
            </a:avLst>
          </a:prstGeom>
          <a:solidFill>
            <a:srgbClr val="EEF2FA"/>
          </a:solidFill>
          <a:ln/>
        </p:spPr>
      </p:sp>
      <p:sp>
        <p:nvSpPr>
          <p:cNvPr id="41" name="anim4_146"/>
          <p:cNvSpPr txBox="1"/>
          <p:nvPr/>
        </p:nvSpPr>
        <p:spPr>
          <a:xfrm>
            <a:off x="731520" y="4489704"/>
            <a:ext cx="4526280" cy="548640"/>
          </a:xfrm>
          <a:prstGeom prst="rect">
            <a:avLst/>
          </a:prstGeom>
          <a:noFill/>
          <a:ln/>
        </p:spPr>
        <p:txBody>
          <a:bodyPr wrap="square" lIns="0" tIns="0" rIns="0" bIns="0" rtlCol="0" anchor="ctr"/>
          <a:lstStyle/>
          <a:p>
            <a:pPr rtl="1" algn="r" indent="0" marL="0">
              <a:buNone/>
            </a:pPr>
            <a:r>
              <a:rPr lang="ar-SA" altLang="en-US" sz="1400" b="1" dirty="0">
                <a:solidFill>
                  <a:srgbClr val="1A2340"/>
                </a:solidFill>
                <a:latin typeface="Cairo" pitchFamily="34" charset="0"/>
                <a:ea typeface="Cairo" pitchFamily="34" charset="-122"/>
                <a:cs typeface="Cairo" pitchFamily="34" charset="-120"/>
              </a:rPr>
              <a:t>خدمات المستثمرين تصل إلى السكان موسومة</a:t>
            </a:r>
            <a:endParaRPr lang="ar-SA" sz="1400" dirty="0"/>
          </a:p>
        </p:txBody>
      </p:sp>
      <p:sp>
        <p:nvSpPr>
          <p:cNvPr id="42" name="anim5_147"/>
          <p:cNvSpPr/>
          <p:nvPr/>
        </p:nvSpPr>
        <p:spPr>
          <a:xfrm>
            <a:off x="548640" y="5349240"/>
            <a:ext cx="11094415" cy="658368"/>
          </a:xfrm>
          <a:prstGeom prst="roundRect">
            <a:avLst>
              <a:gd name="adj" fmla="val 19444"/>
            </a:avLst>
          </a:prstGeom>
          <a:solidFill>
            <a:srgbClr val="EEF2FA"/>
          </a:solidFill>
          <a:ln/>
        </p:spPr>
      </p:sp>
      <p:sp>
        <p:nvSpPr>
          <p:cNvPr id="43" name="anim5_148"/>
          <p:cNvSpPr/>
          <p:nvPr/>
        </p:nvSpPr>
        <p:spPr>
          <a:xfrm>
            <a:off x="10984687" y="5440680"/>
            <a:ext cx="475488" cy="475488"/>
          </a:xfrm>
          <a:prstGeom prst="ellipse">
            <a:avLst/>
          </a:prstGeom>
          <a:solidFill>
            <a:srgbClr val="052977"/>
          </a:solidFill>
          <a:ln/>
        </p:spPr>
      </p:sp>
      <p:pic>
        <p:nvPicPr>
          <p:cNvPr id="44" name="anim5_149" descr="نافذة أفراد">    </p:cNvPr>
          <p:cNvPicPr>
            <a:picLocks noChangeAspect="1"/>
          </p:cNvPicPr>
          <p:nvPr/>
        </p:nvPicPr>
        <p:blipFill>
          <a:blip r:embed="rId11"/>
          <a:stretch>
            <a:fillRect/>
          </a:stretch>
        </p:blipFill>
        <p:spPr>
          <a:xfrm>
            <a:off x="11051256" y="5507248"/>
            <a:ext cx="342351" cy="342351"/>
          </a:xfrm>
          <a:prstGeom prst="rect">
            <a:avLst/>
          </a:prstGeom>
        </p:spPr>
      </p:pic>
      <p:sp>
        <p:nvSpPr>
          <p:cNvPr id="45" name="anim5_150"/>
          <p:cNvSpPr txBox="1"/>
          <p:nvPr/>
        </p:nvSpPr>
        <p:spPr>
          <a:xfrm>
            <a:off x="2286000" y="5349240"/>
            <a:ext cx="8579815" cy="658368"/>
          </a:xfrm>
          <a:prstGeom prst="rect">
            <a:avLst/>
          </a:prstGeom>
          <a:noFill/>
          <a:ln/>
        </p:spPr>
        <p:txBody>
          <a:bodyPr wrap="square" lIns="0" tIns="0" rIns="0" bIns="0" rtlCol="0" anchor="ctr"/>
          <a:lstStyle/>
          <a:p>
            <a:pPr rtl="1" algn="r" indent="0" marL="0">
              <a:buNone/>
            </a:pPr>
            <a:r>
              <a:rPr lang="ar-SA" altLang="en-US" sz="1600" b="1" dirty="0">
                <a:solidFill>
                  <a:srgbClr val="052977"/>
                </a:solidFill>
                <a:latin typeface="Cairo" pitchFamily="34" charset="0"/>
                <a:ea typeface="Cairo" pitchFamily="34" charset="-122"/>
                <a:cs typeface="Cairo" pitchFamily="34" charset="-120"/>
              </a:rPr>
              <a:t>أحمد مع نافذة: حاجاته الثلاث من تطبيق واحد</a:t>
            </a:r>
            <a:endParaRPr lang="ar-SA" sz="1600" dirty="0"/>
          </a:p>
        </p:txBody>
      </p:sp>
      <p:sp>
        <p:nvSpPr>
          <p:cNvPr id="46" name="anim5_151"/>
          <p:cNvSpPr/>
          <p:nvPr/>
        </p:nvSpPr>
        <p:spPr>
          <a:xfrm>
            <a:off x="777240" y="5513832"/>
            <a:ext cx="1234440" cy="329184"/>
          </a:xfrm>
          <a:prstGeom prst="roundRect">
            <a:avLst>
              <a:gd name="adj" fmla="val 50000"/>
            </a:avLst>
          </a:prstGeom>
          <a:solidFill>
            <a:srgbClr val="FFFFFF"/>
          </a:solidFill>
          <a:ln w="12700">
            <a:solidFill>
              <a:srgbClr val="052977"/>
            </a:solidFill>
            <a:prstDash val="solid"/>
          </a:ln>
        </p:spPr>
      </p:sp>
      <p:sp>
        <p:nvSpPr>
          <p:cNvPr id="47" name="anim5_152"/>
          <p:cNvSpPr txBox="1"/>
          <p:nvPr/>
        </p:nvSpPr>
        <p:spPr>
          <a:xfrm>
            <a:off x="777240" y="5513832"/>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8" fill="hold">
                      <p:stCondLst>
                        <p:cond delay="indefinite"/>
                        <p:cond evt="onBegin" delay="0">
                          <p:tn val="2"/>
                        </p:cond>
                      </p:stCondLst>
                      <p:childTnLst>
                        <p:par>
                          <p:cTn id="33"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5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5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450"/>
                                        <p:tgtEl>
                                          <p:spTgt spid="1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450"/>
                                        <p:tgtEl>
                                          <p:spTgt spid="17"/>
                                        </p:tgtEl>
                                      </p:cBhvr>
                                    </p:animEffect>
                                  </p:childTnLst>
                                </p:cTn>
                              </p:par>
                            </p:childTnLst>
                          </p:cTn>
                        </p:par>
                        <p:par>
                          <p:cTn id="58"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50"/>
                                        <p:tgtEl>
                                          <p:spTgt spid="2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50"/>
                                        <p:tgtEl>
                                          <p:spTgt spid="2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50"/>
                                        <p:tgtEl>
                                          <p:spTgt spid="2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50"/>
                                        <p:tgtEl>
                                          <p:spTgt spid="2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50"/>
                                        <p:tgtEl>
                                          <p:spTgt spid="25"/>
                                        </p:tgtEl>
                                      </p:cBhvr>
                                    </p:animEffect>
                                  </p:childTnLst>
                                </p:cTn>
                              </p:par>
                            </p:childTnLst>
                          </p:cTn>
                        </p:par>
                        <p:par>
                          <p:cTn id="83" fill="hold">
                            <p:stCondLst>
                              <p:cond delay="1400"/>
                            </p:stCondLst>
                            <p:childTnLst>
                              <p:par>
                                <p:cTn id="59" presetID="10" presetClass="entr" presetSubtype="0" fill="hold" grpId="0" nodeType="after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450"/>
                                        <p:tgtEl>
                                          <p:spTgt spid="2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50"/>
                                        <p:tgtEl>
                                          <p:spTgt spid="27"/>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50"/>
                                        <p:tgtEl>
                                          <p:spTgt spid="2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450"/>
                                        <p:tgtEl>
                                          <p:spTgt spid="2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450"/>
                                        <p:tgtEl>
                                          <p:spTgt spid="3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450"/>
                                        <p:tgtEl>
                                          <p:spTgt spid="3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50"/>
                                        <p:tgtEl>
                                          <p:spTgt spid="32"/>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50"/>
                                        <p:tgtEl>
                                          <p:spTgt spid="33"/>
                                        </p:tgtEl>
                                      </p:cBhvr>
                                    </p:animEffect>
                                  </p:childTnLst>
                                </p:cTn>
                              </p:par>
                            </p:childTnLst>
                          </p:cTn>
                        </p:par>
                        <p:par>
                          <p:cTn id="108" fill="hold">
                            <p:stCondLst>
                              <p:cond delay="2100"/>
                            </p:stCondLst>
                            <p:childTnLst>
                              <p:par>
                                <p:cTn id="84" presetID="10" presetClass="entr" presetSubtype="0" fill="hold" grpId="0" nodeType="afterEffect">
                                  <p:stCondLst>
                                    <p:cond delay="0"/>
                                  </p:stCondLst>
                                  <p:childTnLst>
                                    <p:set>
                                      <p:cBhvr>
                                        <p:cTn id="85" dur="1" fill="hold">
                                          <p:stCondLst>
                                            <p:cond delay="0"/>
                                          </p:stCondLst>
                                        </p:cTn>
                                        <p:tgtEl>
                                          <p:spTgt spid="34"/>
                                        </p:tgtEl>
                                        <p:attrNameLst>
                                          <p:attrName>style.visibility</p:attrName>
                                        </p:attrNameLst>
                                      </p:cBhvr>
                                      <p:to>
                                        <p:strVal val="visible"/>
                                      </p:to>
                                    </p:set>
                                    <p:animEffect transition="in" filter="fade">
                                      <p:cBhvr>
                                        <p:cTn id="86" dur="450"/>
                                        <p:tgtEl>
                                          <p:spTgt spid="34"/>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5"/>
                                        </p:tgtEl>
                                        <p:attrNameLst>
                                          <p:attrName>style.visibility</p:attrName>
                                        </p:attrNameLst>
                                      </p:cBhvr>
                                      <p:to>
                                        <p:strVal val="visible"/>
                                      </p:to>
                                    </p:set>
                                    <p:animEffect transition="in" filter="fade">
                                      <p:cBhvr>
                                        <p:cTn id="89" dur="450"/>
                                        <p:tgtEl>
                                          <p:spTgt spid="35"/>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6"/>
                                        </p:tgtEl>
                                        <p:attrNameLst>
                                          <p:attrName>style.visibility</p:attrName>
                                        </p:attrNameLst>
                                      </p:cBhvr>
                                      <p:to>
                                        <p:strVal val="visible"/>
                                      </p:to>
                                    </p:set>
                                    <p:animEffect transition="in" filter="fade">
                                      <p:cBhvr>
                                        <p:cTn id="92" dur="450"/>
                                        <p:tgtEl>
                                          <p:spTgt spid="3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450"/>
                                        <p:tgtEl>
                                          <p:spTgt spid="3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fade">
                                      <p:cBhvr>
                                        <p:cTn id="98" dur="450"/>
                                        <p:tgtEl>
                                          <p:spTgt spid="3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450"/>
                                        <p:tgtEl>
                                          <p:spTgt spid="3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40"/>
                                        </p:tgtEl>
                                        <p:attrNameLst>
                                          <p:attrName>style.visibility</p:attrName>
                                        </p:attrNameLst>
                                      </p:cBhvr>
                                      <p:to>
                                        <p:strVal val="visible"/>
                                      </p:to>
                                    </p:set>
                                    <p:animEffect transition="in" filter="fade">
                                      <p:cBhvr>
                                        <p:cTn id="104" dur="450"/>
                                        <p:tgtEl>
                                          <p:spTgt spid="4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50"/>
                                        <p:tgtEl>
                                          <p:spTgt spid="41"/>
                                        </p:tgtEl>
                                      </p:cBhvr>
                                    </p:animEffect>
                                  </p:childTnLst>
                                </p:cTn>
                              </p:par>
                            </p:childTnLst>
                          </p:cTn>
                        </p:par>
                        <p:par>
                          <p:cTn id="127" fill="hold">
                            <p:stCondLst>
                              <p:cond delay="2800"/>
                            </p:stCondLst>
                            <p:childTnLst>
                              <p:par>
                                <p:cTn id="109" presetID="10"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450"/>
                                        <p:tgtEl>
                                          <p:spTgt spid="42"/>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4" dur="450"/>
                                        <p:tgtEl>
                                          <p:spTgt spid="43"/>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4"/>
                                        </p:tgtEl>
                                        <p:attrNameLst>
                                          <p:attrName>style.visibility</p:attrName>
                                        </p:attrNameLst>
                                      </p:cBhvr>
                                      <p:to>
                                        <p:strVal val="visible"/>
                                      </p:to>
                                    </p:set>
                                    <p:animEffect transition="in" filter="fade">
                                      <p:cBhvr>
                                        <p:cTn id="117" dur="450"/>
                                        <p:tgtEl>
                                          <p:spTgt spid="44"/>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5"/>
                                        </p:tgtEl>
                                        <p:attrNameLst>
                                          <p:attrName>style.visibility</p:attrName>
                                        </p:attrNameLst>
                                      </p:cBhvr>
                                      <p:to>
                                        <p:strVal val="visible"/>
                                      </p:to>
                                    </p:set>
                                    <p:animEffect transition="in" filter="fade">
                                      <p:cBhvr>
                                        <p:cTn id="120" dur="450"/>
                                        <p:tgtEl>
                                          <p:spTgt spid="45"/>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6"/>
                                        </p:tgtEl>
                                        <p:attrNameLst>
                                          <p:attrName>style.visibility</p:attrName>
                                        </p:attrNameLst>
                                      </p:cBhvr>
                                      <p:to>
                                        <p:strVal val="visible"/>
                                      </p:to>
                                    </p:set>
                                    <p:animEffect transition="in" filter="fade">
                                      <p:cBhvr>
                                        <p:cTn id="123" dur="450"/>
                                        <p:tgtEl>
                                          <p:spTgt spid="46"/>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P spid="14" grpId="0" animBg="1"/>
      <p:bldP spid="16" grpId="0" animBg="1"/>
      <p:bldP spid="17" grpId="0" animBg="1"/>
      <p:bldP spid="18" grpId="0" animBg="1"/>
      <p:bldP spid="20" grpId="0" animBg="1"/>
      <p:bldP spid="21" grpId="0" animBg="1"/>
      <p:bldP spid="22" grpId="0" animBg="1"/>
      <p:bldP spid="24" grpId="0" animBg="1"/>
      <p:bldP spid="25" grpId="0" animBg="1"/>
      <p:bldP spid="26" grpId="0" animBg="1"/>
      <p:bldP spid="28" grpId="0" animBg="1"/>
      <p:bldP spid="29" grpId="0" animBg="1"/>
      <p:bldP spid="30" grpId="0" animBg="1"/>
      <p:bldP spid="32" grpId="0" animBg="1"/>
      <p:bldP spid="33" grpId="0" animBg="1"/>
      <p:bldP spid="34" grpId="0" animBg="1"/>
      <p:bldP spid="36" grpId="0" animBg="1"/>
      <p:bldP spid="37" grpId="0" animBg="1"/>
      <p:bldP spid="38" grpId="0" animBg="1"/>
      <p:bldP spid="40" grpId="0" animBg="1"/>
      <p:bldP spid="41" grpId="0" animBg="1"/>
      <p:bldP spid="42" grpId="0" animBg="1"/>
      <p:bldP spid="43" grpId="0" animBg="1"/>
      <p:bldP spid="45" grpId="0" animBg="1"/>
      <p:bldP spid="46" grpId="0"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التوافق</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نافذة تدعم توجهات المملكة والهيئة</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6</a:t>
            </a:r>
            <a:endParaRPr lang="ar-SA" sz="1100" dirty="0"/>
          </a:p>
        </p:txBody>
      </p:sp>
      <p:sp>
        <p:nvSpPr>
          <p:cNvPr id="8" name="anim1_153"/>
          <p:cNvSpPr/>
          <p:nvPr/>
        </p:nvSpPr>
        <p:spPr>
          <a:xfrm>
            <a:off x="8122615" y="1737360"/>
            <a:ext cx="3520440" cy="4160520"/>
          </a:xfrm>
          <a:prstGeom prst="roundRect">
            <a:avLst>
              <a:gd name="adj" fmla="val 4675"/>
            </a:avLst>
          </a:prstGeom>
          <a:solidFill>
            <a:srgbClr val="EEF2FA"/>
          </a:solidFill>
          <a:ln/>
        </p:spPr>
      </p:sp>
      <p:sp>
        <p:nvSpPr>
          <p:cNvPr id="9" name="anim1_154"/>
          <p:cNvSpPr/>
          <p:nvPr/>
        </p:nvSpPr>
        <p:spPr>
          <a:xfrm>
            <a:off x="10591495" y="2011680"/>
            <a:ext cx="777240" cy="777240"/>
          </a:xfrm>
          <a:prstGeom prst="ellipse">
            <a:avLst/>
          </a:prstGeom>
          <a:solidFill>
            <a:srgbClr val="052977"/>
          </a:solidFill>
          <a:ln/>
        </p:spPr>
      </p:sp>
      <p:pic>
        <p:nvPicPr>
          <p:cNvPr id="10" name="anim1_155" descr="نافذة أفراد">    </p:cNvPr>
          <p:cNvPicPr>
            <a:picLocks noChangeAspect="1"/>
          </p:cNvPicPr>
          <p:nvPr/>
        </p:nvPicPr>
        <p:blipFill>
          <a:blip r:embed="rId3"/>
          <a:stretch>
            <a:fillRect/>
          </a:stretch>
        </p:blipFill>
        <p:spPr>
          <a:xfrm>
            <a:off x="10793578" y="2213762"/>
            <a:ext cx="373075" cy="373075"/>
          </a:xfrm>
          <a:prstGeom prst="rect">
            <a:avLst/>
          </a:prstGeom>
        </p:spPr>
      </p:pic>
      <p:sp>
        <p:nvSpPr>
          <p:cNvPr id="11" name="anim1_156"/>
          <p:cNvSpPr txBox="1"/>
          <p:nvPr/>
        </p:nvSpPr>
        <p:spPr>
          <a:xfrm>
            <a:off x="8396935" y="2926080"/>
            <a:ext cx="2971800" cy="502920"/>
          </a:xfrm>
          <a:prstGeom prst="rect">
            <a:avLst/>
          </a:prstGeom>
          <a:noFill/>
          <a:ln/>
        </p:spPr>
        <p:txBody>
          <a:bodyPr wrap="square" lIns="0" tIns="0" rIns="0" bIns="0" rtlCol="0" anchor="t"/>
          <a:lstStyle/>
          <a:p>
            <a:pPr rtl="1" algn="r" indent="0" marL="0">
              <a:buNone/>
            </a:pPr>
            <a:r>
              <a:rPr lang="ar-SA" altLang="en-US" sz="1900" b="1" dirty="0">
                <a:solidFill>
                  <a:srgbClr val="052977"/>
                </a:solidFill>
                <a:latin typeface="Cairo" pitchFamily="34" charset="0"/>
                <a:ea typeface="Cairo" pitchFamily="34" charset="-122"/>
                <a:cs typeface="Cairo" pitchFamily="34" charset="-120"/>
              </a:rPr>
              <a:t>رؤية المملكة 2030</a:t>
            </a:r>
            <a:endParaRPr lang="ar-SA" sz="1900" dirty="0"/>
          </a:p>
        </p:txBody>
      </p:sp>
      <p:sp>
        <p:nvSpPr>
          <p:cNvPr id="12" name="anim1_157"/>
          <p:cNvSpPr txBox="1"/>
          <p:nvPr/>
        </p:nvSpPr>
        <p:spPr>
          <a:xfrm>
            <a:off x="8396935" y="3520440"/>
            <a:ext cx="2971800" cy="658368"/>
          </a:xfrm>
          <a:prstGeom prst="rect">
            <a:avLst/>
          </a:prstGeom>
          <a:noFill/>
          <a:ln/>
        </p:spPr>
        <p:txBody>
          <a:bodyPr wrap="square" lIns="0" tIns="0" rIns="0" bIns="0" rtlCol="0" anchor="t"/>
          <a:lstStyle/>
          <a:p>
            <a:pPr rtl="1" algn="r" indent="0" marL="0">
              <a:buNone/>
            </a:pPr>
            <a:r>
              <a:rPr lang="ar-SA" altLang="en-US" sz="1400" dirty="0">
                <a:solidFill>
                  <a:srgbClr val="1A2340"/>
                </a:solidFill>
                <a:latin typeface="Cairo" pitchFamily="34" charset="0"/>
                <a:ea typeface="Cairo" pitchFamily="34" charset="-122"/>
                <a:cs typeface="Cairo" pitchFamily="34" charset="-120"/>
              </a:rPr>
              <a:t>جودة الحياة: وصول أسهل إلى خدمات المدينة وترفيهها</a:t>
            </a:r>
            <a:endParaRPr lang="ar-SA" sz="1400" dirty="0"/>
          </a:p>
        </p:txBody>
      </p:sp>
      <p:sp>
        <p:nvSpPr>
          <p:cNvPr id="13" name="anim1_158"/>
          <p:cNvSpPr txBox="1"/>
          <p:nvPr/>
        </p:nvSpPr>
        <p:spPr>
          <a:xfrm>
            <a:off x="8396935" y="4251960"/>
            <a:ext cx="2971800" cy="658368"/>
          </a:xfrm>
          <a:prstGeom prst="rect">
            <a:avLst/>
          </a:prstGeom>
          <a:noFill/>
          <a:ln/>
        </p:spPr>
        <p:txBody>
          <a:bodyPr wrap="square" lIns="0" tIns="0" rIns="0" bIns="0" rtlCol="0" anchor="t"/>
          <a:lstStyle/>
          <a:p>
            <a:pPr rtl="1" algn="r" indent="0" marL="0">
              <a:buNone/>
            </a:pPr>
            <a:r>
              <a:rPr lang="ar-SA" altLang="en-US" sz="1400" dirty="0">
                <a:solidFill>
                  <a:srgbClr val="1A2340"/>
                </a:solidFill>
                <a:latin typeface="Cairo" pitchFamily="34" charset="0"/>
                <a:ea typeface="Cairo" pitchFamily="34" charset="-122"/>
                <a:cs typeface="Cairo" pitchFamily="34" charset="-120"/>
              </a:rPr>
              <a:t>تجربة أفضل للمستفيد من الخدمات</a:t>
            </a:r>
            <a:endParaRPr lang="ar-SA" sz="1400" dirty="0"/>
          </a:p>
        </p:txBody>
      </p:sp>
      <p:sp>
        <p:nvSpPr>
          <p:cNvPr id="14" name="anim2_159"/>
          <p:cNvSpPr/>
          <p:nvPr/>
        </p:nvSpPr>
        <p:spPr>
          <a:xfrm>
            <a:off x="4336999" y="1737360"/>
            <a:ext cx="3520440" cy="4160520"/>
          </a:xfrm>
          <a:prstGeom prst="roundRect">
            <a:avLst>
              <a:gd name="adj" fmla="val 4675"/>
            </a:avLst>
          </a:prstGeom>
          <a:solidFill>
            <a:srgbClr val="EEF2FA"/>
          </a:solidFill>
          <a:ln/>
        </p:spPr>
      </p:sp>
      <p:sp>
        <p:nvSpPr>
          <p:cNvPr id="15" name="anim2_160"/>
          <p:cNvSpPr/>
          <p:nvPr/>
        </p:nvSpPr>
        <p:spPr>
          <a:xfrm>
            <a:off x="6805879" y="2011680"/>
            <a:ext cx="777240" cy="777240"/>
          </a:xfrm>
          <a:prstGeom prst="ellipse">
            <a:avLst/>
          </a:prstGeom>
          <a:solidFill>
            <a:srgbClr val="052977"/>
          </a:solidFill>
          <a:ln/>
        </p:spPr>
      </p:sp>
      <p:pic>
        <p:nvPicPr>
          <p:cNvPr id="16" name="anim2_161" descr="نافذة أفراد">    </p:cNvPr>
          <p:cNvPicPr>
            <a:picLocks noChangeAspect="1"/>
          </p:cNvPicPr>
          <p:nvPr/>
        </p:nvPicPr>
        <p:blipFill>
          <a:blip r:embed="rId4"/>
          <a:stretch>
            <a:fillRect/>
          </a:stretch>
        </p:blipFill>
        <p:spPr>
          <a:xfrm>
            <a:off x="7007962" y="2213762"/>
            <a:ext cx="373075" cy="373075"/>
          </a:xfrm>
          <a:prstGeom prst="rect">
            <a:avLst/>
          </a:prstGeom>
        </p:spPr>
      </p:pic>
      <p:sp>
        <p:nvSpPr>
          <p:cNvPr id="17" name="anim2_162"/>
          <p:cNvSpPr txBox="1"/>
          <p:nvPr/>
        </p:nvSpPr>
        <p:spPr>
          <a:xfrm>
            <a:off x="4611319" y="2926080"/>
            <a:ext cx="2971800" cy="502920"/>
          </a:xfrm>
          <a:prstGeom prst="rect">
            <a:avLst/>
          </a:prstGeom>
          <a:noFill/>
          <a:ln/>
        </p:spPr>
        <p:txBody>
          <a:bodyPr wrap="square" lIns="0" tIns="0" rIns="0" bIns="0" rtlCol="0" anchor="t"/>
          <a:lstStyle/>
          <a:p>
            <a:pPr rtl="1" algn="r" indent="0" marL="0">
              <a:buNone/>
            </a:pPr>
            <a:r>
              <a:rPr lang="ar-SA" altLang="en-US" sz="1900" b="1" dirty="0">
                <a:solidFill>
                  <a:srgbClr val="052977"/>
                </a:solidFill>
                <a:latin typeface="Cairo" pitchFamily="34" charset="0"/>
                <a:ea typeface="Cairo" pitchFamily="34" charset="-122"/>
                <a:cs typeface="Cairo" pitchFamily="34" charset="-120"/>
              </a:rPr>
              <a:t>هيئة الحكومة الرقمية</a:t>
            </a:r>
            <a:endParaRPr lang="ar-SA" sz="1900" dirty="0"/>
          </a:p>
        </p:txBody>
      </p:sp>
      <p:sp>
        <p:nvSpPr>
          <p:cNvPr id="18" name="anim2_163"/>
          <p:cNvSpPr txBox="1"/>
          <p:nvPr/>
        </p:nvSpPr>
        <p:spPr>
          <a:xfrm>
            <a:off x="4611319" y="3520440"/>
            <a:ext cx="2971800" cy="658368"/>
          </a:xfrm>
          <a:prstGeom prst="rect">
            <a:avLst/>
          </a:prstGeom>
          <a:noFill/>
          <a:ln/>
        </p:spPr>
        <p:txBody>
          <a:bodyPr wrap="square" lIns="0" tIns="0" rIns="0" bIns="0" rtlCol="0" anchor="t"/>
          <a:lstStyle/>
          <a:p>
            <a:pPr rtl="1" algn="r" indent="0" marL="0">
              <a:buNone/>
            </a:pPr>
            <a:r>
              <a:rPr lang="ar-SA" altLang="en-US" sz="1400" dirty="0">
                <a:solidFill>
                  <a:srgbClr val="1A2340"/>
                </a:solidFill>
                <a:latin typeface="Cairo" pitchFamily="34" charset="0"/>
                <a:ea typeface="Cairo" pitchFamily="34" charset="-122"/>
                <a:cs typeface="Cairo" pitchFamily="34" charset="-120"/>
              </a:rPr>
              <a:t>توحيد القنوات في تطبيق واحد بدل تعددها</a:t>
            </a:r>
            <a:endParaRPr lang="ar-SA" sz="1400" dirty="0"/>
          </a:p>
        </p:txBody>
      </p:sp>
      <p:sp>
        <p:nvSpPr>
          <p:cNvPr id="19" name="anim2_164"/>
          <p:cNvSpPr txBox="1"/>
          <p:nvPr/>
        </p:nvSpPr>
        <p:spPr>
          <a:xfrm>
            <a:off x="4611319" y="4251960"/>
            <a:ext cx="2971800" cy="658368"/>
          </a:xfrm>
          <a:prstGeom prst="rect">
            <a:avLst/>
          </a:prstGeom>
          <a:noFill/>
          <a:ln/>
        </p:spPr>
        <p:txBody>
          <a:bodyPr wrap="square" lIns="0" tIns="0" rIns="0" bIns="0" rtlCol="0" anchor="t"/>
          <a:lstStyle/>
          <a:p>
            <a:pPr rtl="1" algn="r" indent="0" marL="0">
              <a:buNone/>
            </a:pPr>
            <a:r>
              <a:rPr lang="ar-SA" altLang="en-US" sz="1400" dirty="0">
                <a:solidFill>
                  <a:srgbClr val="1A2340"/>
                </a:solidFill>
                <a:latin typeface="Cairo" pitchFamily="34" charset="0"/>
                <a:ea typeface="Cairo" pitchFamily="34" charset="-122"/>
                <a:cs typeface="Cairo" pitchFamily="34" charset="-120"/>
              </a:rPr>
              <a:t>تجربة متكاملة تتمحور حول المستفيد</a:t>
            </a:r>
            <a:endParaRPr lang="ar-SA" sz="1400" dirty="0"/>
          </a:p>
        </p:txBody>
      </p:sp>
      <p:sp>
        <p:nvSpPr>
          <p:cNvPr id="20" name="anim2_165_TODO"/>
          <p:cNvSpPr/>
          <p:nvPr/>
        </p:nvSpPr>
        <p:spPr>
          <a:xfrm>
            <a:off x="4611319" y="5166360"/>
            <a:ext cx="2971800" cy="475488"/>
          </a:xfrm>
          <a:prstGeom prst="roundRect">
            <a:avLst>
              <a:gd name="adj" fmla="val 19231"/>
            </a:avLst>
          </a:prstGeom>
          <a:solidFill>
            <a:srgbClr val="FFF6E5"/>
          </a:solidFill>
          <a:ln w="12700">
            <a:solidFill>
              <a:srgbClr val="D97706"/>
            </a:solidFill>
            <a:prstDash val="dash"/>
          </a:ln>
        </p:spPr>
      </p:sp>
      <p:sp>
        <p:nvSpPr>
          <p:cNvPr id="21" name="anim2_166_TODO"/>
          <p:cNvSpPr txBox="1"/>
          <p:nvPr/>
        </p:nvSpPr>
        <p:spPr>
          <a:xfrm>
            <a:off x="4748479" y="5166360"/>
            <a:ext cx="2697480" cy="475488"/>
          </a:xfrm>
          <a:prstGeom prst="rect">
            <a:avLst/>
          </a:prstGeom>
          <a:noFill/>
          <a:ln/>
        </p:spPr>
        <p:txBody>
          <a:bodyPr wrap="square" lIns="0" tIns="0" rIns="0" bIns="0" rtlCol="0" anchor="ctr"/>
          <a:lstStyle/>
          <a:p>
            <a:pPr rtl="1" algn="r" indent="0" marL="0">
              <a:buNone/>
            </a:pPr>
            <a:r>
              <a:rPr lang="ar-SA" altLang="en-US" sz="1100" dirty="0">
                <a:solidFill>
                  <a:srgbClr val="92400E"/>
                </a:solidFill>
                <a:latin typeface="Cairo" pitchFamily="34" charset="0"/>
                <a:ea typeface="Cairo" pitchFamily="34" charset="-122"/>
                <a:cs typeface="Cairo" pitchFamily="34" charset="-120"/>
              </a:rPr>
              <a:t>يُستكمل: المرجع الرسمي من وثائق الهيئة</a:t>
            </a:r>
            <a:endParaRPr lang="ar-SA" sz="1100" dirty="0"/>
          </a:p>
        </p:txBody>
      </p:sp>
      <p:sp>
        <p:nvSpPr>
          <p:cNvPr id="22" name="anim3_167"/>
          <p:cNvSpPr/>
          <p:nvPr/>
        </p:nvSpPr>
        <p:spPr>
          <a:xfrm>
            <a:off x="551383" y="1737360"/>
            <a:ext cx="3520440" cy="4160520"/>
          </a:xfrm>
          <a:prstGeom prst="roundRect">
            <a:avLst>
              <a:gd name="adj" fmla="val 4675"/>
            </a:avLst>
          </a:prstGeom>
          <a:solidFill>
            <a:srgbClr val="EEF2FA"/>
          </a:solidFill>
          <a:ln/>
        </p:spPr>
      </p:sp>
      <p:sp>
        <p:nvSpPr>
          <p:cNvPr id="23" name="anim3_168"/>
          <p:cNvSpPr/>
          <p:nvPr/>
        </p:nvSpPr>
        <p:spPr>
          <a:xfrm>
            <a:off x="3020263" y="2011680"/>
            <a:ext cx="777240" cy="777240"/>
          </a:xfrm>
          <a:prstGeom prst="ellipse">
            <a:avLst/>
          </a:prstGeom>
          <a:solidFill>
            <a:srgbClr val="052977"/>
          </a:solidFill>
          <a:ln/>
        </p:spPr>
      </p:sp>
      <p:pic>
        <p:nvPicPr>
          <p:cNvPr id="24" name="anim3_169" descr="نافذة أفراد">    </p:cNvPr>
          <p:cNvPicPr>
            <a:picLocks noChangeAspect="1"/>
          </p:cNvPicPr>
          <p:nvPr/>
        </p:nvPicPr>
        <p:blipFill>
          <a:blip r:embed="rId5"/>
          <a:stretch>
            <a:fillRect/>
          </a:stretch>
        </p:blipFill>
        <p:spPr>
          <a:xfrm>
            <a:off x="3222346" y="2213762"/>
            <a:ext cx="373075" cy="373075"/>
          </a:xfrm>
          <a:prstGeom prst="rect">
            <a:avLst/>
          </a:prstGeom>
        </p:spPr>
      </p:pic>
      <p:sp>
        <p:nvSpPr>
          <p:cNvPr id="25" name="anim3_170"/>
          <p:cNvSpPr txBox="1"/>
          <p:nvPr/>
        </p:nvSpPr>
        <p:spPr>
          <a:xfrm>
            <a:off x="825703" y="2926080"/>
            <a:ext cx="2971800" cy="502920"/>
          </a:xfrm>
          <a:prstGeom prst="rect">
            <a:avLst/>
          </a:prstGeom>
          <a:noFill/>
          <a:ln/>
        </p:spPr>
        <p:txBody>
          <a:bodyPr wrap="square" lIns="0" tIns="0" rIns="0" bIns="0" rtlCol="0" anchor="t"/>
          <a:lstStyle/>
          <a:p>
            <a:pPr rtl="1" algn="r" indent="0" marL="0">
              <a:buNone/>
            </a:pPr>
            <a:r>
              <a:rPr lang="ar-SA" altLang="en-US" sz="1900" b="1" dirty="0">
                <a:solidFill>
                  <a:srgbClr val="052977"/>
                </a:solidFill>
                <a:latin typeface="Cairo" pitchFamily="34" charset="0"/>
                <a:ea typeface="Cairo" pitchFamily="34" charset="-122"/>
                <a:cs typeface="Cairo" pitchFamily="34" charset="-120"/>
              </a:rPr>
              <a:t>الهيئة الملكية: صناعة وحياة</a:t>
            </a:r>
            <a:endParaRPr lang="ar-SA" sz="1900" dirty="0"/>
          </a:p>
        </p:txBody>
      </p:sp>
      <p:sp>
        <p:nvSpPr>
          <p:cNvPr id="26" name="anim3_171"/>
          <p:cNvSpPr txBox="1"/>
          <p:nvPr/>
        </p:nvSpPr>
        <p:spPr>
          <a:xfrm>
            <a:off x="825703" y="3520440"/>
            <a:ext cx="2971800" cy="658368"/>
          </a:xfrm>
          <a:prstGeom prst="rect">
            <a:avLst/>
          </a:prstGeom>
          <a:noFill/>
          <a:ln/>
        </p:spPr>
        <p:txBody>
          <a:bodyPr wrap="square" lIns="0" tIns="0" rIns="0" bIns="0" rtlCol="0" anchor="t"/>
          <a:lstStyle/>
          <a:p>
            <a:pPr rtl="1" algn="r" indent="0" marL="0">
              <a:buNone/>
            </a:pPr>
            <a:r>
              <a:rPr lang="ar-SA" altLang="en-US" sz="1400" dirty="0">
                <a:solidFill>
                  <a:srgbClr val="1A2340"/>
                </a:solidFill>
                <a:latin typeface="Cairo" pitchFamily="34" charset="0"/>
                <a:ea typeface="Cairo" pitchFamily="34" charset="-122"/>
                <a:cs typeface="Cairo" pitchFamily="34" charset="-120"/>
              </a:rPr>
              <a:t>المدن الصناعية بيئة متكاملة للعيش والعمل والاستثمار</a:t>
            </a:r>
            <a:endParaRPr lang="ar-SA" sz="1400" dirty="0"/>
          </a:p>
        </p:txBody>
      </p:sp>
      <p:sp>
        <p:nvSpPr>
          <p:cNvPr id="27" name="anim3_172"/>
          <p:cNvSpPr txBox="1"/>
          <p:nvPr/>
        </p:nvSpPr>
        <p:spPr>
          <a:xfrm>
            <a:off x="825703" y="4251960"/>
            <a:ext cx="2971800" cy="658368"/>
          </a:xfrm>
          <a:prstGeom prst="rect">
            <a:avLst/>
          </a:prstGeom>
          <a:noFill/>
          <a:ln/>
        </p:spPr>
        <p:txBody>
          <a:bodyPr wrap="square" lIns="0" tIns="0" rIns="0" bIns="0" rtlCol="0" anchor="t"/>
          <a:lstStyle/>
          <a:p>
            <a:pPr rtl="1" algn="r" indent="0" marL="0">
              <a:buNone/>
            </a:pPr>
            <a:r>
              <a:rPr lang="ar-SA" altLang="en-US" sz="1400" dirty="0">
                <a:solidFill>
                  <a:srgbClr val="1A2340"/>
                </a:solidFill>
                <a:latin typeface="Cairo" pitchFamily="34" charset="0"/>
                <a:ea typeface="Cairo" pitchFamily="34" charset="-122"/>
                <a:cs typeface="Cairo" pitchFamily="34" charset="-120"/>
              </a:rPr>
              <a:t>نافذة تخدم جانب الحياة وتربطه بالاستثمار</a:t>
            </a:r>
            <a:endParaRPr lang="ar-SA" sz="1400" dirty="0"/>
          </a:p>
        </p:txBody>
      </p:sp>
      <p:sp>
        <p:nvSpPr>
          <p:cNvPr id="28" name="anim3_173_TODO"/>
          <p:cNvSpPr/>
          <p:nvPr/>
        </p:nvSpPr>
        <p:spPr>
          <a:xfrm>
            <a:off x="825703" y="5166360"/>
            <a:ext cx="2971800" cy="475488"/>
          </a:xfrm>
          <a:prstGeom prst="roundRect">
            <a:avLst>
              <a:gd name="adj" fmla="val 19231"/>
            </a:avLst>
          </a:prstGeom>
          <a:solidFill>
            <a:srgbClr val="FFF6E5"/>
          </a:solidFill>
          <a:ln w="12700">
            <a:solidFill>
              <a:srgbClr val="D97706"/>
            </a:solidFill>
            <a:prstDash val="dash"/>
          </a:ln>
        </p:spPr>
      </p:sp>
      <p:sp>
        <p:nvSpPr>
          <p:cNvPr id="29" name="anim3_174_TODO"/>
          <p:cNvSpPr txBox="1"/>
          <p:nvPr/>
        </p:nvSpPr>
        <p:spPr>
          <a:xfrm>
            <a:off x="962863" y="5166360"/>
            <a:ext cx="2697480" cy="475488"/>
          </a:xfrm>
          <a:prstGeom prst="rect">
            <a:avLst/>
          </a:prstGeom>
          <a:noFill/>
          <a:ln/>
        </p:spPr>
        <p:txBody>
          <a:bodyPr wrap="square" lIns="0" tIns="0" rIns="0" bIns="0" rtlCol="0" anchor="ctr"/>
          <a:lstStyle/>
          <a:p>
            <a:pPr rtl="1" algn="r" indent="0" marL="0">
              <a:buNone/>
            </a:pPr>
            <a:r>
              <a:rPr lang="ar-SA" altLang="en-US" sz="1100" dirty="0">
                <a:solidFill>
                  <a:srgbClr val="92400E"/>
                </a:solidFill>
                <a:latin typeface="Cairo" pitchFamily="34" charset="0"/>
                <a:ea typeface="Cairo" pitchFamily="34" charset="-122"/>
                <a:cs typeface="Cairo" pitchFamily="34" charset="-120"/>
              </a:rPr>
              <a:t>يُستكمل: الصياغة الرسمية للاستراتيجية</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21"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50"/>
                                        <p:tgtEl>
                                          <p:spTgt spid="13"/>
                                        </p:tgtEl>
                                      </p:cBhvr>
                                    </p:animEffect>
                                  </p:childTnLst>
                                </p:cTn>
                              </p:par>
                            </p:childTnLst>
                          </p:cTn>
                        </p:par>
                        <p:par>
                          <p:cTn id="46"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5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5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50"/>
                                        <p:tgtEl>
                                          <p:spTgt spid="21"/>
                                        </p:tgtEl>
                                      </p:cBhvr>
                                    </p:animEffect>
                                  </p:childTnLst>
                                </p:cTn>
                              </p:par>
                            </p:childTnLst>
                          </p:cTn>
                        </p:par>
                        <p:par>
                          <p:cTn id="71" fill="hold">
                            <p:stCondLst>
                              <p:cond delay="1400"/>
                            </p:stCondLst>
                            <p:childTnLst>
                              <p:par>
                                <p:cTn id="47" presetID="10" presetClass="entr" presetSubtype="0" fill="hold" grpId="0" nodeType="after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5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450"/>
                                        <p:tgtEl>
                                          <p:spTgt spid="25"/>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450"/>
                                        <p:tgtEl>
                                          <p:spTgt spid="2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50"/>
                                        <p:tgtEl>
                                          <p:spTgt spid="27"/>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50"/>
                                        <p:tgtEl>
                                          <p:spTgt spid="2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ما تقدمه نافذة أفراد</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الصحة: ما تقدمه نافذة</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7</a:t>
            </a:r>
            <a:endParaRPr lang="ar-SA" sz="1100" dirty="0"/>
          </a:p>
        </p:txBody>
      </p:sp>
      <p:sp>
        <p:nvSpPr>
          <p:cNvPr id="8" name="anim1_175"/>
          <p:cNvSpPr/>
          <p:nvPr/>
        </p:nvSpPr>
        <p:spPr>
          <a:xfrm>
            <a:off x="822960" y="1783080"/>
            <a:ext cx="3017520" cy="3017520"/>
          </a:xfrm>
          <a:prstGeom prst="ellipse">
            <a:avLst/>
          </a:prstGeom>
          <a:solidFill>
            <a:srgbClr val="EEF2FA"/>
          </a:solidFill>
          <a:ln/>
        </p:spPr>
      </p:sp>
      <p:pic>
        <p:nvPicPr>
          <p:cNvPr id="9" name="anim1_176" descr="نافذة أفراد">    </p:cNvPr>
          <p:cNvPicPr>
            <a:picLocks noChangeAspect="1"/>
          </p:cNvPicPr>
          <p:nvPr/>
        </p:nvPicPr>
        <p:blipFill>
          <a:blip r:embed="rId3"/>
          <a:stretch>
            <a:fillRect/>
          </a:stretch>
        </p:blipFill>
        <p:spPr>
          <a:xfrm>
            <a:off x="1691640" y="2651760"/>
            <a:ext cx="1280160" cy="1280160"/>
          </a:xfrm>
          <a:prstGeom prst="rect">
            <a:avLst/>
          </a:prstGeom>
        </p:spPr>
      </p:pic>
      <p:sp>
        <p:nvSpPr>
          <p:cNvPr id="10" name="anim2_177_TODO"/>
          <p:cNvSpPr/>
          <p:nvPr/>
        </p:nvSpPr>
        <p:spPr>
          <a:xfrm>
            <a:off x="8130388" y="1737360"/>
            <a:ext cx="3512668" cy="1463040"/>
          </a:xfrm>
          <a:prstGeom prst="roundRect">
            <a:avLst>
              <a:gd name="adj" fmla="val 6250"/>
            </a:avLst>
          </a:prstGeom>
          <a:solidFill>
            <a:srgbClr val="FFF6E5"/>
          </a:solidFill>
          <a:ln w="12700">
            <a:solidFill>
              <a:srgbClr val="D97706"/>
            </a:solidFill>
            <a:prstDash val="dash"/>
          </a:ln>
        </p:spPr>
      </p:sp>
      <p:sp>
        <p:nvSpPr>
          <p:cNvPr id="11" name="anim2_178_TODO"/>
          <p:cNvSpPr txBox="1"/>
          <p:nvPr/>
        </p:nvSpPr>
        <p:spPr>
          <a:xfrm>
            <a:off x="8267548" y="173736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1: اسمها ووصفها في سطر واحد</a:t>
            </a:r>
            <a:endParaRPr lang="ar-SA" sz="1300" dirty="0"/>
          </a:p>
        </p:txBody>
      </p:sp>
      <p:sp>
        <p:nvSpPr>
          <p:cNvPr id="12" name="anim3_179_TODO"/>
          <p:cNvSpPr/>
          <p:nvPr/>
        </p:nvSpPr>
        <p:spPr>
          <a:xfrm>
            <a:off x="4343400" y="1737360"/>
            <a:ext cx="3512668" cy="1463040"/>
          </a:xfrm>
          <a:prstGeom prst="roundRect">
            <a:avLst>
              <a:gd name="adj" fmla="val 6250"/>
            </a:avLst>
          </a:prstGeom>
          <a:solidFill>
            <a:srgbClr val="FFF6E5"/>
          </a:solidFill>
          <a:ln w="12700">
            <a:solidFill>
              <a:srgbClr val="D97706"/>
            </a:solidFill>
            <a:prstDash val="dash"/>
          </a:ln>
        </p:spPr>
      </p:sp>
      <p:sp>
        <p:nvSpPr>
          <p:cNvPr id="13" name="anim3_180_TODO"/>
          <p:cNvSpPr txBox="1"/>
          <p:nvPr/>
        </p:nvSpPr>
        <p:spPr>
          <a:xfrm>
            <a:off x="4480560" y="173736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2: اسمها ووصفها في سطر واحد</a:t>
            </a:r>
            <a:endParaRPr lang="ar-SA" sz="1300" dirty="0"/>
          </a:p>
        </p:txBody>
      </p:sp>
      <p:sp>
        <p:nvSpPr>
          <p:cNvPr id="14" name="anim4_181_TODO"/>
          <p:cNvSpPr/>
          <p:nvPr/>
        </p:nvSpPr>
        <p:spPr>
          <a:xfrm>
            <a:off x="8130388" y="3474720"/>
            <a:ext cx="3512668" cy="1463040"/>
          </a:xfrm>
          <a:prstGeom prst="roundRect">
            <a:avLst>
              <a:gd name="adj" fmla="val 6250"/>
            </a:avLst>
          </a:prstGeom>
          <a:solidFill>
            <a:srgbClr val="FFF6E5"/>
          </a:solidFill>
          <a:ln w="12700">
            <a:solidFill>
              <a:srgbClr val="D97706"/>
            </a:solidFill>
            <a:prstDash val="dash"/>
          </a:ln>
        </p:spPr>
      </p:sp>
      <p:sp>
        <p:nvSpPr>
          <p:cNvPr id="15" name="anim4_182_TODO"/>
          <p:cNvSpPr txBox="1"/>
          <p:nvPr/>
        </p:nvSpPr>
        <p:spPr>
          <a:xfrm>
            <a:off x="8267548"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3: اسمها ووصفها في سطر واحد</a:t>
            </a:r>
            <a:endParaRPr lang="ar-SA" sz="1300" dirty="0"/>
          </a:p>
        </p:txBody>
      </p:sp>
      <p:sp>
        <p:nvSpPr>
          <p:cNvPr id="16" name="anim5_183_TODO"/>
          <p:cNvSpPr/>
          <p:nvPr/>
        </p:nvSpPr>
        <p:spPr>
          <a:xfrm>
            <a:off x="4343400" y="3474720"/>
            <a:ext cx="3512668" cy="1463040"/>
          </a:xfrm>
          <a:prstGeom prst="roundRect">
            <a:avLst>
              <a:gd name="adj" fmla="val 6250"/>
            </a:avLst>
          </a:prstGeom>
          <a:solidFill>
            <a:srgbClr val="FFF6E5"/>
          </a:solidFill>
          <a:ln w="12700">
            <a:solidFill>
              <a:srgbClr val="D97706"/>
            </a:solidFill>
            <a:prstDash val="dash"/>
          </a:ln>
        </p:spPr>
      </p:sp>
      <p:sp>
        <p:nvSpPr>
          <p:cNvPr id="17" name="anim5_184_TODO"/>
          <p:cNvSpPr txBox="1"/>
          <p:nvPr/>
        </p:nvSpPr>
        <p:spPr>
          <a:xfrm>
            <a:off x="4480560"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4: اسمها ووصفها في سطر واحد</a:t>
            </a:r>
            <a:endParaRPr lang="ar-SA" sz="1300" dirty="0"/>
          </a:p>
        </p:txBody>
      </p:sp>
      <p:sp>
        <p:nvSpPr>
          <p:cNvPr id="18" name="anim6_185"/>
          <p:cNvSpPr/>
          <p:nvPr/>
        </p:nvSpPr>
        <p:spPr>
          <a:xfrm>
            <a:off x="548640" y="5349240"/>
            <a:ext cx="11094415" cy="658368"/>
          </a:xfrm>
          <a:prstGeom prst="roundRect">
            <a:avLst>
              <a:gd name="adj" fmla="val 19444"/>
            </a:avLst>
          </a:prstGeom>
          <a:solidFill>
            <a:srgbClr val="EEF2FA"/>
          </a:solidFill>
          <a:ln/>
        </p:spPr>
      </p:sp>
      <p:sp>
        <p:nvSpPr>
          <p:cNvPr id="19" name="anim6_186"/>
          <p:cNvSpPr/>
          <p:nvPr/>
        </p:nvSpPr>
        <p:spPr>
          <a:xfrm>
            <a:off x="10984687" y="5440680"/>
            <a:ext cx="475488" cy="475488"/>
          </a:xfrm>
          <a:prstGeom prst="ellipse">
            <a:avLst/>
          </a:prstGeom>
          <a:solidFill>
            <a:srgbClr val="052977"/>
          </a:solidFill>
          <a:ln/>
        </p:spPr>
      </p:sp>
      <p:pic>
        <p:nvPicPr>
          <p:cNvPr id="20" name="anim6_187" descr="نافذة أفراد">    </p:cNvPr>
          <p:cNvPicPr>
            <a:picLocks noChangeAspect="1"/>
          </p:cNvPicPr>
          <p:nvPr/>
        </p:nvPicPr>
        <p:blipFill>
          <a:blip r:embed="rId4"/>
          <a:stretch>
            <a:fillRect/>
          </a:stretch>
        </p:blipFill>
        <p:spPr>
          <a:xfrm>
            <a:off x="11051256" y="5507248"/>
            <a:ext cx="342351" cy="342351"/>
          </a:xfrm>
          <a:prstGeom prst="rect">
            <a:avLst/>
          </a:prstGeom>
        </p:spPr>
      </p:pic>
      <p:sp>
        <p:nvSpPr>
          <p:cNvPr id="21" name="anim6_188"/>
          <p:cNvSpPr txBox="1"/>
          <p:nvPr/>
        </p:nvSpPr>
        <p:spPr>
          <a:xfrm>
            <a:off x="2286000" y="5349240"/>
            <a:ext cx="8579815" cy="658368"/>
          </a:xfrm>
          <a:prstGeom prst="rect">
            <a:avLst/>
          </a:prstGeom>
          <a:noFill/>
          <a:ln/>
        </p:spPr>
        <p:txBody>
          <a:bodyPr wrap="square" lIns="0" tIns="0" rIns="0" bIns="0" rtlCol="0" anchor="ctr"/>
          <a:lstStyle/>
          <a:p>
            <a:pPr rtl="1" algn="r" indent="0" marL="0">
              <a:buNone/>
            </a:pPr>
            <a:r>
              <a:rPr lang="ar-SA" altLang="en-US" sz="1600" b="1" dirty="0">
                <a:solidFill>
                  <a:srgbClr val="052977"/>
                </a:solidFill>
                <a:latin typeface="Cairo" pitchFamily="34" charset="0"/>
                <a:ea typeface="Cairo" pitchFamily="34" charset="-122"/>
                <a:cs typeface="Cairo" pitchFamily="34" charset="-120"/>
              </a:rPr>
              <a:t>أحمد يجد خدمة العيادة التي يحتاجها من التطبيق</a:t>
            </a:r>
            <a:endParaRPr lang="ar-SA" sz="1600" dirty="0"/>
          </a:p>
        </p:txBody>
      </p:sp>
      <p:sp>
        <p:nvSpPr>
          <p:cNvPr id="22" name="anim6_189"/>
          <p:cNvSpPr/>
          <p:nvPr/>
        </p:nvSpPr>
        <p:spPr>
          <a:xfrm>
            <a:off x="777240" y="5513832"/>
            <a:ext cx="1234440" cy="329184"/>
          </a:xfrm>
          <a:prstGeom prst="roundRect">
            <a:avLst>
              <a:gd name="adj" fmla="val 50000"/>
            </a:avLst>
          </a:prstGeom>
          <a:solidFill>
            <a:srgbClr val="FFFFFF"/>
          </a:solidFill>
          <a:ln w="12700">
            <a:solidFill>
              <a:srgbClr val="052977"/>
            </a:solidFill>
            <a:prstDash val="solid"/>
          </a:ln>
        </p:spPr>
      </p:sp>
      <p:sp>
        <p:nvSpPr>
          <p:cNvPr id="23" name="anim6_190"/>
          <p:cNvSpPr txBox="1"/>
          <p:nvPr/>
        </p:nvSpPr>
        <p:spPr>
          <a:xfrm>
            <a:off x="777240" y="5513832"/>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par>
                          <p:cTn id="16" fill="hold">
                            <p:stCondLst>
                              <p:cond delay="7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childTnLst>
                          </p:cTn>
                        </p:par>
                        <p:par>
                          <p:cTn id="23" fill="hold">
                            <p:stCondLst>
                              <p:cond delay="1400"/>
                            </p:stCondLst>
                            <p:childTnLst>
                              <p:par>
                                <p:cTn id="17" presetID="10" presetClass="entr" presetSubtype="0"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5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50"/>
                                        <p:tgtEl>
                                          <p:spTgt spid="13"/>
                                        </p:tgtEl>
                                      </p:cBhvr>
                                    </p:animEffect>
                                  </p:childTnLst>
                                </p:cTn>
                              </p:par>
                            </p:childTnLst>
                          </p:cTn>
                        </p:par>
                        <p:par>
                          <p:cTn id="30" fill="hold">
                            <p:stCondLst>
                              <p:cond delay="2100"/>
                            </p:stCondLst>
                            <p:childTnLst>
                              <p:par>
                                <p:cTn id="24" presetID="10" presetClass="entr" presetSubtype="0" fill="hold" grpId="0" nodeType="after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4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450"/>
                                        <p:tgtEl>
                                          <p:spTgt spid="15"/>
                                        </p:tgtEl>
                                      </p:cBhvr>
                                    </p:animEffect>
                                  </p:childTnLst>
                                </p:cTn>
                              </p:par>
                            </p:childTnLst>
                          </p:cTn>
                        </p:par>
                        <p:par>
                          <p:cTn id="37" fill="hold">
                            <p:stCondLst>
                              <p:cond delay="28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4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450"/>
                                        <p:tgtEl>
                                          <p:spTgt spid="17"/>
                                        </p:tgtEl>
                                      </p:cBhvr>
                                    </p:animEffect>
                                  </p:childTnLst>
                                </p:cTn>
                              </p:par>
                            </p:childTnLst>
                          </p:cTn>
                        </p:par>
                        <p:par>
                          <p:cTn id="56" fill="hold">
                            <p:stCondLst>
                              <p:cond delay="3500"/>
                            </p:stCondLst>
                            <p:childTnLst>
                              <p:par>
                                <p:cTn id="38" presetID="10" presetClass="entr" presetSubtype="0" fill="hold" grpId="0" nodeType="after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5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ما تقدمه نافذة أفراد</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التعليم: ما تقدمه نافذة</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8</a:t>
            </a:r>
            <a:endParaRPr lang="ar-SA" sz="1100" dirty="0"/>
          </a:p>
        </p:txBody>
      </p:sp>
      <p:sp>
        <p:nvSpPr>
          <p:cNvPr id="8" name="anim1_191"/>
          <p:cNvSpPr/>
          <p:nvPr/>
        </p:nvSpPr>
        <p:spPr>
          <a:xfrm>
            <a:off x="822960" y="1783080"/>
            <a:ext cx="3017520" cy="3017520"/>
          </a:xfrm>
          <a:prstGeom prst="ellipse">
            <a:avLst/>
          </a:prstGeom>
          <a:solidFill>
            <a:srgbClr val="EEF2FA"/>
          </a:solidFill>
          <a:ln/>
        </p:spPr>
      </p:sp>
      <p:pic>
        <p:nvPicPr>
          <p:cNvPr id="9" name="anim1_192" descr="نافذة أفراد">    </p:cNvPr>
          <p:cNvPicPr>
            <a:picLocks noChangeAspect="1"/>
          </p:cNvPicPr>
          <p:nvPr/>
        </p:nvPicPr>
        <p:blipFill>
          <a:blip r:embed="rId3"/>
          <a:stretch>
            <a:fillRect/>
          </a:stretch>
        </p:blipFill>
        <p:spPr>
          <a:xfrm>
            <a:off x="1691640" y="2651760"/>
            <a:ext cx="1280160" cy="1280160"/>
          </a:xfrm>
          <a:prstGeom prst="rect">
            <a:avLst/>
          </a:prstGeom>
        </p:spPr>
      </p:pic>
      <p:sp>
        <p:nvSpPr>
          <p:cNvPr id="10" name="anim2_193_TODO"/>
          <p:cNvSpPr/>
          <p:nvPr/>
        </p:nvSpPr>
        <p:spPr>
          <a:xfrm>
            <a:off x="8130388" y="1737360"/>
            <a:ext cx="3512668" cy="1463040"/>
          </a:xfrm>
          <a:prstGeom prst="roundRect">
            <a:avLst>
              <a:gd name="adj" fmla="val 6250"/>
            </a:avLst>
          </a:prstGeom>
          <a:solidFill>
            <a:srgbClr val="FFF6E5"/>
          </a:solidFill>
          <a:ln w="12700">
            <a:solidFill>
              <a:srgbClr val="D97706"/>
            </a:solidFill>
            <a:prstDash val="dash"/>
          </a:ln>
        </p:spPr>
      </p:sp>
      <p:sp>
        <p:nvSpPr>
          <p:cNvPr id="11" name="anim2_194_TODO"/>
          <p:cNvSpPr txBox="1"/>
          <p:nvPr/>
        </p:nvSpPr>
        <p:spPr>
          <a:xfrm>
            <a:off x="8267548" y="173736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1: اسمها ووصفها في سطر واحد</a:t>
            </a:r>
            <a:endParaRPr lang="ar-SA" sz="1300" dirty="0"/>
          </a:p>
        </p:txBody>
      </p:sp>
      <p:sp>
        <p:nvSpPr>
          <p:cNvPr id="12" name="anim3_195_TODO"/>
          <p:cNvSpPr/>
          <p:nvPr/>
        </p:nvSpPr>
        <p:spPr>
          <a:xfrm>
            <a:off x="4343400" y="1737360"/>
            <a:ext cx="3512668" cy="1463040"/>
          </a:xfrm>
          <a:prstGeom prst="roundRect">
            <a:avLst>
              <a:gd name="adj" fmla="val 6250"/>
            </a:avLst>
          </a:prstGeom>
          <a:solidFill>
            <a:srgbClr val="FFF6E5"/>
          </a:solidFill>
          <a:ln w="12700">
            <a:solidFill>
              <a:srgbClr val="D97706"/>
            </a:solidFill>
            <a:prstDash val="dash"/>
          </a:ln>
        </p:spPr>
      </p:sp>
      <p:sp>
        <p:nvSpPr>
          <p:cNvPr id="13" name="anim3_196_TODO"/>
          <p:cNvSpPr txBox="1"/>
          <p:nvPr/>
        </p:nvSpPr>
        <p:spPr>
          <a:xfrm>
            <a:off x="4480560" y="173736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2: اسمها ووصفها في سطر واحد</a:t>
            </a:r>
            <a:endParaRPr lang="ar-SA" sz="1300" dirty="0"/>
          </a:p>
        </p:txBody>
      </p:sp>
      <p:sp>
        <p:nvSpPr>
          <p:cNvPr id="14" name="anim4_197_TODO"/>
          <p:cNvSpPr/>
          <p:nvPr/>
        </p:nvSpPr>
        <p:spPr>
          <a:xfrm>
            <a:off x="8130388" y="3474720"/>
            <a:ext cx="3512668" cy="1463040"/>
          </a:xfrm>
          <a:prstGeom prst="roundRect">
            <a:avLst>
              <a:gd name="adj" fmla="val 6250"/>
            </a:avLst>
          </a:prstGeom>
          <a:solidFill>
            <a:srgbClr val="FFF6E5"/>
          </a:solidFill>
          <a:ln w="12700">
            <a:solidFill>
              <a:srgbClr val="D97706"/>
            </a:solidFill>
            <a:prstDash val="dash"/>
          </a:ln>
        </p:spPr>
      </p:sp>
      <p:sp>
        <p:nvSpPr>
          <p:cNvPr id="15" name="anim4_198_TODO"/>
          <p:cNvSpPr txBox="1"/>
          <p:nvPr/>
        </p:nvSpPr>
        <p:spPr>
          <a:xfrm>
            <a:off x="8267548"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3: اسمها ووصفها في سطر واحد</a:t>
            </a:r>
            <a:endParaRPr lang="ar-SA" sz="1300" dirty="0"/>
          </a:p>
        </p:txBody>
      </p:sp>
      <p:sp>
        <p:nvSpPr>
          <p:cNvPr id="16" name="anim5_199_TODO"/>
          <p:cNvSpPr/>
          <p:nvPr/>
        </p:nvSpPr>
        <p:spPr>
          <a:xfrm>
            <a:off x="4343400" y="3474720"/>
            <a:ext cx="3512668" cy="1463040"/>
          </a:xfrm>
          <a:prstGeom prst="roundRect">
            <a:avLst>
              <a:gd name="adj" fmla="val 6250"/>
            </a:avLst>
          </a:prstGeom>
          <a:solidFill>
            <a:srgbClr val="FFF6E5"/>
          </a:solidFill>
          <a:ln w="12700">
            <a:solidFill>
              <a:srgbClr val="D97706"/>
            </a:solidFill>
            <a:prstDash val="dash"/>
          </a:ln>
        </p:spPr>
      </p:sp>
      <p:sp>
        <p:nvSpPr>
          <p:cNvPr id="17" name="anim5_200_TODO"/>
          <p:cNvSpPr txBox="1"/>
          <p:nvPr/>
        </p:nvSpPr>
        <p:spPr>
          <a:xfrm>
            <a:off x="4480560"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4: اسمها ووصفها في سطر واحد</a:t>
            </a:r>
            <a:endParaRPr lang="ar-SA" sz="1300" dirty="0"/>
          </a:p>
        </p:txBody>
      </p:sp>
      <p:sp>
        <p:nvSpPr>
          <p:cNvPr id="18" name="anim6_201"/>
          <p:cNvSpPr/>
          <p:nvPr/>
        </p:nvSpPr>
        <p:spPr>
          <a:xfrm>
            <a:off x="548640" y="5349240"/>
            <a:ext cx="11094415" cy="658368"/>
          </a:xfrm>
          <a:prstGeom prst="roundRect">
            <a:avLst>
              <a:gd name="adj" fmla="val 19444"/>
            </a:avLst>
          </a:prstGeom>
          <a:solidFill>
            <a:srgbClr val="EEF2FA"/>
          </a:solidFill>
          <a:ln/>
        </p:spPr>
      </p:sp>
      <p:sp>
        <p:nvSpPr>
          <p:cNvPr id="19" name="anim6_202"/>
          <p:cNvSpPr/>
          <p:nvPr/>
        </p:nvSpPr>
        <p:spPr>
          <a:xfrm>
            <a:off x="10984687" y="5440680"/>
            <a:ext cx="475488" cy="475488"/>
          </a:xfrm>
          <a:prstGeom prst="ellipse">
            <a:avLst/>
          </a:prstGeom>
          <a:solidFill>
            <a:srgbClr val="052977"/>
          </a:solidFill>
          <a:ln/>
        </p:spPr>
      </p:sp>
      <p:pic>
        <p:nvPicPr>
          <p:cNvPr id="20" name="anim6_203" descr="نافذة أفراد">    </p:cNvPr>
          <p:cNvPicPr>
            <a:picLocks noChangeAspect="1"/>
          </p:cNvPicPr>
          <p:nvPr/>
        </p:nvPicPr>
        <p:blipFill>
          <a:blip r:embed="rId4"/>
          <a:stretch>
            <a:fillRect/>
          </a:stretch>
        </p:blipFill>
        <p:spPr>
          <a:xfrm>
            <a:off x="11051256" y="5507248"/>
            <a:ext cx="342351" cy="342351"/>
          </a:xfrm>
          <a:prstGeom prst="rect">
            <a:avLst/>
          </a:prstGeom>
        </p:spPr>
      </p:pic>
      <p:sp>
        <p:nvSpPr>
          <p:cNvPr id="21" name="anim6_204"/>
          <p:cNvSpPr txBox="1"/>
          <p:nvPr/>
        </p:nvSpPr>
        <p:spPr>
          <a:xfrm>
            <a:off x="2286000" y="5349240"/>
            <a:ext cx="8579815" cy="658368"/>
          </a:xfrm>
          <a:prstGeom prst="rect">
            <a:avLst/>
          </a:prstGeom>
          <a:noFill/>
          <a:ln/>
        </p:spPr>
        <p:txBody>
          <a:bodyPr wrap="square" lIns="0" tIns="0" rIns="0" bIns="0" rtlCol="0" anchor="ctr"/>
          <a:lstStyle/>
          <a:p>
            <a:pPr rtl="1" algn="r" indent="0" marL="0">
              <a:buNone/>
            </a:pPr>
            <a:r>
              <a:rPr lang="ar-SA" altLang="en-US" sz="1600" b="1" dirty="0">
                <a:solidFill>
                  <a:srgbClr val="052977"/>
                </a:solidFill>
                <a:latin typeface="Cairo" pitchFamily="34" charset="0"/>
                <a:ea typeface="Cairo" pitchFamily="34" charset="-122"/>
                <a:cs typeface="Cairo" pitchFamily="34" charset="-120"/>
              </a:rPr>
              <a:t>أحمد يجد مدارس المدينة وخدماتها في مكان واحد</a:t>
            </a:r>
            <a:endParaRPr lang="ar-SA" sz="1600" dirty="0"/>
          </a:p>
        </p:txBody>
      </p:sp>
      <p:sp>
        <p:nvSpPr>
          <p:cNvPr id="22" name="anim6_205"/>
          <p:cNvSpPr/>
          <p:nvPr/>
        </p:nvSpPr>
        <p:spPr>
          <a:xfrm>
            <a:off x="777240" y="5513832"/>
            <a:ext cx="1234440" cy="329184"/>
          </a:xfrm>
          <a:prstGeom prst="roundRect">
            <a:avLst>
              <a:gd name="adj" fmla="val 50000"/>
            </a:avLst>
          </a:prstGeom>
          <a:solidFill>
            <a:srgbClr val="FFFFFF"/>
          </a:solidFill>
          <a:ln w="12700">
            <a:solidFill>
              <a:srgbClr val="052977"/>
            </a:solidFill>
            <a:prstDash val="solid"/>
          </a:ln>
        </p:spPr>
      </p:sp>
      <p:sp>
        <p:nvSpPr>
          <p:cNvPr id="23" name="anim6_206"/>
          <p:cNvSpPr txBox="1"/>
          <p:nvPr/>
        </p:nvSpPr>
        <p:spPr>
          <a:xfrm>
            <a:off x="777240" y="5513832"/>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par>
                          <p:cTn id="16" fill="hold">
                            <p:stCondLst>
                              <p:cond delay="7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childTnLst>
                          </p:cTn>
                        </p:par>
                        <p:par>
                          <p:cTn id="23" fill="hold">
                            <p:stCondLst>
                              <p:cond delay="1400"/>
                            </p:stCondLst>
                            <p:childTnLst>
                              <p:par>
                                <p:cTn id="17" presetID="10" presetClass="entr" presetSubtype="0"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5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50"/>
                                        <p:tgtEl>
                                          <p:spTgt spid="13"/>
                                        </p:tgtEl>
                                      </p:cBhvr>
                                    </p:animEffect>
                                  </p:childTnLst>
                                </p:cTn>
                              </p:par>
                            </p:childTnLst>
                          </p:cTn>
                        </p:par>
                        <p:par>
                          <p:cTn id="30" fill="hold">
                            <p:stCondLst>
                              <p:cond delay="2100"/>
                            </p:stCondLst>
                            <p:childTnLst>
                              <p:par>
                                <p:cTn id="24" presetID="10" presetClass="entr" presetSubtype="0" fill="hold" grpId="0" nodeType="after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4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450"/>
                                        <p:tgtEl>
                                          <p:spTgt spid="15"/>
                                        </p:tgtEl>
                                      </p:cBhvr>
                                    </p:animEffect>
                                  </p:childTnLst>
                                </p:cTn>
                              </p:par>
                            </p:childTnLst>
                          </p:cTn>
                        </p:par>
                        <p:par>
                          <p:cTn id="37" fill="hold">
                            <p:stCondLst>
                              <p:cond delay="28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4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450"/>
                                        <p:tgtEl>
                                          <p:spTgt spid="17"/>
                                        </p:tgtEl>
                                      </p:cBhvr>
                                    </p:animEffect>
                                  </p:childTnLst>
                                </p:cTn>
                              </p:par>
                            </p:childTnLst>
                          </p:cTn>
                        </p:par>
                        <p:par>
                          <p:cTn id="56" fill="hold">
                            <p:stCondLst>
                              <p:cond delay="3500"/>
                            </p:stCondLst>
                            <p:childTnLst>
                              <p:par>
                                <p:cTn id="38" presetID="10" presetClass="entr" presetSubtype="0" fill="hold" grpId="0" nodeType="after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5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ما تقدمه نافذة أفراد</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الترفيه: ما تقدمه نافذة</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9</a:t>
            </a:r>
            <a:endParaRPr lang="ar-SA" sz="1100" dirty="0"/>
          </a:p>
        </p:txBody>
      </p:sp>
      <p:sp>
        <p:nvSpPr>
          <p:cNvPr id="8" name="anim1_207"/>
          <p:cNvSpPr/>
          <p:nvPr/>
        </p:nvSpPr>
        <p:spPr>
          <a:xfrm>
            <a:off x="822960" y="1783080"/>
            <a:ext cx="3017520" cy="3017520"/>
          </a:xfrm>
          <a:prstGeom prst="ellipse">
            <a:avLst/>
          </a:prstGeom>
          <a:solidFill>
            <a:srgbClr val="EEF2FA"/>
          </a:solidFill>
          <a:ln/>
        </p:spPr>
      </p:sp>
      <p:pic>
        <p:nvPicPr>
          <p:cNvPr id="9" name="anim1_208" descr="نافذة أفراد">    </p:cNvPr>
          <p:cNvPicPr>
            <a:picLocks noChangeAspect="1"/>
          </p:cNvPicPr>
          <p:nvPr/>
        </p:nvPicPr>
        <p:blipFill>
          <a:blip r:embed="rId3"/>
          <a:stretch>
            <a:fillRect/>
          </a:stretch>
        </p:blipFill>
        <p:spPr>
          <a:xfrm>
            <a:off x="1691640" y="2651760"/>
            <a:ext cx="1280160" cy="1280160"/>
          </a:xfrm>
          <a:prstGeom prst="rect">
            <a:avLst/>
          </a:prstGeom>
        </p:spPr>
      </p:pic>
      <p:sp>
        <p:nvSpPr>
          <p:cNvPr id="10" name="anim2_209_TODO"/>
          <p:cNvSpPr/>
          <p:nvPr/>
        </p:nvSpPr>
        <p:spPr>
          <a:xfrm>
            <a:off x="8130388" y="1737360"/>
            <a:ext cx="3512668" cy="1463040"/>
          </a:xfrm>
          <a:prstGeom prst="roundRect">
            <a:avLst>
              <a:gd name="adj" fmla="val 6250"/>
            </a:avLst>
          </a:prstGeom>
          <a:solidFill>
            <a:srgbClr val="FFF6E5"/>
          </a:solidFill>
          <a:ln w="12700">
            <a:solidFill>
              <a:srgbClr val="D97706"/>
            </a:solidFill>
            <a:prstDash val="dash"/>
          </a:ln>
        </p:spPr>
      </p:sp>
      <p:sp>
        <p:nvSpPr>
          <p:cNvPr id="11" name="anim2_210_TODO"/>
          <p:cNvSpPr txBox="1"/>
          <p:nvPr/>
        </p:nvSpPr>
        <p:spPr>
          <a:xfrm>
            <a:off x="8267548" y="173736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1: اسمها ووصفها في سطر واحد</a:t>
            </a:r>
            <a:endParaRPr lang="ar-SA" sz="1300" dirty="0"/>
          </a:p>
        </p:txBody>
      </p:sp>
      <p:sp>
        <p:nvSpPr>
          <p:cNvPr id="12" name="anim3_211_TODO"/>
          <p:cNvSpPr/>
          <p:nvPr/>
        </p:nvSpPr>
        <p:spPr>
          <a:xfrm>
            <a:off x="4343400" y="1737360"/>
            <a:ext cx="3512668" cy="1463040"/>
          </a:xfrm>
          <a:prstGeom prst="roundRect">
            <a:avLst>
              <a:gd name="adj" fmla="val 6250"/>
            </a:avLst>
          </a:prstGeom>
          <a:solidFill>
            <a:srgbClr val="FFF6E5"/>
          </a:solidFill>
          <a:ln w="12700">
            <a:solidFill>
              <a:srgbClr val="D97706"/>
            </a:solidFill>
            <a:prstDash val="dash"/>
          </a:ln>
        </p:spPr>
      </p:sp>
      <p:sp>
        <p:nvSpPr>
          <p:cNvPr id="13" name="anim3_212_TODO"/>
          <p:cNvSpPr txBox="1"/>
          <p:nvPr/>
        </p:nvSpPr>
        <p:spPr>
          <a:xfrm>
            <a:off x="4480560" y="173736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2: اسمها ووصفها في سطر واحد</a:t>
            </a:r>
            <a:endParaRPr lang="ar-SA" sz="1300" dirty="0"/>
          </a:p>
        </p:txBody>
      </p:sp>
      <p:sp>
        <p:nvSpPr>
          <p:cNvPr id="14" name="anim4_213_TODO"/>
          <p:cNvSpPr/>
          <p:nvPr/>
        </p:nvSpPr>
        <p:spPr>
          <a:xfrm>
            <a:off x="8130388" y="3474720"/>
            <a:ext cx="3512668" cy="1463040"/>
          </a:xfrm>
          <a:prstGeom prst="roundRect">
            <a:avLst>
              <a:gd name="adj" fmla="val 6250"/>
            </a:avLst>
          </a:prstGeom>
          <a:solidFill>
            <a:srgbClr val="FFF6E5"/>
          </a:solidFill>
          <a:ln w="12700">
            <a:solidFill>
              <a:srgbClr val="D97706"/>
            </a:solidFill>
            <a:prstDash val="dash"/>
          </a:ln>
        </p:spPr>
      </p:sp>
      <p:sp>
        <p:nvSpPr>
          <p:cNvPr id="15" name="anim4_214_TODO"/>
          <p:cNvSpPr txBox="1"/>
          <p:nvPr/>
        </p:nvSpPr>
        <p:spPr>
          <a:xfrm>
            <a:off x="8267548"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3: اسمها ووصفها في سطر واحد</a:t>
            </a:r>
            <a:endParaRPr lang="ar-SA" sz="1300" dirty="0"/>
          </a:p>
        </p:txBody>
      </p:sp>
      <p:sp>
        <p:nvSpPr>
          <p:cNvPr id="16" name="anim5_215_TODO"/>
          <p:cNvSpPr/>
          <p:nvPr/>
        </p:nvSpPr>
        <p:spPr>
          <a:xfrm>
            <a:off x="4343400" y="3474720"/>
            <a:ext cx="3512668" cy="1463040"/>
          </a:xfrm>
          <a:prstGeom prst="roundRect">
            <a:avLst>
              <a:gd name="adj" fmla="val 6250"/>
            </a:avLst>
          </a:prstGeom>
          <a:solidFill>
            <a:srgbClr val="FFF6E5"/>
          </a:solidFill>
          <a:ln w="12700">
            <a:solidFill>
              <a:srgbClr val="D97706"/>
            </a:solidFill>
            <a:prstDash val="dash"/>
          </a:ln>
        </p:spPr>
      </p:sp>
      <p:sp>
        <p:nvSpPr>
          <p:cNvPr id="17" name="anim5_216_TODO"/>
          <p:cNvSpPr txBox="1"/>
          <p:nvPr/>
        </p:nvSpPr>
        <p:spPr>
          <a:xfrm>
            <a:off x="4480560"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4: اسمها ووصفها في سطر واحد</a:t>
            </a:r>
            <a:endParaRPr lang="ar-SA" sz="1300" dirty="0"/>
          </a:p>
        </p:txBody>
      </p:sp>
      <p:sp>
        <p:nvSpPr>
          <p:cNvPr id="18" name="anim6_217"/>
          <p:cNvSpPr/>
          <p:nvPr/>
        </p:nvSpPr>
        <p:spPr>
          <a:xfrm>
            <a:off x="548640" y="5349240"/>
            <a:ext cx="11094415" cy="658368"/>
          </a:xfrm>
          <a:prstGeom prst="roundRect">
            <a:avLst>
              <a:gd name="adj" fmla="val 19444"/>
            </a:avLst>
          </a:prstGeom>
          <a:solidFill>
            <a:srgbClr val="EEF2FA"/>
          </a:solidFill>
          <a:ln/>
        </p:spPr>
      </p:sp>
      <p:sp>
        <p:nvSpPr>
          <p:cNvPr id="19" name="anim6_218"/>
          <p:cNvSpPr/>
          <p:nvPr/>
        </p:nvSpPr>
        <p:spPr>
          <a:xfrm>
            <a:off x="10984687" y="5440680"/>
            <a:ext cx="475488" cy="475488"/>
          </a:xfrm>
          <a:prstGeom prst="ellipse">
            <a:avLst/>
          </a:prstGeom>
          <a:solidFill>
            <a:srgbClr val="052977"/>
          </a:solidFill>
          <a:ln/>
        </p:spPr>
      </p:sp>
      <p:pic>
        <p:nvPicPr>
          <p:cNvPr id="20" name="anim6_219" descr="نافذة أفراد">    </p:cNvPr>
          <p:cNvPicPr>
            <a:picLocks noChangeAspect="1"/>
          </p:cNvPicPr>
          <p:nvPr/>
        </p:nvPicPr>
        <p:blipFill>
          <a:blip r:embed="rId4"/>
          <a:stretch>
            <a:fillRect/>
          </a:stretch>
        </p:blipFill>
        <p:spPr>
          <a:xfrm>
            <a:off x="11051256" y="5507248"/>
            <a:ext cx="342351" cy="342351"/>
          </a:xfrm>
          <a:prstGeom prst="rect">
            <a:avLst/>
          </a:prstGeom>
        </p:spPr>
      </p:pic>
      <p:sp>
        <p:nvSpPr>
          <p:cNvPr id="21" name="anim6_220"/>
          <p:cNvSpPr txBox="1"/>
          <p:nvPr/>
        </p:nvSpPr>
        <p:spPr>
          <a:xfrm>
            <a:off x="2286000" y="5349240"/>
            <a:ext cx="8579815" cy="658368"/>
          </a:xfrm>
          <a:prstGeom prst="rect">
            <a:avLst/>
          </a:prstGeom>
          <a:noFill/>
          <a:ln/>
        </p:spPr>
        <p:txBody>
          <a:bodyPr wrap="square" lIns="0" tIns="0" rIns="0" bIns="0" rtlCol="0" anchor="ctr"/>
          <a:lstStyle/>
          <a:p>
            <a:pPr rtl="1" algn="r" indent="0" marL="0">
              <a:buNone/>
            </a:pPr>
            <a:r>
              <a:rPr lang="ar-SA" altLang="en-US" sz="1600" b="1" dirty="0">
                <a:solidFill>
                  <a:srgbClr val="052977"/>
                </a:solidFill>
                <a:latin typeface="Cairo" pitchFamily="34" charset="0"/>
                <a:ea typeface="Cairo" pitchFamily="34" charset="-122"/>
                <a:cs typeface="Cairo" pitchFamily="34" charset="-120"/>
              </a:rPr>
              <a:t>أحمد يختار فعالية نهاية الأسبوع لأسرته من التطبيق</a:t>
            </a:r>
            <a:endParaRPr lang="ar-SA" sz="1600" dirty="0"/>
          </a:p>
        </p:txBody>
      </p:sp>
      <p:sp>
        <p:nvSpPr>
          <p:cNvPr id="22" name="anim6_221"/>
          <p:cNvSpPr/>
          <p:nvPr/>
        </p:nvSpPr>
        <p:spPr>
          <a:xfrm>
            <a:off x="777240" y="5513832"/>
            <a:ext cx="1234440" cy="329184"/>
          </a:xfrm>
          <a:prstGeom prst="roundRect">
            <a:avLst>
              <a:gd name="adj" fmla="val 50000"/>
            </a:avLst>
          </a:prstGeom>
          <a:solidFill>
            <a:srgbClr val="FFFFFF"/>
          </a:solidFill>
          <a:ln w="12700">
            <a:solidFill>
              <a:srgbClr val="052977"/>
            </a:solidFill>
            <a:prstDash val="solid"/>
          </a:ln>
        </p:spPr>
      </p:sp>
      <p:sp>
        <p:nvSpPr>
          <p:cNvPr id="23" name="anim6_222"/>
          <p:cNvSpPr txBox="1"/>
          <p:nvPr/>
        </p:nvSpPr>
        <p:spPr>
          <a:xfrm>
            <a:off x="777240" y="5513832"/>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par>
                          <p:cTn id="16" fill="hold">
                            <p:stCondLst>
                              <p:cond delay="7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childTnLst>
                          </p:cTn>
                        </p:par>
                        <p:par>
                          <p:cTn id="23" fill="hold">
                            <p:stCondLst>
                              <p:cond delay="1400"/>
                            </p:stCondLst>
                            <p:childTnLst>
                              <p:par>
                                <p:cTn id="17" presetID="10" presetClass="entr" presetSubtype="0" fill="hold" grpId="0"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5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50"/>
                                        <p:tgtEl>
                                          <p:spTgt spid="13"/>
                                        </p:tgtEl>
                                      </p:cBhvr>
                                    </p:animEffect>
                                  </p:childTnLst>
                                </p:cTn>
                              </p:par>
                            </p:childTnLst>
                          </p:cTn>
                        </p:par>
                        <p:par>
                          <p:cTn id="30" fill="hold">
                            <p:stCondLst>
                              <p:cond delay="2100"/>
                            </p:stCondLst>
                            <p:childTnLst>
                              <p:par>
                                <p:cTn id="24" presetID="10" presetClass="entr" presetSubtype="0" fill="hold" grpId="0" nodeType="after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4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450"/>
                                        <p:tgtEl>
                                          <p:spTgt spid="15"/>
                                        </p:tgtEl>
                                      </p:cBhvr>
                                    </p:animEffect>
                                  </p:childTnLst>
                                </p:cTn>
                              </p:par>
                            </p:childTnLst>
                          </p:cTn>
                        </p:par>
                        <p:par>
                          <p:cTn id="37" fill="hold">
                            <p:stCondLst>
                              <p:cond delay="28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4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450"/>
                                        <p:tgtEl>
                                          <p:spTgt spid="17"/>
                                        </p:tgtEl>
                                      </p:cBhvr>
                                    </p:animEffect>
                                  </p:childTnLst>
                                </p:cTn>
                              </p:par>
                            </p:childTnLst>
                          </p:cTn>
                        </p:par>
                        <p:par>
                          <p:cTn id="56" fill="hold">
                            <p:stCondLst>
                              <p:cond delay="3500"/>
                            </p:stCondLst>
                            <p:childTnLst>
                              <p:par>
                                <p:cTn id="38" presetID="10" presetClass="entr" presetSubtype="0" fill="hold" grpId="0" nodeType="after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5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ما تقدمه نافذة أفراد</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الاستثمار: ما تقدمه نافذة</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10</a:t>
            </a:r>
            <a:endParaRPr lang="ar-SA" sz="1100" dirty="0"/>
          </a:p>
        </p:txBody>
      </p:sp>
      <p:sp>
        <p:nvSpPr>
          <p:cNvPr id="8" name="anim1_223"/>
          <p:cNvSpPr/>
          <p:nvPr/>
        </p:nvSpPr>
        <p:spPr>
          <a:xfrm>
            <a:off x="822960" y="1783080"/>
            <a:ext cx="3017520" cy="3017520"/>
          </a:xfrm>
          <a:prstGeom prst="ellipse">
            <a:avLst/>
          </a:prstGeom>
          <a:solidFill>
            <a:srgbClr val="EEF2FA"/>
          </a:solidFill>
          <a:ln/>
        </p:spPr>
      </p:sp>
      <p:pic>
        <p:nvPicPr>
          <p:cNvPr id="9" name="anim1_224" descr="نافذة أفراد">    </p:cNvPr>
          <p:cNvPicPr>
            <a:picLocks noChangeAspect="1"/>
          </p:cNvPicPr>
          <p:nvPr/>
        </p:nvPicPr>
        <p:blipFill>
          <a:blip r:embed="rId3"/>
          <a:stretch>
            <a:fillRect/>
          </a:stretch>
        </p:blipFill>
        <p:spPr>
          <a:xfrm>
            <a:off x="1691640" y="2651760"/>
            <a:ext cx="1280160" cy="1280160"/>
          </a:xfrm>
          <a:prstGeom prst="rect">
            <a:avLst/>
          </a:prstGeom>
        </p:spPr>
      </p:pic>
      <p:sp>
        <p:nvSpPr>
          <p:cNvPr id="10" name="anim2_225"/>
          <p:cNvSpPr/>
          <p:nvPr/>
        </p:nvSpPr>
        <p:spPr>
          <a:xfrm>
            <a:off x="8130388" y="1737360"/>
            <a:ext cx="3512668" cy="1463040"/>
          </a:xfrm>
          <a:prstGeom prst="roundRect">
            <a:avLst>
              <a:gd name="adj" fmla="val 10000"/>
            </a:avLst>
          </a:prstGeom>
          <a:solidFill>
            <a:srgbClr val="FFFFFF"/>
          </a:solidFill>
          <a:ln w="12700">
            <a:solidFill>
              <a:srgbClr val="D6DEEE"/>
            </a:solidFill>
            <a:prstDash val="solid"/>
          </a:ln>
        </p:spPr>
      </p:sp>
      <p:sp>
        <p:nvSpPr>
          <p:cNvPr id="11" name="anim2_226"/>
          <p:cNvSpPr/>
          <p:nvPr/>
        </p:nvSpPr>
        <p:spPr>
          <a:xfrm>
            <a:off x="10865815" y="1920240"/>
            <a:ext cx="548640" cy="548640"/>
          </a:xfrm>
          <a:prstGeom prst="ellipse">
            <a:avLst/>
          </a:prstGeom>
          <a:solidFill>
            <a:srgbClr val="052977"/>
          </a:solidFill>
          <a:ln/>
        </p:spPr>
      </p:sp>
      <p:pic>
        <p:nvPicPr>
          <p:cNvPr id="12" name="anim2_227" descr="نافذة أفراد">    </p:cNvPr>
          <p:cNvPicPr>
            <a:picLocks noChangeAspect="1"/>
          </p:cNvPicPr>
          <p:nvPr/>
        </p:nvPicPr>
        <p:blipFill>
          <a:blip r:embed="rId4"/>
          <a:stretch>
            <a:fillRect/>
          </a:stretch>
        </p:blipFill>
        <p:spPr>
          <a:xfrm>
            <a:off x="11008462" y="2062886"/>
            <a:ext cx="263347" cy="263347"/>
          </a:xfrm>
          <a:prstGeom prst="rect">
            <a:avLst/>
          </a:prstGeom>
        </p:spPr>
      </p:pic>
      <p:sp>
        <p:nvSpPr>
          <p:cNvPr id="13" name="anim2_228"/>
          <p:cNvSpPr txBox="1"/>
          <p:nvPr/>
        </p:nvSpPr>
        <p:spPr>
          <a:xfrm>
            <a:off x="8358988" y="1965960"/>
            <a:ext cx="2278228" cy="457200"/>
          </a:xfrm>
          <a:prstGeom prst="rect">
            <a:avLst/>
          </a:prstGeom>
          <a:noFill/>
          <a:ln/>
        </p:spPr>
        <p:txBody>
          <a:bodyPr wrap="square" lIns="0" tIns="0" rIns="0" bIns="0" rtlCol="0" anchor="t"/>
          <a:lstStyle/>
          <a:p>
            <a:pPr rtl="1" algn="r" indent="0" marL="0">
              <a:buNone/>
            </a:pPr>
            <a:r>
              <a:rPr lang="ar-SA" altLang="en-US" sz="1800" b="1" dirty="0">
                <a:solidFill>
                  <a:srgbClr val="052977"/>
                </a:solidFill>
                <a:latin typeface="Cairo" pitchFamily="34" charset="0"/>
                <a:ea typeface="Cairo" pitchFamily="34" charset="-122"/>
                <a:cs typeface="Cairo" pitchFamily="34" charset="-120"/>
              </a:rPr>
              <a:t>خدمات موسومة</a:t>
            </a:r>
            <a:endParaRPr lang="ar-SA" sz="1800" dirty="0"/>
          </a:p>
        </p:txBody>
      </p:sp>
      <p:sp>
        <p:nvSpPr>
          <p:cNvPr id="14" name="anim2_229"/>
          <p:cNvSpPr txBox="1"/>
          <p:nvPr/>
        </p:nvSpPr>
        <p:spPr>
          <a:xfrm>
            <a:off x="8358988" y="2606040"/>
            <a:ext cx="3055468" cy="457200"/>
          </a:xfrm>
          <a:prstGeom prst="rect">
            <a:avLst/>
          </a:prstGeom>
          <a:noFill/>
          <a:ln/>
        </p:spPr>
        <p:txBody>
          <a:bodyPr wrap="square" lIns="0" tIns="0" rIns="0" bIns="0" rtlCol="0" anchor="t"/>
          <a:lstStyle/>
          <a:p>
            <a:pPr rtl="1" algn="r" indent="0" marL="0">
              <a:buNone/>
            </a:pPr>
            <a:r>
              <a:rPr lang="ar-SA" altLang="en-US" sz="1300" dirty="0">
                <a:solidFill>
                  <a:srgbClr val="1A2340"/>
                </a:solidFill>
                <a:latin typeface="Cairo" pitchFamily="34" charset="0"/>
                <a:ea typeface="Cairo" pitchFamily="34" charset="-122"/>
                <a:cs typeface="Cairo" pitchFamily="34" charset="-120"/>
              </a:rPr>
              <a:t>خدمات المستثمرين تظهر للسكان موسومة باسم مقدّمها</a:t>
            </a:r>
            <a:endParaRPr lang="ar-SA" sz="1300" dirty="0"/>
          </a:p>
        </p:txBody>
      </p:sp>
      <p:sp>
        <p:nvSpPr>
          <p:cNvPr id="15" name="anim3_230_TODO"/>
          <p:cNvSpPr/>
          <p:nvPr/>
        </p:nvSpPr>
        <p:spPr>
          <a:xfrm>
            <a:off x="4343400" y="1737360"/>
            <a:ext cx="3512668" cy="1463040"/>
          </a:xfrm>
          <a:prstGeom prst="roundRect">
            <a:avLst>
              <a:gd name="adj" fmla="val 6250"/>
            </a:avLst>
          </a:prstGeom>
          <a:solidFill>
            <a:srgbClr val="FFF6E5"/>
          </a:solidFill>
          <a:ln w="12700">
            <a:solidFill>
              <a:srgbClr val="D97706"/>
            </a:solidFill>
            <a:prstDash val="dash"/>
          </a:ln>
        </p:spPr>
      </p:sp>
      <p:sp>
        <p:nvSpPr>
          <p:cNvPr id="16" name="anim3_231_TODO"/>
          <p:cNvSpPr txBox="1"/>
          <p:nvPr/>
        </p:nvSpPr>
        <p:spPr>
          <a:xfrm>
            <a:off x="4480560" y="173736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2: اسمها ووصفها في سطر واحد</a:t>
            </a:r>
            <a:endParaRPr lang="ar-SA" sz="1300" dirty="0"/>
          </a:p>
        </p:txBody>
      </p:sp>
      <p:sp>
        <p:nvSpPr>
          <p:cNvPr id="17" name="anim4_232_TODO"/>
          <p:cNvSpPr/>
          <p:nvPr/>
        </p:nvSpPr>
        <p:spPr>
          <a:xfrm>
            <a:off x="8130388" y="3474720"/>
            <a:ext cx="3512668" cy="1463040"/>
          </a:xfrm>
          <a:prstGeom prst="roundRect">
            <a:avLst>
              <a:gd name="adj" fmla="val 6250"/>
            </a:avLst>
          </a:prstGeom>
          <a:solidFill>
            <a:srgbClr val="FFF6E5"/>
          </a:solidFill>
          <a:ln w="12700">
            <a:solidFill>
              <a:srgbClr val="D97706"/>
            </a:solidFill>
            <a:prstDash val="dash"/>
          </a:ln>
        </p:spPr>
      </p:sp>
      <p:sp>
        <p:nvSpPr>
          <p:cNvPr id="18" name="anim4_233_TODO"/>
          <p:cNvSpPr txBox="1"/>
          <p:nvPr/>
        </p:nvSpPr>
        <p:spPr>
          <a:xfrm>
            <a:off x="8267548"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3: اسمها ووصفها في سطر واحد</a:t>
            </a:r>
            <a:endParaRPr lang="ar-SA" sz="1300" dirty="0"/>
          </a:p>
        </p:txBody>
      </p:sp>
      <p:sp>
        <p:nvSpPr>
          <p:cNvPr id="19" name="anim5_234_TODO"/>
          <p:cNvSpPr/>
          <p:nvPr/>
        </p:nvSpPr>
        <p:spPr>
          <a:xfrm>
            <a:off x="4343400" y="3474720"/>
            <a:ext cx="3512668" cy="1463040"/>
          </a:xfrm>
          <a:prstGeom prst="roundRect">
            <a:avLst>
              <a:gd name="adj" fmla="val 6250"/>
            </a:avLst>
          </a:prstGeom>
          <a:solidFill>
            <a:srgbClr val="FFF6E5"/>
          </a:solidFill>
          <a:ln w="12700">
            <a:solidFill>
              <a:srgbClr val="D97706"/>
            </a:solidFill>
            <a:prstDash val="dash"/>
          </a:ln>
        </p:spPr>
      </p:sp>
      <p:sp>
        <p:nvSpPr>
          <p:cNvPr id="20" name="anim5_235_TODO"/>
          <p:cNvSpPr txBox="1"/>
          <p:nvPr/>
        </p:nvSpPr>
        <p:spPr>
          <a:xfrm>
            <a:off x="4480560" y="3474720"/>
            <a:ext cx="3238348" cy="1463040"/>
          </a:xfrm>
          <a:prstGeom prst="rect">
            <a:avLst/>
          </a:prstGeom>
          <a:noFill/>
          <a:ln/>
        </p:spPr>
        <p:txBody>
          <a:bodyPr wrap="square" lIns="0" tIns="0" rIns="0" bIns="0" rtlCol="0" anchor="ctr"/>
          <a:lstStyle/>
          <a:p>
            <a:pPr rtl="1" algn="r" indent="0" marL="0">
              <a:buNone/>
            </a:pPr>
            <a:r>
              <a:rPr lang="ar-SA" altLang="en-US" sz="1300" dirty="0">
                <a:solidFill>
                  <a:srgbClr val="92400E"/>
                </a:solidFill>
                <a:latin typeface="Cairo" pitchFamily="34" charset="0"/>
                <a:ea typeface="Cairo" pitchFamily="34" charset="-122"/>
                <a:cs typeface="Cairo" pitchFamily="34" charset="-120"/>
              </a:rPr>
              <a:t>يُستكمل: الخدمة 4: اسمها ووصفها في سطر واحد</a:t>
            </a:r>
            <a:endParaRPr lang="ar-SA" sz="1300" dirty="0"/>
          </a:p>
        </p:txBody>
      </p:sp>
      <p:sp>
        <p:nvSpPr>
          <p:cNvPr id="21" name="anim6_236"/>
          <p:cNvSpPr/>
          <p:nvPr/>
        </p:nvSpPr>
        <p:spPr>
          <a:xfrm>
            <a:off x="548640" y="5349240"/>
            <a:ext cx="11094415" cy="658368"/>
          </a:xfrm>
          <a:prstGeom prst="roundRect">
            <a:avLst>
              <a:gd name="adj" fmla="val 19444"/>
            </a:avLst>
          </a:prstGeom>
          <a:solidFill>
            <a:srgbClr val="EEF2FA"/>
          </a:solidFill>
          <a:ln/>
        </p:spPr>
      </p:sp>
      <p:sp>
        <p:nvSpPr>
          <p:cNvPr id="22" name="anim6_237"/>
          <p:cNvSpPr/>
          <p:nvPr/>
        </p:nvSpPr>
        <p:spPr>
          <a:xfrm>
            <a:off x="10984687" y="5440680"/>
            <a:ext cx="475488" cy="475488"/>
          </a:xfrm>
          <a:prstGeom prst="ellipse">
            <a:avLst/>
          </a:prstGeom>
          <a:solidFill>
            <a:srgbClr val="052977"/>
          </a:solidFill>
          <a:ln/>
        </p:spPr>
      </p:sp>
      <p:pic>
        <p:nvPicPr>
          <p:cNvPr id="23" name="anim6_238" descr="نافذة أفراد">    </p:cNvPr>
          <p:cNvPicPr>
            <a:picLocks noChangeAspect="1"/>
          </p:cNvPicPr>
          <p:nvPr/>
        </p:nvPicPr>
        <p:blipFill>
          <a:blip r:embed="rId5"/>
          <a:stretch>
            <a:fillRect/>
          </a:stretch>
        </p:blipFill>
        <p:spPr>
          <a:xfrm>
            <a:off x="11051256" y="5507248"/>
            <a:ext cx="342351" cy="342351"/>
          </a:xfrm>
          <a:prstGeom prst="rect">
            <a:avLst/>
          </a:prstGeom>
        </p:spPr>
      </p:pic>
      <p:sp>
        <p:nvSpPr>
          <p:cNvPr id="24" name="anim6_239"/>
          <p:cNvSpPr txBox="1"/>
          <p:nvPr/>
        </p:nvSpPr>
        <p:spPr>
          <a:xfrm>
            <a:off x="2286000" y="5349240"/>
            <a:ext cx="8579815" cy="658368"/>
          </a:xfrm>
          <a:prstGeom prst="rect">
            <a:avLst/>
          </a:prstGeom>
          <a:noFill/>
          <a:ln/>
        </p:spPr>
        <p:txBody>
          <a:bodyPr wrap="square" lIns="0" tIns="0" rIns="0" bIns="0" rtlCol="0" anchor="ctr"/>
          <a:lstStyle/>
          <a:p>
            <a:pPr rtl="1" algn="r" indent="0" marL="0">
              <a:buNone/>
            </a:pPr>
            <a:r>
              <a:rPr lang="ar-SA" altLang="en-US" sz="1600" b="1" dirty="0">
                <a:solidFill>
                  <a:srgbClr val="052977"/>
                </a:solidFill>
                <a:latin typeface="Cairo" pitchFamily="34" charset="0"/>
                <a:ea typeface="Cairo" pitchFamily="34" charset="-122"/>
                <a:cs typeface="Cairo" pitchFamily="34" charset="-120"/>
              </a:rPr>
              <a:t>أحمد يرى خدمات المستثمرين في مدينته موسومة باسم مقدّمها</a:t>
            </a:r>
            <a:endParaRPr lang="ar-SA" sz="1600" dirty="0"/>
          </a:p>
        </p:txBody>
      </p:sp>
      <p:sp>
        <p:nvSpPr>
          <p:cNvPr id="25" name="anim6_240"/>
          <p:cNvSpPr/>
          <p:nvPr/>
        </p:nvSpPr>
        <p:spPr>
          <a:xfrm>
            <a:off x="777240" y="5513832"/>
            <a:ext cx="1234440" cy="329184"/>
          </a:xfrm>
          <a:prstGeom prst="roundRect">
            <a:avLst>
              <a:gd name="adj" fmla="val 50000"/>
            </a:avLst>
          </a:prstGeom>
          <a:solidFill>
            <a:srgbClr val="FFFFFF"/>
          </a:solidFill>
          <a:ln w="12700">
            <a:solidFill>
              <a:srgbClr val="052977"/>
            </a:solidFill>
            <a:prstDash val="solid"/>
          </a:ln>
        </p:spPr>
      </p:sp>
      <p:sp>
        <p:nvSpPr>
          <p:cNvPr id="26" name="anim6_241"/>
          <p:cNvSpPr txBox="1"/>
          <p:nvPr/>
        </p:nvSpPr>
        <p:spPr>
          <a:xfrm>
            <a:off x="777240" y="5513832"/>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par>
                          <p:cTn id="25" fill="hold">
                            <p:stCondLst>
                              <p:cond delay="7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45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childTnLst>
                          </p:cTn>
                        </p:par>
                        <p:par>
                          <p:cTn id="32" fill="hold">
                            <p:stCondLst>
                              <p:cond delay="1400"/>
                            </p:stCondLst>
                            <p:childTnLst>
                              <p:par>
                                <p:cTn id="26" presetID="10" presetClass="entr" presetSubtype="0" fill="hold" grpId="0" nodeType="after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5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50"/>
                                        <p:tgtEl>
                                          <p:spTgt spid="16"/>
                                        </p:tgtEl>
                                      </p:cBhvr>
                                    </p:animEffect>
                                  </p:childTnLst>
                                </p:cTn>
                              </p:par>
                            </p:childTnLst>
                          </p:cTn>
                        </p:par>
                        <p:par>
                          <p:cTn id="39" fill="hold">
                            <p:stCondLst>
                              <p:cond delay="2100"/>
                            </p:stCondLst>
                            <p:childTnLst>
                              <p:par>
                                <p:cTn id="33" presetID="10" presetClass="entr" presetSubtype="0" fill="hold" grpId="0" nodeType="after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50"/>
                                        <p:tgtEl>
                                          <p:spTgt spid="18"/>
                                        </p:tgtEl>
                                      </p:cBhvr>
                                    </p:animEffect>
                                  </p:childTnLst>
                                </p:cTn>
                              </p:par>
                            </p:childTnLst>
                          </p:cTn>
                        </p:par>
                        <p:par>
                          <p:cTn id="46" fill="hold">
                            <p:stCondLst>
                              <p:cond delay="2800"/>
                            </p:stCondLst>
                            <p:childTnLst>
                              <p:par>
                                <p:cTn id="40" presetID="10" presetClass="entr" presetSubtype="0" fill="hold" grpId="0" nodeType="after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45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450"/>
                                        <p:tgtEl>
                                          <p:spTgt spid="20"/>
                                        </p:tgtEl>
                                      </p:cBhvr>
                                    </p:animEffect>
                                  </p:childTnLst>
                                </p:cTn>
                              </p:par>
                            </p:childTnLst>
                          </p:cTn>
                        </p:par>
                        <p:par>
                          <p:cTn id="65" fill="hold">
                            <p:stCondLst>
                              <p:cond delay="3500"/>
                            </p:stCondLst>
                            <p:childTnLst>
                              <p:par>
                                <p:cTn id="47" presetID="10" presetClass="entr" presetSubtype="0" fill="hold" grpId="0" nodeType="after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5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5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450"/>
                                        <p:tgtEl>
                                          <p:spTgt spid="2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4" grpId="0" animBg="1"/>
      <p:bldP spid="25" grpId="0" animBg="1"/>
      <p:bldP spid="2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الهوية</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من نوافذ المدن الأربع إلى نافذة واحدة</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11</a:t>
            </a:r>
            <a:endParaRPr lang="ar-SA" sz="1100" dirty="0"/>
          </a:p>
        </p:txBody>
      </p:sp>
      <p:pic>
        <p:nvPicPr>
          <p:cNvPr id="8" name="anim1_242" descr="عمارة الساحل الشرقي">    </p:cNvPr>
          <p:cNvPicPr>
            <a:picLocks noChangeAspect="1"/>
          </p:cNvPicPr>
          <p:nvPr/>
        </p:nvPicPr>
        <p:blipFill>
          <a:blip r:embed="rId3"/>
          <a:stretch>
            <a:fillRect/>
          </a:stretch>
        </p:blipFill>
        <p:spPr>
          <a:xfrm>
            <a:off x="9859975" y="1691640"/>
            <a:ext cx="1783080" cy="2139696"/>
          </a:xfrm>
          <a:prstGeom prst="rect">
            <a:avLst/>
          </a:prstGeom>
        </p:spPr>
      </p:pic>
      <p:sp>
        <p:nvSpPr>
          <p:cNvPr id="9" name="anim1_243"/>
          <p:cNvSpPr/>
          <p:nvPr/>
        </p:nvSpPr>
        <p:spPr>
          <a:xfrm>
            <a:off x="10340035" y="3419856"/>
            <a:ext cx="822960" cy="822960"/>
          </a:xfrm>
          <a:prstGeom prst="ellipse">
            <a:avLst/>
          </a:prstGeom>
          <a:solidFill>
            <a:srgbClr val="FFFFFF"/>
          </a:solidFill>
          <a:ln w="12700">
            <a:solidFill>
              <a:srgbClr val="D6DEEE"/>
            </a:solidFill>
            <a:prstDash val="solid"/>
          </a:ln>
        </p:spPr>
      </p:sp>
      <p:pic>
        <p:nvPicPr>
          <p:cNvPr id="10" name="anim1_244" descr="نافذة أفراد">    </p:cNvPr>
          <p:cNvPicPr>
            <a:picLocks noChangeAspect="1"/>
          </p:cNvPicPr>
          <p:nvPr/>
        </p:nvPicPr>
        <p:blipFill>
          <a:blip r:embed="rId4"/>
          <a:stretch>
            <a:fillRect/>
          </a:stretch>
        </p:blipFill>
        <p:spPr>
          <a:xfrm>
            <a:off x="10495483" y="3577022"/>
            <a:ext cx="512064" cy="508627"/>
          </a:xfrm>
          <a:prstGeom prst="rect">
            <a:avLst/>
          </a:prstGeom>
        </p:spPr>
      </p:pic>
      <p:sp>
        <p:nvSpPr>
          <p:cNvPr id="11" name="anim1_245"/>
          <p:cNvSpPr txBox="1"/>
          <p:nvPr/>
        </p:nvSpPr>
        <p:spPr>
          <a:xfrm>
            <a:off x="9859975" y="4334256"/>
            <a:ext cx="1783080" cy="411480"/>
          </a:xfrm>
          <a:prstGeom prst="rect">
            <a:avLst/>
          </a:prstGeom>
          <a:noFill/>
          <a:ln/>
        </p:spPr>
        <p:txBody>
          <a:bodyPr wrap="square" lIns="0" tIns="0" rIns="0" bIns="0" rtlCol="0" anchor="t"/>
          <a:lstStyle/>
          <a:p>
            <a:pPr rtl="1" algn="ctr" indent="0" marL="0">
              <a:buNone/>
            </a:pPr>
            <a:r>
              <a:rPr lang="ar-SA" altLang="en-US" sz="1800" b="1" dirty="0">
                <a:solidFill>
                  <a:srgbClr val="052977"/>
                </a:solidFill>
                <a:latin typeface="Cairo" pitchFamily="34" charset="0"/>
                <a:ea typeface="Cairo" pitchFamily="34" charset="-122"/>
                <a:cs typeface="Cairo" pitchFamily="34" charset="-120"/>
              </a:rPr>
              <a:t>الجبيل</a:t>
            </a:r>
            <a:endParaRPr lang="ar-SA" sz="1800" dirty="0"/>
          </a:p>
        </p:txBody>
      </p:sp>
      <p:sp>
        <p:nvSpPr>
          <p:cNvPr id="12" name="anim1_246"/>
          <p:cNvSpPr txBox="1"/>
          <p:nvPr/>
        </p:nvSpPr>
        <p:spPr>
          <a:xfrm>
            <a:off x="9859975" y="4745736"/>
            <a:ext cx="1783080" cy="292608"/>
          </a:xfrm>
          <a:prstGeom prst="rect">
            <a:avLst/>
          </a:prstGeom>
          <a:noFill/>
          <a:ln/>
        </p:spPr>
        <p:txBody>
          <a:bodyPr wrap="square" lIns="0" tIns="0" rIns="0" bIns="0" rtlCol="0" anchor="t"/>
          <a:lstStyle/>
          <a:p>
            <a:pPr rtl="1" algn="ctr" indent="0" marL="0">
              <a:buNone/>
            </a:pPr>
            <a:r>
              <a:rPr lang="ar-SA" altLang="en-US" sz="1100" dirty="0">
                <a:solidFill>
                  <a:srgbClr val="5B6784"/>
                </a:solidFill>
                <a:latin typeface="Cairo" pitchFamily="34" charset="0"/>
                <a:ea typeface="Cairo" pitchFamily="34" charset="-122"/>
                <a:cs typeface="Cairo" pitchFamily="34" charset="-120"/>
              </a:rPr>
              <a:t>عمارة الساحل الشرقي</a:t>
            </a:r>
            <a:endParaRPr lang="ar-SA" sz="1100" dirty="0"/>
          </a:p>
        </p:txBody>
      </p:sp>
      <p:pic>
        <p:nvPicPr>
          <p:cNvPr id="13" name="anim2_247" descr="عمارة الساحل الشرقي">    </p:cNvPr>
          <p:cNvPicPr>
            <a:picLocks noChangeAspect="1"/>
          </p:cNvPicPr>
          <p:nvPr/>
        </p:nvPicPr>
        <p:blipFill>
          <a:blip r:embed="rId5"/>
          <a:stretch>
            <a:fillRect/>
          </a:stretch>
        </p:blipFill>
        <p:spPr>
          <a:xfrm>
            <a:off x="7820863" y="1691640"/>
            <a:ext cx="1783080" cy="2139696"/>
          </a:xfrm>
          <a:prstGeom prst="rect">
            <a:avLst/>
          </a:prstGeom>
        </p:spPr>
      </p:pic>
      <p:sp>
        <p:nvSpPr>
          <p:cNvPr id="14" name="anim2_248"/>
          <p:cNvSpPr/>
          <p:nvPr/>
        </p:nvSpPr>
        <p:spPr>
          <a:xfrm>
            <a:off x="8300923" y="3419856"/>
            <a:ext cx="822960" cy="822960"/>
          </a:xfrm>
          <a:prstGeom prst="ellipse">
            <a:avLst/>
          </a:prstGeom>
          <a:solidFill>
            <a:srgbClr val="FFFFFF"/>
          </a:solidFill>
          <a:ln w="12700">
            <a:solidFill>
              <a:srgbClr val="D6DEEE"/>
            </a:solidFill>
            <a:prstDash val="solid"/>
          </a:ln>
        </p:spPr>
      </p:sp>
      <p:pic>
        <p:nvPicPr>
          <p:cNvPr id="15" name="anim2_249" descr="نافذة أفراد">    </p:cNvPr>
          <p:cNvPicPr>
            <a:picLocks noChangeAspect="1"/>
          </p:cNvPicPr>
          <p:nvPr/>
        </p:nvPicPr>
        <p:blipFill>
          <a:blip r:embed="rId6"/>
          <a:stretch>
            <a:fillRect/>
          </a:stretch>
        </p:blipFill>
        <p:spPr>
          <a:xfrm>
            <a:off x="8456371" y="3673000"/>
            <a:ext cx="512064" cy="316671"/>
          </a:xfrm>
          <a:prstGeom prst="rect">
            <a:avLst/>
          </a:prstGeom>
        </p:spPr>
      </p:pic>
      <p:sp>
        <p:nvSpPr>
          <p:cNvPr id="16" name="anim2_250"/>
          <p:cNvSpPr txBox="1"/>
          <p:nvPr/>
        </p:nvSpPr>
        <p:spPr>
          <a:xfrm>
            <a:off x="7820863" y="4334256"/>
            <a:ext cx="1783080" cy="411480"/>
          </a:xfrm>
          <a:prstGeom prst="rect">
            <a:avLst/>
          </a:prstGeom>
          <a:noFill/>
          <a:ln/>
        </p:spPr>
        <p:txBody>
          <a:bodyPr wrap="square" lIns="0" tIns="0" rIns="0" bIns="0" rtlCol="0" anchor="t"/>
          <a:lstStyle/>
          <a:p>
            <a:pPr rtl="1" algn="ctr" indent="0" marL="0">
              <a:buNone/>
            </a:pPr>
            <a:r>
              <a:rPr lang="ar-SA" altLang="en-US" sz="1800" b="1" dirty="0">
                <a:solidFill>
                  <a:srgbClr val="052977"/>
                </a:solidFill>
                <a:latin typeface="Cairo" pitchFamily="34" charset="0"/>
                <a:ea typeface="Cairo" pitchFamily="34" charset="-122"/>
                <a:cs typeface="Cairo" pitchFamily="34" charset="-120"/>
              </a:rPr>
              <a:t>رأس الخير</a:t>
            </a:r>
            <a:endParaRPr lang="ar-SA" sz="1800" dirty="0"/>
          </a:p>
        </p:txBody>
      </p:sp>
      <p:sp>
        <p:nvSpPr>
          <p:cNvPr id="17" name="anim2_251"/>
          <p:cNvSpPr txBox="1"/>
          <p:nvPr/>
        </p:nvSpPr>
        <p:spPr>
          <a:xfrm>
            <a:off x="7820863" y="4745736"/>
            <a:ext cx="1783080" cy="292608"/>
          </a:xfrm>
          <a:prstGeom prst="rect">
            <a:avLst/>
          </a:prstGeom>
          <a:noFill/>
          <a:ln/>
        </p:spPr>
        <p:txBody>
          <a:bodyPr wrap="square" lIns="0" tIns="0" rIns="0" bIns="0" rtlCol="0" anchor="t"/>
          <a:lstStyle/>
          <a:p>
            <a:pPr rtl="1" algn="ctr" indent="0" marL="0">
              <a:buNone/>
            </a:pPr>
            <a:r>
              <a:rPr lang="ar-SA" altLang="en-US" sz="1100" dirty="0">
                <a:solidFill>
                  <a:srgbClr val="5B6784"/>
                </a:solidFill>
                <a:latin typeface="Cairo" pitchFamily="34" charset="0"/>
                <a:ea typeface="Cairo" pitchFamily="34" charset="-122"/>
                <a:cs typeface="Cairo" pitchFamily="34" charset="-120"/>
              </a:rPr>
              <a:t>عمارة الساحل الشرقي</a:t>
            </a:r>
            <a:endParaRPr lang="ar-SA" sz="1100" dirty="0"/>
          </a:p>
        </p:txBody>
      </p:sp>
      <p:pic>
        <p:nvPicPr>
          <p:cNvPr id="18" name="anim3_252" descr="روشان من ينبع">    </p:cNvPr>
          <p:cNvPicPr>
            <a:picLocks noChangeAspect="1"/>
          </p:cNvPicPr>
          <p:nvPr/>
        </p:nvPicPr>
        <p:blipFill>
          <a:blip r:embed="rId7"/>
          <a:stretch>
            <a:fillRect/>
          </a:stretch>
        </p:blipFill>
        <p:spPr>
          <a:xfrm>
            <a:off x="5781751" y="1691640"/>
            <a:ext cx="1783080" cy="2139696"/>
          </a:xfrm>
          <a:prstGeom prst="rect">
            <a:avLst/>
          </a:prstGeom>
        </p:spPr>
      </p:pic>
      <p:sp>
        <p:nvSpPr>
          <p:cNvPr id="19" name="anim3_253"/>
          <p:cNvSpPr/>
          <p:nvPr/>
        </p:nvSpPr>
        <p:spPr>
          <a:xfrm>
            <a:off x="6261811" y="3419856"/>
            <a:ext cx="822960" cy="822960"/>
          </a:xfrm>
          <a:prstGeom prst="ellipse">
            <a:avLst/>
          </a:prstGeom>
          <a:solidFill>
            <a:srgbClr val="FFFFFF"/>
          </a:solidFill>
          <a:ln w="12700">
            <a:solidFill>
              <a:srgbClr val="D6DEEE"/>
            </a:solidFill>
            <a:prstDash val="solid"/>
          </a:ln>
        </p:spPr>
      </p:sp>
      <p:pic>
        <p:nvPicPr>
          <p:cNvPr id="20" name="anim3_254" descr="نافذة أفراد">    </p:cNvPr>
          <p:cNvPicPr>
            <a:picLocks noChangeAspect="1"/>
          </p:cNvPicPr>
          <p:nvPr/>
        </p:nvPicPr>
        <p:blipFill>
          <a:blip r:embed="rId8"/>
          <a:stretch>
            <a:fillRect/>
          </a:stretch>
        </p:blipFill>
        <p:spPr>
          <a:xfrm>
            <a:off x="6417259" y="3575304"/>
            <a:ext cx="512064" cy="512064"/>
          </a:xfrm>
          <a:prstGeom prst="rect">
            <a:avLst/>
          </a:prstGeom>
        </p:spPr>
      </p:pic>
      <p:sp>
        <p:nvSpPr>
          <p:cNvPr id="21" name="anim3_255"/>
          <p:cNvSpPr txBox="1"/>
          <p:nvPr/>
        </p:nvSpPr>
        <p:spPr>
          <a:xfrm>
            <a:off x="5781751" y="4334256"/>
            <a:ext cx="1783080" cy="411480"/>
          </a:xfrm>
          <a:prstGeom prst="rect">
            <a:avLst/>
          </a:prstGeom>
          <a:noFill/>
          <a:ln/>
        </p:spPr>
        <p:txBody>
          <a:bodyPr wrap="square" lIns="0" tIns="0" rIns="0" bIns="0" rtlCol="0" anchor="t"/>
          <a:lstStyle/>
          <a:p>
            <a:pPr rtl="1" algn="ctr" indent="0" marL="0">
              <a:buNone/>
            </a:pPr>
            <a:r>
              <a:rPr lang="ar-SA" altLang="en-US" sz="1800" b="1" dirty="0">
                <a:solidFill>
                  <a:srgbClr val="052977"/>
                </a:solidFill>
                <a:latin typeface="Cairo" pitchFamily="34" charset="0"/>
                <a:ea typeface="Cairo" pitchFamily="34" charset="-122"/>
                <a:cs typeface="Cairo" pitchFamily="34" charset="-120"/>
              </a:rPr>
              <a:t>ينبع</a:t>
            </a:r>
            <a:endParaRPr lang="ar-SA" sz="1800" dirty="0"/>
          </a:p>
        </p:txBody>
      </p:sp>
      <p:sp>
        <p:nvSpPr>
          <p:cNvPr id="22" name="anim3_256"/>
          <p:cNvSpPr txBox="1"/>
          <p:nvPr/>
        </p:nvSpPr>
        <p:spPr>
          <a:xfrm>
            <a:off x="5781751" y="4745736"/>
            <a:ext cx="1783080" cy="292608"/>
          </a:xfrm>
          <a:prstGeom prst="rect">
            <a:avLst/>
          </a:prstGeom>
          <a:noFill/>
          <a:ln/>
        </p:spPr>
        <p:txBody>
          <a:bodyPr wrap="square" lIns="0" tIns="0" rIns="0" bIns="0" rtlCol="0" anchor="t"/>
          <a:lstStyle/>
          <a:p>
            <a:pPr rtl="1" algn="ctr" indent="0" marL="0">
              <a:buNone/>
            </a:pPr>
            <a:r>
              <a:rPr lang="ar-SA" altLang="en-US" sz="1100" dirty="0">
                <a:solidFill>
                  <a:srgbClr val="5B6784"/>
                </a:solidFill>
                <a:latin typeface="Cairo" pitchFamily="34" charset="0"/>
                <a:ea typeface="Cairo" pitchFamily="34" charset="-122"/>
                <a:cs typeface="Cairo" pitchFamily="34" charset="-120"/>
              </a:rPr>
              <a:t>روشان من ينبع</a:t>
            </a:r>
            <a:endParaRPr lang="ar-SA" sz="1100" dirty="0"/>
          </a:p>
        </p:txBody>
      </p:sp>
      <p:pic>
        <p:nvPicPr>
          <p:cNvPr id="23" name="anim4_257" descr="عمارة ساحل تهامة">    </p:cNvPr>
          <p:cNvPicPr>
            <a:picLocks noChangeAspect="1"/>
          </p:cNvPicPr>
          <p:nvPr/>
        </p:nvPicPr>
        <p:blipFill>
          <a:blip r:embed="rId9"/>
          <a:stretch>
            <a:fillRect/>
          </a:stretch>
        </p:blipFill>
        <p:spPr>
          <a:xfrm>
            <a:off x="3742639" y="1691640"/>
            <a:ext cx="1783080" cy="2139696"/>
          </a:xfrm>
          <a:prstGeom prst="rect">
            <a:avLst/>
          </a:prstGeom>
        </p:spPr>
      </p:pic>
      <p:sp>
        <p:nvSpPr>
          <p:cNvPr id="24" name="anim4_258"/>
          <p:cNvSpPr/>
          <p:nvPr/>
        </p:nvSpPr>
        <p:spPr>
          <a:xfrm>
            <a:off x="4222699" y="3419856"/>
            <a:ext cx="822960" cy="822960"/>
          </a:xfrm>
          <a:prstGeom prst="ellipse">
            <a:avLst/>
          </a:prstGeom>
          <a:solidFill>
            <a:srgbClr val="FFFFFF"/>
          </a:solidFill>
          <a:ln w="12700">
            <a:solidFill>
              <a:srgbClr val="D6DEEE"/>
            </a:solidFill>
            <a:prstDash val="solid"/>
          </a:ln>
        </p:spPr>
      </p:sp>
      <p:pic>
        <p:nvPicPr>
          <p:cNvPr id="25" name="anim4_259" descr="نافذة أفراد">    </p:cNvPr>
          <p:cNvPicPr>
            <a:picLocks noChangeAspect="1"/>
          </p:cNvPicPr>
          <p:nvPr/>
        </p:nvPicPr>
        <p:blipFill>
          <a:blip r:embed="rId10"/>
          <a:stretch>
            <a:fillRect/>
          </a:stretch>
        </p:blipFill>
        <p:spPr>
          <a:xfrm>
            <a:off x="4378147" y="3575304"/>
            <a:ext cx="512064" cy="512064"/>
          </a:xfrm>
          <a:prstGeom prst="rect">
            <a:avLst/>
          </a:prstGeom>
        </p:spPr>
      </p:pic>
      <p:sp>
        <p:nvSpPr>
          <p:cNvPr id="26" name="anim4_260"/>
          <p:cNvSpPr txBox="1"/>
          <p:nvPr/>
        </p:nvSpPr>
        <p:spPr>
          <a:xfrm>
            <a:off x="3742639" y="4334256"/>
            <a:ext cx="1783080" cy="411480"/>
          </a:xfrm>
          <a:prstGeom prst="rect">
            <a:avLst/>
          </a:prstGeom>
          <a:noFill/>
          <a:ln/>
        </p:spPr>
        <p:txBody>
          <a:bodyPr wrap="square" lIns="0" tIns="0" rIns="0" bIns="0" rtlCol="0" anchor="t"/>
          <a:lstStyle/>
          <a:p>
            <a:pPr rtl="1" algn="ctr" indent="0" marL="0">
              <a:buNone/>
            </a:pPr>
            <a:r>
              <a:rPr lang="ar-SA" altLang="en-US" sz="1800" b="1" dirty="0">
                <a:solidFill>
                  <a:srgbClr val="052977"/>
                </a:solidFill>
                <a:latin typeface="Cairo" pitchFamily="34" charset="0"/>
                <a:ea typeface="Cairo" pitchFamily="34" charset="-122"/>
                <a:cs typeface="Cairo" pitchFamily="34" charset="-120"/>
              </a:rPr>
              <a:t>جازان</a:t>
            </a:r>
            <a:endParaRPr lang="ar-SA" sz="1800" dirty="0"/>
          </a:p>
        </p:txBody>
      </p:sp>
      <p:sp>
        <p:nvSpPr>
          <p:cNvPr id="27" name="anim4_261"/>
          <p:cNvSpPr txBox="1"/>
          <p:nvPr/>
        </p:nvSpPr>
        <p:spPr>
          <a:xfrm>
            <a:off x="3742639" y="4745736"/>
            <a:ext cx="1783080" cy="292608"/>
          </a:xfrm>
          <a:prstGeom prst="rect">
            <a:avLst/>
          </a:prstGeom>
          <a:noFill/>
          <a:ln/>
        </p:spPr>
        <p:txBody>
          <a:bodyPr wrap="square" lIns="0" tIns="0" rIns="0" bIns="0" rtlCol="0" anchor="t"/>
          <a:lstStyle/>
          <a:p>
            <a:pPr rtl="1" algn="ctr" indent="0" marL="0">
              <a:buNone/>
            </a:pPr>
            <a:r>
              <a:rPr lang="ar-SA" altLang="en-US" sz="1100" dirty="0">
                <a:solidFill>
                  <a:srgbClr val="5B6784"/>
                </a:solidFill>
                <a:latin typeface="Cairo" pitchFamily="34" charset="0"/>
                <a:ea typeface="Cairo" pitchFamily="34" charset="-122"/>
                <a:cs typeface="Cairo" pitchFamily="34" charset="-120"/>
              </a:rPr>
              <a:t>عمارة ساحل تهامة</a:t>
            </a:r>
            <a:endParaRPr lang="ar-SA" sz="1100" dirty="0"/>
          </a:p>
        </p:txBody>
      </p:sp>
      <p:pic>
        <p:nvPicPr>
          <p:cNvPr id="28" name="anim5_262" descr="نافذة أفراد">    </p:cNvPr>
          <p:cNvPicPr>
            <a:picLocks noChangeAspect="1"/>
          </p:cNvPicPr>
          <p:nvPr/>
        </p:nvPicPr>
        <p:blipFill>
          <a:blip r:embed="rId11"/>
          <a:stretch>
            <a:fillRect/>
          </a:stretch>
        </p:blipFill>
        <p:spPr>
          <a:xfrm>
            <a:off x="3429000" y="2624328"/>
            <a:ext cx="274320" cy="274320"/>
          </a:xfrm>
          <a:prstGeom prst="rect">
            <a:avLst/>
          </a:prstGeom>
        </p:spPr>
      </p:pic>
      <p:sp>
        <p:nvSpPr>
          <p:cNvPr id="29" name="anim5_263"/>
          <p:cNvSpPr/>
          <p:nvPr/>
        </p:nvSpPr>
        <p:spPr>
          <a:xfrm>
            <a:off x="548640" y="1691640"/>
            <a:ext cx="2788920" cy="3703320"/>
          </a:xfrm>
          <a:prstGeom prst="roundRect">
            <a:avLst>
              <a:gd name="adj" fmla="val 5902"/>
            </a:avLst>
          </a:prstGeom>
          <a:solidFill>
            <a:srgbClr val="EEF2FA"/>
          </a:solidFill>
          <a:ln/>
        </p:spPr>
      </p:sp>
      <p:pic>
        <p:nvPicPr>
          <p:cNvPr id="30" name="anim5_264" descr="نافذة أفراد">    </p:cNvPr>
          <p:cNvPicPr>
            <a:picLocks noChangeAspect="1"/>
          </p:cNvPicPr>
          <p:nvPr/>
        </p:nvPicPr>
        <p:blipFill>
          <a:blip r:embed="rId12"/>
          <a:stretch>
            <a:fillRect/>
          </a:stretch>
        </p:blipFill>
        <p:spPr>
          <a:xfrm>
            <a:off x="1234440" y="1965960"/>
            <a:ext cx="1417320" cy="1430205"/>
          </a:xfrm>
          <a:prstGeom prst="rect">
            <a:avLst/>
          </a:prstGeom>
        </p:spPr>
      </p:pic>
      <p:sp>
        <p:nvSpPr>
          <p:cNvPr id="31" name="anim5_265"/>
          <p:cNvSpPr txBox="1"/>
          <p:nvPr/>
        </p:nvSpPr>
        <p:spPr>
          <a:xfrm>
            <a:off x="731520" y="3520440"/>
            <a:ext cx="2423160" cy="457200"/>
          </a:xfrm>
          <a:prstGeom prst="rect">
            <a:avLst/>
          </a:prstGeom>
          <a:noFill/>
          <a:ln/>
        </p:spPr>
        <p:txBody>
          <a:bodyPr wrap="square" lIns="0" tIns="0" rIns="0" bIns="0" rtlCol="0" anchor="t"/>
          <a:lstStyle/>
          <a:p>
            <a:pPr rtl="1" algn="ctr" indent="0" marL="0">
              <a:buNone/>
            </a:pPr>
            <a:r>
              <a:rPr lang="ar-SA" altLang="en-US" sz="2000" b="1" dirty="0">
                <a:solidFill>
                  <a:srgbClr val="052977"/>
                </a:solidFill>
                <a:latin typeface="Cairo" pitchFamily="34" charset="0"/>
                <a:ea typeface="Cairo" pitchFamily="34" charset="-122"/>
                <a:cs typeface="Cairo" pitchFamily="34" charset="-120"/>
              </a:rPr>
              <a:t>نافذة</a:t>
            </a:r>
            <a:endParaRPr lang="ar-SA" sz="2000" dirty="0"/>
          </a:p>
        </p:txBody>
      </p:sp>
      <p:sp>
        <p:nvSpPr>
          <p:cNvPr id="32" name="anim5_266"/>
          <p:cNvSpPr txBox="1"/>
          <p:nvPr/>
        </p:nvSpPr>
        <p:spPr>
          <a:xfrm>
            <a:off x="777240" y="4023360"/>
            <a:ext cx="2331720" cy="1097280"/>
          </a:xfrm>
          <a:prstGeom prst="rect">
            <a:avLst/>
          </a:prstGeom>
          <a:noFill/>
          <a:ln/>
        </p:spPr>
        <p:txBody>
          <a:bodyPr wrap="square" lIns="0" tIns="0" rIns="0" bIns="0" rtlCol="0" anchor="t"/>
          <a:lstStyle/>
          <a:p>
            <a:pPr rtl="1" algn="ctr" indent="0" marL="0">
              <a:buNone/>
            </a:pPr>
            <a:r>
              <a:rPr lang="ar-SA" altLang="en-US" sz="1300" dirty="0">
                <a:solidFill>
                  <a:srgbClr val="1A2340"/>
                </a:solidFill>
                <a:latin typeface="Cairo" pitchFamily="34" charset="0"/>
                <a:ea typeface="Cairo" pitchFamily="34" charset="-122"/>
                <a:cs typeface="Cairo" pitchFamily="34" charset="-120"/>
              </a:rPr>
              <a:t>نمط جديد وُلد من المدن الأربع، في مركزه نافذة مفتوحة إلى المدينة</a:t>
            </a:r>
            <a:endParaRPr lang="ar-SA" sz="1300" dirty="0"/>
          </a:p>
        </p:txBody>
      </p:sp>
      <p:sp>
        <p:nvSpPr>
          <p:cNvPr id="33" name="anim5_267"/>
          <p:cNvSpPr txBox="1"/>
          <p:nvPr/>
        </p:nvSpPr>
        <p:spPr>
          <a:xfrm>
            <a:off x="3840480" y="5806440"/>
            <a:ext cx="7802575" cy="274320"/>
          </a:xfrm>
          <a:prstGeom prst="rect">
            <a:avLst/>
          </a:prstGeom>
          <a:noFill/>
          <a:ln/>
        </p:spPr>
        <p:txBody>
          <a:bodyPr wrap="square" lIns="0" tIns="0" rIns="0" bIns="0" rtlCol="0" anchor="t"/>
          <a:lstStyle/>
          <a:p>
            <a:pPr rtl="1" algn="r" indent="0" marL="0">
              <a:buNone/>
            </a:pPr>
            <a:r>
              <a:rPr lang="ar-SA" altLang="en-US" sz="1000" dirty="0">
                <a:solidFill>
                  <a:srgbClr val="5B6784"/>
                </a:solidFill>
                <a:latin typeface="Cairo" pitchFamily="34" charset="0"/>
                <a:ea typeface="Cairo" pitchFamily="34" charset="-122"/>
                <a:cs typeface="Cairo" pitchFamily="34" charset="-120"/>
              </a:rPr>
              <a:t>الصور: دليل العمارة السعودية</a:t>
            </a:r>
            <a:endParaRPr lang="ar-SA"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5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5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50"/>
                                        <p:tgtEl>
                                          <p:spTgt spid="12"/>
                                        </p:tgtEl>
                                      </p:cBhvr>
                                    </p:animEffect>
                                  </p:childTnLst>
                                </p:cTn>
                              </p:par>
                            </p:childTnLst>
                          </p:cTn>
                        </p:par>
                        <p:par>
                          <p:cTn id="34"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50"/>
                                        <p:tgtEl>
                                          <p:spTgt spid="17"/>
                                        </p:tgtEl>
                                      </p:cBhvr>
                                    </p:animEffect>
                                  </p:childTnLst>
                                </p:cTn>
                              </p:par>
                            </p:childTnLst>
                          </p:cTn>
                        </p:par>
                        <p:par>
                          <p:cTn id="50" fill="hold">
                            <p:stCondLst>
                              <p:cond delay="1400"/>
                            </p:stCondLst>
                            <p:childTnLst>
                              <p:par>
                                <p:cTn id="35" presetID="10" presetClass="entr" presetSubtype="0" fill="hold" grpId="0" nodeType="after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childTnLst>
                          </p:cTn>
                        </p:par>
                        <p:par>
                          <p:cTn id="66" fill="hold">
                            <p:stCondLst>
                              <p:cond delay="2100"/>
                            </p:stCondLst>
                            <p:childTnLst>
                              <p:par>
                                <p:cTn id="51" presetID="10" presetClass="entr" presetSubtype="0" fill="hold" grpId="0" nodeType="after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50"/>
                                        <p:tgtEl>
                                          <p:spTgt spid="2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450"/>
                                        <p:tgtEl>
                                          <p:spTgt spid="2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50"/>
                                        <p:tgtEl>
                                          <p:spTgt spid="2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5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50"/>
                                        <p:tgtEl>
                                          <p:spTgt spid="27"/>
                                        </p:tgtEl>
                                      </p:cBhvr>
                                    </p:animEffect>
                                  </p:childTnLst>
                                </p:cTn>
                              </p:par>
                            </p:childTnLst>
                          </p:cTn>
                        </p:par>
                        <p:par>
                          <p:cTn id="85" fill="hold">
                            <p:stCondLst>
                              <p:cond delay="2800"/>
                            </p:stCondLst>
                            <p:childTnLst>
                              <p:par>
                                <p:cTn id="67" presetID="10" presetClass="entr" presetSubtype="0" fill="hold" grpId="0" nodeType="after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45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5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450"/>
                                        <p:tgtEl>
                                          <p:spTgt spid="3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45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45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4" grpId="0" animBg="1"/>
      <p:bldP spid="16" grpId="0" animBg="1"/>
      <p:bldP spid="17" grpId="0" animBg="1"/>
      <p:bldP spid="19" grpId="0" animBg="1"/>
      <p:bldP spid="21" grpId="0" animBg="1"/>
      <p:bldP spid="22" grpId="0" animBg="1"/>
      <p:bldP spid="24" grpId="0" animBg="1"/>
      <p:bldP spid="26" grpId="0" animBg="1"/>
      <p:bldP spid="27" grpId="0" animBg="1"/>
      <p:bldP spid="29" grpId="0" animBg="1"/>
      <p:bldP spid="31" grpId="0" animBg="1"/>
      <p:bldP spid="32" grpId="0" animBg="1"/>
      <p:bldP spid="3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الهوية</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الألوان والشعار</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12</a:t>
            </a:r>
            <a:endParaRPr lang="ar-SA" sz="1100" dirty="0"/>
          </a:p>
        </p:txBody>
      </p:sp>
      <p:sp>
        <p:nvSpPr>
          <p:cNvPr id="8" name="anim1_268"/>
          <p:cNvSpPr txBox="1"/>
          <p:nvPr/>
        </p:nvSpPr>
        <p:spPr>
          <a:xfrm>
            <a:off x="7543800" y="1783080"/>
            <a:ext cx="4099255" cy="457200"/>
          </a:xfrm>
          <a:prstGeom prst="rect">
            <a:avLst/>
          </a:prstGeom>
          <a:noFill/>
          <a:ln/>
        </p:spPr>
        <p:txBody>
          <a:bodyPr wrap="square" lIns="0" tIns="0" rIns="0" bIns="0" rtlCol="0" anchor="t"/>
          <a:lstStyle/>
          <a:p>
            <a:pPr rtl="1" algn="r" indent="0" marL="0">
              <a:buNone/>
            </a:pPr>
            <a:r>
              <a:rPr lang="ar-SA" altLang="en-US" sz="1900" b="1" dirty="0">
                <a:solidFill>
                  <a:srgbClr val="1A2340"/>
                </a:solidFill>
                <a:latin typeface="Cairo" pitchFamily="34" charset="0"/>
                <a:ea typeface="Cairo" pitchFamily="34" charset="-122"/>
                <a:cs typeface="Cairo" pitchFamily="34" charset="-120"/>
              </a:rPr>
              <a:t>ألوان من شعار الهيئة الملكية</a:t>
            </a:r>
            <a:endParaRPr lang="ar-SA" sz="1900" dirty="0"/>
          </a:p>
        </p:txBody>
      </p:sp>
      <p:pic>
        <p:nvPicPr>
          <p:cNvPr id="9" name="anim1_269" descr="شعار الهيئة الملكية للجبيل وينبع">    </p:cNvPr>
          <p:cNvPicPr>
            <a:picLocks noChangeAspect="1"/>
          </p:cNvPicPr>
          <p:nvPr/>
        </p:nvPicPr>
        <p:blipFill>
          <a:blip r:embed="rId3"/>
          <a:stretch>
            <a:fillRect/>
          </a:stretch>
        </p:blipFill>
        <p:spPr>
          <a:xfrm>
            <a:off x="6309360" y="1645920"/>
            <a:ext cx="1025238" cy="777240"/>
          </a:xfrm>
          <a:prstGeom prst="rect">
            <a:avLst/>
          </a:prstGeom>
        </p:spPr>
      </p:pic>
      <p:sp>
        <p:nvSpPr>
          <p:cNvPr id="10" name="anim2_270"/>
          <p:cNvSpPr/>
          <p:nvPr/>
        </p:nvSpPr>
        <p:spPr>
          <a:xfrm>
            <a:off x="10545775" y="2651760"/>
            <a:ext cx="1097280" cy="1097280"/>
          </a:xfrm>
          <a:prstGeom prst="roundRect">
            <a:avLst>
              <a:gd name="adj" fmla="val 15000"/>
            </a:avLst>
          </a:prstGeom>
          <a:solidFill>
            <a:srgbClr val="052977"/>
          </a:solidFill>
          <a:ln/>
        </p:spPr>
      </p:sp>
      <p:sp>
        <p:nvSpPr>
          <p:cNvPr id="11" name="anim2_271"/>
          <p:cNvSpPr txBox="1"/>
          <p:nvPr/>
        </p:nvSpPr>
        <p:spPr>
          <a:xfrm>
            <a:off x="6309360" y="2788920"/>
            <a:ext cx="3962095" cy="457200"/>
          </a:xfrm>
          <a:prstGeom prst="rect">
            <a:avLst/>
          </a:prstGeom>
          <a:noFill/>
          <a:ln/>
        </p:spPr>
        <p:txBody>
          <a:bodyPr wrap="square" lIns="0" tIns="0" rIns="0" bIns="0" rtlCol="0" anchor="t"/>
          <a:lstStyle/>
          <a:p>
            <a:pPr rtl="1" algn="r" indent="0" marL="0">
              <a:buNone/>
            </a:pPr>
            <a:r>
              <a:rPr lang="ar-SA" altLang="en-US" sz="2000" b="1" dirty="0">
                <a:solidFill>
                  <a:srgbClr val="052977"/>
                </a:solidFill>
                <a:latin typeface="Cairo" pitchFamily="34" charset="0"/>
                <a:ea typeface="Cairo" pitchFamily="34" charset="-122"/>
                <a:cs typeface="Cairo" pitchFamily="34" charset="-120"/>
              </a:rPr>
              <a:t>نافذة أفراد</a:t>
            </a:r>
            <a:endParaRPr lang="ar-SA" sz="2000" dirty="0"/>
          </a:p>
        </p:txBody>
      </p:sp>
      <p:sp>
        <p:nvSpPr>
          <p:cNvPr id="12" name="anim2_272"/>
          <p:cNvSpPr txBox="1"/>
          <p:nvPr/>
        </p:nvSpPr>
        <p:spPr>
          <a:xfrm>
            <a:off x="6309360" y="3246120"/>
            <a:ext cx="3962095" cy="365760"/>
          </a:xfrm>
          <a:prstGeom prst="rect">
            <a:avLst/>
          </a:prstGeom>
          <a:noFill/>
          <a:ln/>
        </p:spPr>
        <p:txBody>
          <a:bodyPr wrap="square" lIns="0" tIns="0" rIns="0" bIns="0" rtlCol="0" anchor="t"/>
          <a:lstStyle/>
          <a:p>
            <a:pPr rtl="1" algn="r" indent="0" marL="0">
              <a:buNone/>
            </a:pPr>
            <a:r>
              <a:rPr lang="ar-SA" altLang="en-US" sz="1500" dirty="0">
                <a:solidFill>
                  <a:srgbClr val="5B6784"/>
                </a:solidFill>
                <a:latin typeface="Cairo" pitchFamily="34" charset="0"/>
                <a:ea typeface="Cairo" pitchFamily="34" charset="-122"/>
                <a:cs typeface="Cairo" pitchFamily="34" charset="-120"/>
              </a:rPr>
              <a:t>#052977</a:t>
            </a:r>
            <a:endParaRPr lang="ar-SA" sz="1500" dirty="0"/>
          </a:p>
        </p:txBody>
      </p:sp>
      <p:sp>
        <p:nvSpPr>
          <p:cNvPr id="13" name="anim3_273"/>
          <p:cNvSpPr/>
          <p:nvPr/>
        </p:nvSpPr>
        <p:spPr>
          <a:xfrm>
            <a:off x="10545775" y="3977640"/>
            <a:ext cx="1097280" cy="1097280"/>
          </a:xfrm>
          <a:prstGeom prst="roundRect">
            <a:avLst>
              <a:gd name="adj" fmla="val 15000"/>
            </a:avLst>
          </a:prstGeom>
          <a:solidFill>
            <a:srgbClr val="0B9D76"/>
          </a:solidFill>
          <a:ln/>
        </p:spPr>
      </p:sp>
      <p:sp>
        <p:nvSpPr>
          <p:cNvPr id="14" name="anim3_274"/>
          <p:cNvSpPr txBox="1"/>
          <p:nvPr/>
        </p:nvSpPr>
        <p:spPr>
          <a:xfrm>
            <a:off x="6309360" y="4114800"/>
            <a:ext cx="3962095" cy="457200"/>
          </a:xfrm>
          <a:prstGeom prst="rect">
            <a:avLst/>
          </a:prstGeom>
          <a:noFill/>
          <a:ln/>
        </p:spPr>
        <p:txBody>
          <a:bodyPr wrap="square" lIns="0" tIns="0" rIns="0" bIns="0" rtlCol="0" anchor="t"/>
          <a:lstStyle/>
          <a:p>
            <a:pPr rtl="1" algn="r" indent="0" marL="0">
              <a:buNone/>
            </a:pPr>
            <a:r>
              <a:rPr lang="ar-SA" altLang="en-US" sz="2000" b="1" dirty="0">
                <a:solidFill>
                  <a:srgbClr val="0B9D76"/>
                </a:solidFill>
                <a:latin typeface="Cairo" pitchFamily="34" charset="0"/>
                <a:ea typeface="Cairo" pitchFamily="34" charset="-122"/>
                <a:cs typeface="Cairo" pitchFamily="34" charset="-120"/>
              </a:rPr>
              <a:t>نافذة أعمال</a:t>
            </a:r>
            <a:endParaRPr lang="ar-SA" sz="2000" dirty="0"/>
          </a:p>
        </p:txBody>
      </p:sp>
      <p:sp>
        <p:nvSpPr>
          <p:cNvPr id="15" name="anim3_275"/>
          <p:cNvSpPr txBox="1"/>
          <p:nvPr/>
        </p:nvSpPr>
        <p:spPr>
          <a:xfrm>
            <a:off x="6309360" y="4572000"/>
            <a:ext cx="3962095" cy="365760"/>
          </a:xfrm>
          <a:prstGeom prst="rect">
            <a:avLst/>
          </a:prstGeom>
          <a:noFill/>
          <a:ln/>
        </p:spPr>
        <p:txBody>
          <a:bodyPr wrap="square" lIns="0" tIns="0" rIns="0" bIns="0" rtlCol="0" anchor="t"/>
          <a:lstStyle/>
          <a:p>
            <a:pPr rtl="1" algn="r" indent="0" marL="0">
              <a:buNone/>
            </a:pPr>
            <a:r>
              <a:rPr lang="ar-SA" altLang="en-US" sz="1500" dirty="0">
                <a:solidFill>
                  <a:srgbClr val="5B6784"/>
                </a:solidFill>
                <a:latin typeface="Cairo" pitchFamily="34" charset="0"/>
                <a:ea typeface="Cairo" pitchFamily="34" charset="-122"/>
                <a:cs typeface="Cairo" pitchFamily="34" charset="-120"/>
              </a:rPr>
              <a:t>#0B9D76</a:t>
            </a:r>
            <a:endParaRPr lang="ar-SA" sz="1500" dirty="0"/>
          </a:p>
        </p:txBody>
      </p:sp>
      <p:sp>
        <p:nvSpPr>
          <p:cNvPr id="16" name="anim4_276"/>
          <p:cNvSpPr/>
          <p:nvPr/>
        </p:nvSpPr>
        <p:spPr>
          <a:xfrm>
            <a:off x="548640" y="1737360"/>
            <a:ext cx="5120640" cy="3566160"/>
          </a:xfrm>
          <a:prstGeom prst="roundRect">
            <a:avLst>
              <a:gd name="adj" fmla="val 5128"/>
            </a:avLst>
          </a:prstGeom>
          <a:solidFill>
            <a:srgbClr val="052977"/>
          </a:solidFill>
          <a:ln/>
        </p:spPr>
      </p:sp>
      <p:pic>
        <p:nvPicPr>
          <p:cNvPr id="17" name="anim4_277" descr="نافذة أفراد">    </p:cNvPr>
          <p:cNvPicPr>
            <a:picLocks noChangeAspect="1"/>
          </p:cNvPicPr>
          <p:nvPr/>
        </p:nvPicPr>
        <p:blipFill>
          <a:blip r:embed="rId4">
            <a:alphaModFix amt="20000"/>
          </a:blip>
          <a:stretch>
            <a:fillRect/>
          </a:stretch>
        </p:blipFill>
        <p:spPr>
          <a:xfrm>
            <a:off x="822960" y="3566160"/>
            <a:ext cx="1463040" cy="1476340"/>
          </a:xfrm>
          <a:prstGeom prst="rect">
            <a:avLst/>
          </a:prstGeom>
        </p:spPr>
      </p:pic>
      <p:sp>
        <p:nvSpPr>
          <p:cNvPr id="18" name="anim4_278"/>
          <p:cNvSpPr txBox="1"/>
          <p:nvPr/>
        </p:nvSpPr>
        <p:spPr>
          <a:xfrm>
            <a:off x="914400" y="2057400"/>
            <a:ext cx="4389120" cy="365760"/>
          </a:xfrm>
          <a:prstGeom prst="rect">
            <a:avLst/>
          </a:prstGeom>
          <a:noFill/>
          <a:ln/>
        </p:spPr>
        <p:txBody>
          <a:bodyPr wrap="square" lIns="0" tIns="0" rIns="0" bIns="0" rtlCol="0" anchor="t"/>
          <a:lstStyle/>
          <a:p>
            <a:pPr rtl="1" algn="r" indent="0" marL="0">
              <a:buNone/>
            </a:pPr>
            <a:r>
              <a:rPr lang="ar-SA" altLang="en-US" sz="1400" b="1" dirty="0">
                <a:solidFill>
                  <a:srgbClr val="C9D3EA"/>
                </a:solidFill>
                <a:latin typeface="Cairo" pitchFamily="34" charset="0"/>
                <a:ea typeface="Cairo" pitchFamily="34" charset="-122"/>
                <a:cs typeface="Cairo" pitchFamily="34" charset="-120"/>
              </a:rPr>
              <a:t>الشعار اللفظي</a:t>
            </a:r>
            <a:endParaRPr lang="ar-SA" sz="1400" dirty="0"/>
          </a:p>
        </p:txBody>
      </p:sp>
      <p:sp>
        <p:nvSpPr>
          <p:cNvPr id="19" name="anim4_279"/>
          <p:cNvSpPr txBox="1"/>
          <p:nvPr/>
        </p:nvSpPr>
        <p:spPr>
          <a:xfrm>
            <a:off x="914400" y="2560320"/>
            <a:ext cx="4389120" cy="822960"/>
          </a:xfrm>
          <a:prstGeom prst="rect">
            <a:avLst/>
          </a:prstGeom>
          <a:noFill/>
          <a:ln/>
        </p:spPr>
        <p:txBody>
          <a:bodyPr wrap="square" lIns="0" tIns="0" rIns="0" bIns="0" rtlCol="0" anchor="t"/>
          <a:lstStyle/>
          <a:p>
            <a:pPr rtl="1" algn="r" indent="0" marL="0">
              <a:buNone/>
            </a:pPr>
            <a:r>
              <a:rPr lang="ar-SA" altLang="en-US" sz="3600" b="1" dirty="0">
                <a:solidFill>
                  <a:srgbClr val="FFFFFF"/>
                </a:solidFill>
                <a:latin typeface="Cairo" pitchFamily="34" charset="0"/>
                <a:ea typeface="Cairo" pitchFamily="34" charset="-122"/>
                <a:cs typeface="Cairo" pitchFamily="34" charset="-120"/>
              </a:rPr>
              <a:t>مدينتك بين يديك</a:t>
            </a:r>
            <a:endParaRPr lang="ar-SA" sz="3600" dirty="0"/>
          </a:p>
        </p:txBody>
      </p:sp>
      <p:sp>
        <p:nvSpPr>
          <p:cNvPr id="20" name="anim4_280"/>
          <p:cNvSpPr txBox="1"/>
          <p:nvPr/>
        </p:nvSpPr>
        <p:spPr>
          <a:xfrm>
            <a:off x="914400" y="3383280"/>
            <a:ext cx="4389120" cy="457200"/>
          </a:xfrm>
          <a:prstGeom prst="rect">
            <a:avLst/>
          </a:prstGeom>
          <a:noFill/>
          <a:ln/>
        </p:spPr>
        <p:txBody>
          <a:bodyPr wrap="square" lIns="0" tIns="0" rIns="0" bIns="0" rtlCol="0" anchor="t"/>
          <a:lstStyle/>
          <a:p>
            <a:pPr algn="r" indent="0" marL="0">
              <a:buNone/>
            </a:pPr>
            <a:r>
              <a:rPr lang="en-US" altLang="en-US" sz="1700" dirty="0">
                <a:solidFill>
                  <a:srgbClr val="FFFFFF"/>
                </a:solidFill>
                <a:latin typeface="Cairo" pitchFamily="34" charset="0"/>
                <a:ea typeface="Cairo" pitchFamily="34" charset="-122"/>
                <a:cs typeface="Cairo" pitchFamily="34" charset="-120"/>
              </a:rPr>
              <a:t>Your City, within Reach</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par>
                          <p:cTn id="19" fill="hold">
                            <p:stCondLst>
                              <p:cond delay="700"/>
                            </p:stCondLst>
                            <p:childTnLst>
                              <p:par>
                                <p:cTn id="10" presetID="10" presetClass="entr" presetSubtype="0"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450"/>
                                        <p:tgtEl>
                                          <p:spTgt spid="12"/>
                                        </p:tgtEl>
                                      </p:cBhvr>
                                    </p:animEffect>
                                  </p:childTnLst>
                                </p:cTn>
                              </p:par>
                            </p:childTnLst>
                          </p:cTn>
                        </p:par>
                        <p:par>
                          <p:cTn id="29" fill="hold">
                            <p:stCondLst>
                              <p:cond delay="1400"/>
                            </p:stCondLst>
                            <p:childTnLst>
                              <p:par>
                                <p:cTn id="20" presetID="10" presetClass="entr" presetSubtype="0" fill="hold" grpId="0" nodeType="after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5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5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50"/>
                                        <p:tgtEl>
                                          <p:spTgt spid="15"/>
                                        </p:tgtEl>
                                      </p:cBhvr>
                                    </p:animEffect>
                                  </p:childTnLst>
                                </p:cTn>
                              </p:par>
                            </p:childTnLst>
                          </p:cTn>
                        </p:par>
                        <p:par>
                          <p:cTn id="45" fill="hold">
                            <p:stCondLst>
                              <p:cond delay="2100"/>
                            </p:stCondLst>
                            <p:childTnLst>
                              <p:par>
                                <p:cTn id="30" presetID="10" presetClass="entr" presetSubtype="0" fill="hold" grpId="0" nodeType="after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5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5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4" grpId="0" animBg="1"/>
      <p:bldP spid="15" grpId="0" animBg="1"/>
      <p:bldP spid="16" grpId="0" animBg="1"/>
      <p:bldP spid="18" grpId="0" animBg="1"/>
      <p:bldP spid="19" grpId="0" animBg="1"/>
      <p:bldP spid="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خارطة الطريق</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من نافذة أفراد إلى نافذة أعمال</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13</a:t>
            </a:r>
            <a:endParaRPr lang="ar-SA" sz="1100" dirty="0"/>
          </a:p>
        </p:txBody>
      </p:sp>
      <p:sp>
        <p:nvSpPr>
          <p:cNvPr id="8" name="anim2_281"/>
          <p:cNvSpPr/>
          <p:nvPr/>
        </p:nvSpPr>
        <p:spPr>
          <a:xfrm flipH="1">
            <a:off x="5715000" y="3566160"/>
            <a:ext cx="761695" cy="0"/>
          </a:xfrm>
          <a:prstGeom prst="line">
            <a:avLst/>
          </a:prstGeom>
          <a:noFill/>
          <a:ln w="25400">
            <a:solidFill>
              <a:srgbClr val="5B6784"/>
            </a:solidFill>
            <a:prstDash val="solid"/>
            <a:tailEnd type="triangle"/>
          </a:ln>
        </p:spPr>
      </p:sp>
      <p:sp>
        <p:nvSpPr>
          <p:cNvPr id="9" name="anim1_282"/>
          <p:cNvSpPr/>
          <p:nvPr/>
        </p:nvSpPr>
        <p:spPr>
          <a:xfrm>
            <a:off x="6705295" y="1920240"/>
            <a:ext cx="4572000" cy="3291840"/>
          </a:xfrm>
          <a:prstGeom prst="roundRect">
            <a:avLst>
              <a:gd name="adj" fmla="val 5556"/>
            </a:avLst>
          </a:prstGeom>
          <a:solidFill>
            <a:srgbClr val="EEF2FA"/>
          </a:solidFill>
          <a:ln/>
        </p:spPr>
      </p:sp>
      <p:sp>
        <p:nvSpPr>
          <p:cNvPr id="10" name="anim1_283"/>
          <p:cNvSpPr/>
          <p:nvPr/>
        </p:nvSpPr>
        <p:spPr>
          <a:xfrm>
            <a:off x="9997135" y="2286000"/>
            <a:ext cx="914400" cy="914400"/>
          </a:xfrm>
          <a:prstGeom prst="ellipse">
            <a:avLst/>
          </a:prstGeom>
          <a:solidFill>
            <a:srgbClr val="052977"/>
          </a:solidFill>
          <a:ln/>
        </p:spPr>
      </p:sp>
      <p:pic>
        <p:nvPicPr>
          <p:cNvPr id="11" name="anim1_284" descr="نافذة أفراد">    </p:cNvPr>
          <p:cNvPicPr>
            <a:picLocks noChangeAspect="1"/>
          </p:cNvPicPr>
          <p:nvPr/>
        </p:nvPicPr>
        <p:blipFill>
          <a:blip r:embed="rId3"/>
          <a:stretch>
            <a:fillRect/>
          </a:stretch>
        </p:blipFill>
        <p:spPr>
          <a:xfrm>
            <a:off x="10244023" y="2532888"/>
            <a:ext cx="420624" cy="420624"/>
          </a:xfrm>
          <a:prstGeom prst="rect">
            <a:avLst/>
          </a:prstGeom>
        </p:spPr>
      </p:pic>
      <p:sp>
        <p:nvSpPr>
          <p:cNvPr id="12" name="anim1_285"/>
          <p:cNvSpPr txBox="1"/>
          <p:nvPr/>
        </p:nvSpPr>
        <p:spPr>
          <a:xfrm>
            <a:off x="7071055" y="2331720"/>
            <a:ext cx="2743200"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المرحلة الأولى</a:t>
            </a:r>
            <a:endParaRPr lang="ar-SA" sz="1400" dirty="0"/>
          </a:p>
        </p:txBody>
      </p:sp>
      <p:sp>
        <p:nvSpPr>
          <p:cNvPr id="13" name="anim1_286"/>
          <p:cNvSpPr txBox="1"/>
          <p:nvPr/>
        </p:nvSpPr>
        <p:spPr>
          <a:xfrm>
            <a:off x="7071055" y="3383280"/>
            <a:ext cx="3840480" cy="640080"/>
          </a:xfrm>
          <a:prstGeom prst="rect">
            <a:avLst/>
          </a:prstGeom>
          <a:noFill/>
          <a:ln/>
        </p:spPr>
        <p:txBody>
          <a:bodyPr wrap="square" lIns="0" tIns="0" rIns="0" bIns="0" rtlCol="0" anchor="t"/>
          <a:lstStyle/>
          <a:p>
            <a:pPr rtl="1" algn="r" indent="0" marL="0">
              <a:buNone/>
            </a:pPr>
            <a:r>
              <a:rPr lang="ar-SA" altLang="en-US" sz="3000" b="1" dirty="0">
                <a:solidFill>
                  <a:srgbClr val="052977"/>
                </a:solidFill>
                <a:latin typeface="Cairo" pitchFamily="34" charset="0"/>
                <a:ea typeface="Cairo" pitchFamily="34" charset="-122"/>
                <a:cs typeface="Cairo" pitchFamily="34" charset="-120"/>
              </a:rPr>
              <a:t>نافذة أفراد</a:t>
            </a:r>
            <a:endParaRPr lang="ar-SA" sz="3000" dirty="0"/>
          </a:p>
        </p:txBody>
      </p:sp>
      <p:sp>
        <p:nvSpPr>
          <p:cNvPr id="14" name="anim1_287"/>
          <p:cNvSpPr txBox="1"/>
          <p:nvPr/>
        </p:nvSpPr>
        <p:spPr>
          <a:xfrm>
            <a:off x="7071055" y="4023360"/>
            <a:ext cx="3840480" cy="411480"/>
          </a:xfrm>
          <a:prstGeom prst="rect">
            <a:avLst/>
          </a:prstGeom>
          <a:noFill/>
          <a:ln/>
        </p:spPr>
        <p:txBody>
          <a:bodyPr wrap="square" lIns="0" tIns="0" rIns="0" bIns="0" rtlCol="0" anchor="t"/>
          <a:lstStyle/>
          <a:p>
            <a:pPr rtl="1" algn="r" indent="0" marL="0">
              <a:buNone/>
            </a:pPr>
            <a:r>
              <a:rPr lang="ar-SA" altLang="en-US" sz="1600" dirty="0">
                <a:solidFill>
                  <a:srgbClr val="1A2340"/>
                </a:solidFill>
                <a:latin typeface="Cairo" pitchFamily="34" charset="0"/>
                <a:ea typeface="Cairo" pitchFamily="34" charset="-122"/>
                <a:cs typeface="Cairo" pitchFamily="34" charset="-120"/>
              </a:rPr>
              <a:t>للسكان والزوار</a:t>
            </a:r>
            <a:endParaRPr lang="ar-SA" sz="1600" dirty="0"/>
          </a:p>
        </p:txBody>
      </p:sp>
      <p:sp>
        <p:nvSpPr>
          <p:cNvPr id="15" name="anim1_288"/>
          <p:cNvSpPr/>
          <p:nvPr/>
        </p:nvSpPr>
        <p:spPr>
          <a:xfrm>
            <a:off x="9174175" y="4480560"/>
            <a:ext cx="1737360" cy="457200"/>
          </a:xfrm>
          <a:prstGeom prst="roundRect">
            <a:avLst>
              <a:gd name="adj" fmla="val 50000"/>
            </a:avLst>
          </a:prstGeom>
          <a:solidFill>
            <a:srgbClr val="052977"/>
          </a:solidFill>
          <a:ln/>
        </p:spPr>
      </p:sp>
      <p:sp>
        <p:nvSpPr>
          <p:cNvPr id="16" name="anim1_289"/>
          <p:cNvSpPr txBox="1"/>
          <p:nvPr/>
        </p:nvSpPr>
        <p:spPr>
          <a:xfrm>
            <a:off x="9174175" y="4480560"/>
            <a:ext cx="1737360" cy="457200"/>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Cairo" pitchFamily="34" charset="0"/>
                <a:ea typeface="Cairo" pitchFamily="34" charset="-122"/>
                <a:cs typeface="Cairo" pitchFamily="34" charset="-120"/>
              </a:rPr>
              <a:t>الإطلاق الحالي</a:t>
            </a:r>
            <a:endParaRPr lang="ar-SA" sz="1400" dirty="0"/>
          </a:p>
        </p:txBody>
      </p:sp>
      <p:sp>
        <p:nvSpPr>
          <p:cNvPr id="17" name="anim3_290"/>
          <p:cNvSpPr/>
          <p:nvPr/>
        </p:nvSpPr>
        <p:spPr>
          <a:xfrm>
            <a:off x="914400" y="1920240"/>
            <a:ext cx="4572000" cy="3291840"/>
          </a:xfrm>
          <a:prstGeom prst="roundRect">
            <a:avLst>
              <a:gd name="adj" fmla="val 5556"/>
            </a:avLst>
          </a:prstGeom>
          <a:solidFill>
            <a:srgbClr val="E7F5F0"/>
          </a:solidFill>
          <a:ln/>
        </p:spPr>
      </p:sp>
      <p:sp>
        <p:nvSpPr>
          <p:cNvPr id="18" name="anim3_291"/>
          <p:cNvSpPr/>
          <p:nvPr/>
        </p:nvSpPr>
        <p:spPr>
          <a:xfrm>
            <a:off x="4206240" y="2286000"/>
            <a:ext cx="914400" cy="914400"/>
          </a:xfrm>
          <a:prstGeom prst="ellipse">
            <a:avLst/>
          </a:prstGeom>
          <a:solidFill>
            <a:srgbClr val="0B9D76"/>
          </a:solidFill>
          <a:ln/>
        </p:spPr>
      </p:sp>
      <p:pic>
        <p:nvPicPr>
          <p:cNvPr id="19" name="anim3_292" descr="نافذة أفراد">    </p:cNvPr>
          <p:cNvPicPr>
            <a:picLocks noChangeAspect="1"/>
          </p:cNvPicPr>
          <p:nvPr/>
        </p:nvPicPr>
        <p:blipFill>
          <a:blip r:embed="rId4"/>
          <a:stretch>
            <a:fillRect/>
          </a:stretch>
        </p:blipFill>
        <p:spPr>
          <a:xfrm>
            <a:off x="4453128" y="2532888"/>
            <a:ext cx="420624" cy="420624"/>
          </a:xfrm>
          <a:prstGeom prst="rect">
            <a:avLst/>
          </a:prstGeom>
        </p:spPr>
      </p:pic>
      <p:sp>
        <p:nvSpPr>
          <p:cNvPr id="20" name="anim3_293"/>
          <p:cNvSpPr txBox="1"/>
          <p:nvPr/>
        </p:nvSpPr>
        <p:spPr>
          <a:xfrm>
            <a:off x="1280160" y="2331720"/>
            <a:ext cx="2743200" cy="365760"/>
          </a:xfrm>
          <a:prstGeom prst="rect">
            <a:avLst/>
          </a:prstGeom>
          <a:noFill/>
          <a:ln/>
        </p:spPr>
        <p:txBody>
          <a:bodyPr wrap="square" lIns="0" tIns="0" rIns="0" bIns="0" rtlCol="0" anchor="t"/>
          <a:lstStyle/>
          <a:p>
            <a:pPr rtl="1" algn="r" indent="0" marL="0">
              <a:buNone/>
            </a:pPr>
            <a:r>
              <a:rPr lang="ar-SA" altLang="en-US" sz="1400" b="1" dirty="0">
                <a:solidFill>
                  <a:srgbClr val="5B6784"/>
                </a:solidFill>
                <a:latin typeface="Cairo" pitchFamily="34" charset="0"/>
                <a:ea typeface="Cairo" pitchFamily="34" charset="-122"/>
                <a:cs typeface="Cairo" pitchFamily="34" charset="-120"/>
              </a:rPr>
              <a:t>المرحلة التالية</a:t>
            </a:r>
            <a:endParaRPr lang="ar-SA" sz="1400" dirty="0"/>
          </a:p>
        </p:txBody>
      </p:sp>
      <p:sp>
        <p:nvSpPr>
          <p:cNvPr id="21" name="anim3_294"/>
          <p:cNvSpPr txBox="1"/>
          <p:nvPr/>
        </p:nvSpPr>
        <p:spPr>
          <a:xfrm>
            <a:off x="1280160" y="3383280"/>
            <a:ext cx="3840480" cy="640080"/>
          </a:xfrm>
          <a:prstGeom prst="rect">
            <a:avLst/>
          </a:prstGeom>
          <a:noFill/>
          <a:ln/>
        </p:spPr>
        <p:txBody>
          <a:bodyPr wrap="square" lIns="0" tIns="0" rIns="0" bIns="0" rtlCol="0" anchor="t"/>
          <a:lstStyle/>
          <a:p>
            <a:pPr rtl="1" algn="r" indent="0" marL="0">
              <a:buNone/>
            </a:pPr>
            <a:r>
              <a:rPr lang="ar-SA" altLang="en-US" sz="3000" b="1" dirty="0">
                <a:solidFill>
                  <a:srgbClr val="0B9D76"/>
                </a:solidFill>
                <a:latin typeface="Cairo" pitchFamily="34" charset="0"/>
                <a:ea typeface="Cairo" pitchFamily="34" charset="-122"/>
                <a:cs typeface="Cairo" pitchFamily="34" charset="-120"/>
              </a:rPr>
              <a:t>نافذة أعمال</a:t>
            </a:r>
            <a:endParaRPr lang="ar-SA" sz="3000" dirty="0"/>
          </a:p>
        </p:txBody>
      </p:sp>
      <p:sp>
        <p:nvSpPr>
          <p:cNvPr id="22" name="anim3_295"/>
          <p:cNvSpPr txBox="1"/>
          <p:nvPr/>
        </p:nvSpPr>
        <p:spPr>
          <a:xfrm>
            <a:off x="1280160" y="4023360"/>
            <a:ext cx="3840480" cy="411480"/>
          </a:xfrm>
          <a:prstGeom prst="rect">
            <a:avLst/>
          </a:prstGeom>
          <a:noFill/>
          <a:ln/>
        </p:spPr>
        <p:txBody>
          <a:bodyPr wrap="square" lIns="0" tIns="0" rIns="0" bIns="0" rtlCol="0" anchor="t"/>
          <a:lstStyle/>
          <a:p>
            <a:pPr rtl="1" algn="r" indent="0" marL="0">
              <a:buNone/>
            </a:pPr>
            <a:r>
              <a:rPr lang="ar-SA" altLang="en-US" sz="1600" dirty="0">
                <a:solidFill>
                  <a:srgbClr val="1A2340"/>
                </a:solidFill>
                <a:latin typeface="Cairo" pitchFamily="34" charset="0"/>
                <a:ea typeface="Cairo" pitchFamily="34" charset="-122"/>
                <a:cs typeface="Cairo" pitchFamily="34" charset="-120"/>
              </a:rPr>
              <a:t>للمستثمرين وأصحاب الأعمال</a:t>
            </a:r>
            <a:endParaRPr lang="ar-SA" sz="1600" dirty="0"/>
          </a:p>
        </p:txBody>
      </p:sp>
      <p:sp>
        <p:nvSpPr>
          <p:cNvPr id="23" name="anim3_296"/>
          <p:cNvSpPr/>
          <p:nvPr/>
        </p:nvSpPr>
        <p:spPr>
          <a:xfrm>
            <a:off x="3383280" y="4480560"/>
            <a:ext cx="1737360" cy="457200"/>
          </a:xfrm>
          <a:prstGeom prst="roundRect">
            <a:avLst>
              <a:gd name="adj" fmla="val 50000"/>
            </a:avLst>
          </a:prstGeom>
          <a:solidFill>
            <a:srgbClr val="0B9D76"/>
          </a:solidFill>
          <a:ln/>
        </p:spPr>
      </p:sp>
      <p:sp>
        <p:nvSpPr>
          <p:cNvPr id="24" name="anim3_297"/>
          <p:cNvSpPr txBox="1"/>
          <p:nvPr/>
        </p:nvSpPr>
        <p:spPr>
          <a:xfrm>
            <a:off x="3383280" y="4480560"/>
            <a:ext cx="1737360" cy="457200"/>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Cairo" pitchFamily="34" charset="0"/>
                <a:ea typeface="Cairo" pitchFamily="34" charset="-122"/>
                <a:cs typeface="Cairo" pitchFamily="34" charset="-120"/>
              </a:rPr>
              <a:t>قادمة</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2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50"/>
                                        <p:tgtEl>
                                          <p:spTgt spid="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5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50"/>
                                        <p:tgtEl>
                                          <p:spTgt spid="1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50"/>
                                        <p:tgtEl>
                                          <p:spTgt spid="1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5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5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50"/>
                                        <p:tgtEl>
                                          <p:spTgt spid="1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50"/>
                                        <p:tgtEl>
                                          <p:spTgt spid="16"/>
                                        </p:tgtEl>
                                      </p:cBhvr>
                                    </p:animEffect>
                                  </p:childTnLst>
                                </p:cTn>
                              </p:par>
                            </p:childTnLst>
                          </p:cTn>
                        </p:par>
                        <p:par>
                          <p:cTn id="31"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50"/>
                                        <p:tgtEl>
                                          <p:spTgt spid="8"/>
                                        </p:tgtEl>
                                      </p:cBhvr>
                                    </p:animEffect>
                                  </p:childTnLst>
                                </p:cTn>
                              </p:par>
                            </p:childTnLst>
                          </p:cTn>
                        </p:par>
                        <p:par>
                          <p:cTn id="56" fill="hold">
                            <p:stCondLst>
                              <p:cond delay="1400"/>
                            </p:stCondLst>
                            <p:childTnLst>
                              <p:par>
                                <p:cTn id="32" presetID="10" presetClass="entr" presetSubtype="0" fill="hold" grpId="0" nodeType="after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5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5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5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5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1737360" y="-1737360"/>
            <a:ext cx="4206240" cy="4244479"/>
          </a:xfrm>
          <a:prstGeom prst="rect">
            <a:avLst/>
          </a:prstGeom>
        </p:spPr>
      </p:pic>
      <p:sp>
        <p:nvSpPr>
          <p:cNvPr id="3" name="Text 0"/>
          <p:cNvSpPr txBox="1"/>
          <p:nvPr/>
        </p:nvSpPr>
        <p:spPr>
          <a:xfrm>
            <a:off x="4754880" y="411480"/>
            <a:ext cx="6888175" cy="365760"/>
          </a:xfrm>
          <a:prstGeom prst="rect">
            <a:avLst/>
          </a:prstGeom>
          <a:noFill/>
          <a:ln/>
        </p:spPr>
        <p:txBody>
          <a:bodyPr wrap="square" lIns="0" tIns="0" rIns="0" bIns="0" rtlCol="0" anchor="t"/>
          <a:lstStyle/>
          <a:p>
            <a:pPr rtl="1" algn="r" indent="0" marL="0">
              <a:buNone/>
            </a:pPr>
            <a:r>
              <a:rPr lang="ar-SA" altLang="en-US" sz="1400" b="1" dirty="0">
                <a:solidFill>
                  <a:srgbClr val="0B9D76"/>
                </a:solidFill>
                <a:latin typeface="Cairo" pitchFamily="34" charset="0"/>
                <a:ea typeface="Cairo" pitchFamily="34" charset="-122"/>
                <a:cs typeface="Cairo" pitchFamily="34" charset="-120"/>
              </a:rPr>
              <a:t>نافذة أعمال</a:t>
            </a:r>
            <a:endParaRPr lang="ar-SA" sz="1400" dirty="0"/>
          </a:p>
        </p:txBody>
      </p:sp>
      <p:sp>
        <p:nvSpPr>
          <p:cNvPr id="4" name="Text 1"/>
          <p:cNvSpPr txBox="1"/>
          <p:nvPr/>
        </p:nvSpPr>
        <p:spPr>
          <a:xfrm>
            <a:off x="2377440" y="731520"/>
            <a:ext cx="9265615" cy="777240"/>
          </a:xfrm>
          <a:prstGeom prst="rect">
            <a:avLst/>
          </a:prstGeom>
          <a:noFill/>
          <a:ln/>
        </p:spPr>
        <p:txBody>
          <a:bodyPr wrap="square" lIns="0" tIns="0" rIns="0" bIns="0" rtlCol="0" anchor="t"/>
          <a:lstStyle/>
          <a:p>
            <a:pPr rtl="1" algn="r" indent="0" marL="0">
              <a:buNone/>
            </a:pPr>
            <a:r>
              <a:rPr lang="ar-SA" altLang="en-US" sz="3000" b="1" dirty="0">
                <a:solidFill>
                  <a:srgbClr val="0B9D76"/>
                </a:solidFill>
                <a:latin typeface="Cairo" pitchFamily="34" charset="0"/>
                <a:ea typeface="Cairo" pitchFamily="34" charset="-122"/>
                <a:cs typeface="Cairo" pitchFamily="34" charset="-120"/>
              </a:rPr>
              <a:t>نافذة أعمال: تربط المستثمرين بالسكان</a:t>
            </a:r>
            <a:endParaRPr lang="ar-SA" sz="3000" dirty="0"/>
          </a:p>
        </p:txBody>
      </p:sp>
      <p:pic>
        <p:nvPicPr>
          <p:cNvPr id="5" name="Image 1" descr="شعار نافذة">    </p:cNvPr>
          <p:cNvPicPr>
            <a:picLocks noChangeAspect="1"/>
          </p:cNvPicPr>
          <p:nvPr/>
        </p:nvPicPr>
        <p:blipFill>
          <a:blip r:embed="rId2"/>
          <a:stretch>
            <a:fillRect/>
          </a:stretch>
        </p:blipFill>
        <p:spPr>
          <a:xfrm>
            <a:off x="548640" y="6245352"/>
            <a:ext cx="310896" cy="313722"/>
          </a:xfrm>
          <a:prstGeom prst="rect">
            <a:avLst/>
          </a:prstGeom>
        </p:spPr>
      </p:pic>
      <p:sp>
        <p:nvSpPr>
          <p:cNvPr id="6" name="Text 2"/>
          <p:cNvSpPr txBox="1"/>
          <p:nvPr/>
        </p:nvSpPr>
        <p:spPr>
          <a:xfrm>
            <a:off x="932688" y="6245352"/>
            <a:ext cx="2926080" cy="310896"/>
          </a:xfrm>
          <a:prstGeom prst="rect">
            <a:avLst/>
          </a:prstGeom>
          <a:noFill/>
          <a:ln/>
        </p:spPr>
        <p:txBody>
          <a:bodyPr wrap="square" lIns="0" tIns="0" rIns="0" bIns="0" rtlCol="0" anchor="ctr"/>
          <a:lstStyle/>
          <a:p>
            <a:pPr rtl="1" algn="l" indent="0" marL="0">
              <a:buNone/>
            </a:pPr>
            <a:r>
              <a:rPr lang="ar-SA" altLang="en-US" sz="1100" b="1" dirty="0">
                <a:solidFill>
                  <a:srgbClr val="052977"/>
                </a:solidFill>
                <a:latin typeface="Cairo" pitchFamily="34" charset="0"/>
                <a:ea typeface="Cairo" pitchFamily="34" charset="-122"/>
                <a:cs typeface="Cairo" pitchFamily="34" charset="-120"/>
              </a:rPr>
              <a:t>نافذة أفراد  ·  مدينتك بين يديك</a:t>
            </a:r>
            <a:endParaRPr lang="ar-SA" sz="1100" dirty="0"/>
          </a:p>
        </p:txBody>
      </p:sp>
      <p:sp>
        <p:nvSpPr>
          <p:cNvPr id="7" name="Text 3"/>
          <p:cNvSpPr txBox="1"/>
          <p:nvPr/>
        </p:nvSpPr>
        <p:spPr>
          <a:xfrm>
            <a:off x="11094415" y="6245352"/>
            <a:ext cx="548640" cy="310896"/>
          </a:xfrm>
          <a:prstGeom prst="rect">
            <a:avLst/>
          </a:prstGeom>
          <a:noFill/>
          <a:ln/>
        </p:spPr>
        <p:txBody>
          <a:bodyPr wrap="square" lIns="0" tIns="0" rIns="0" bIns="0" rtlCol="0" anchor="ctr"/>
          <a:lstStyle/>
          <a:p>
            <a:pPr rtl="1" algn="r" indent="0" marL="0">
              <a:buNone/>
            </a:pPr>
            <a:r>
              <a:rPr lang="ar-SA" altLang="en-US" sz="1100" dirty="0">
                <a:solidFill>
                  <a:srgbClr val="5B6784"/>
                </a:solidFill>
                <a:latin typeface="Cairo" pitchFamily="34" charset="0"/>
                <a:ea typeface="Cairo" pitchFamily="34" charset="-122"/>
                <a:cs typeface="Cairo" pitchFamily="34" charset="-120"/>
              </a:rPr>
              <a:t>14</a:t>
            </a:r>
            <a:endParaRPr lang="ar-SA" sz="1100" dirty="0"/>
          </a:p>
        </p:txBody>
      </p:sp>
      <p:sp>
        <p:nvSpPr>
          <p:cNvPr id="8" name="anim1_298"/>
          <p:cNvSpPr txBox="1"/>
          <p:nvPr/>
        </p:nvSpPr>
        <p:spPr>
          <a:xfrm>
            <a:off x="548640" y="1691640"/>
            <a:ext cx="11094415" cy="502920"/>
          </a:xfrm>
          <a:prstGeom prst="rect">
            <a:avLst/>
          </a:prstGeom>
          <a:noFill/>
          <a:ln/>
        </p:spPr>
        <p:txBody>
          <a:bodyPr wrap="square" lIns="0" tIns="0" rIns="0" bIns="0" rtlCol="0" anchor="t"/>
          <a:lstStyle/>
          <a:p>
            <a:pPr rtl="1" algn="r" indent="0" marL="0">
              <a:buNone/>
            </a:pPr>
            <a:r>
              <a:rPr lang="ar-SA" altLang="en-US" sz="1800" dirty="0">
                <a:solidFill>
                  <a:srgbClr val="1A2340"/>
                </a:solidFill>
                <a:latin typeface="Cairo" pitchFamily="34" charset="0"/>
                <a:ea typeface="Cairo" pitchFamily="34" charset="-122"/>
                <a:cs typeface="Cairo" pitchFamily="34" charset="-120"/>
              </a:rPr>
              <a:t>كل ما يخص المستثمرين وخدماتهم في نافذة أعمال، وخدماتهم تصل إلى السكان عبر نافذة أفراد.</a:t>
            </a:r>
            <a:endParaRPr lang="ar-SA" sz="1800" dirty="0"/>
          </a:p>
        </p:txBody>
      </p:sp>
      <p:sp>
        <p:nvSpPr>
          <p:cNvPr id="9" name="anim2_299"/>
          <p:cNvSpPr/>
          <p:nvPr/>
        </p:nvSpPr>
        <p:spPr>
          <a:xfrm>
            <a:off x="9311335" y="2377440"/>
            <a:ext cx="2331720" cy="2514600"/>
          </a:xfrm>
          <a:prstGeom prst="roundRect">
            <a:avLst>
              <a:gd name="adj" fmla="val 7059"/>
            </a:avLst>
          </a:prstGeom>
          <a:solidFill>
            <a:srgbClr val="E7F5F0"/>
          </a:solidFill>
          <a:ln/>
        </p:spPr>
      </p:sp>
      <p:sp>
        <p:nvSpPr>
          <p:cNvPr id="10" name="anim2_300"/>
          <p:cNvSpPr/>
          <p:nvPr/>
        </p:nvSpPr>
        <p:spPr>
          <a:xfrm>
            <a:off x="9997135" y="2651760"/>
            <a:ext cx="960120" cy="960120"/>
          </a:xfrm>
          <a:prstGeom prst="ellipse">
            <a:avLst/>
          </a:prstGeom>
          <a:solidFill>
            <a:srgbClr val="0B9D76"/>
          </a:solidFill>
          <a:ln/>
        </p:spPr>
      </p:sp>
      <p:pic>
        <p:nvPicPr>
          <p:cNvPr id="11" name="anim2_301" descr="نافذة أفراد">    </p:cNvPr>
          <p:cNvPicPr>
            <a:picLocks noChangeAspect="1"/>
          </p:cNvPicPr>
          <p:nvPr/>
        </p:nvPicPr>
        <p:blipFill>
          <a:blip r:embed="rId3"/>
          <a:stretch>
            <a:fillRect/>
          </a:stretch>
        </p:blipFill>
        <p:spPr>
          <a:xfrm>
            <a:off x="10256368" y="2910992"/>
            <a:ext cx="441655" cy="441655"/>
          </a:xfrm>
          <a:prstGeom prst="rect">
            <a:avLst/>
          </a:prstGeom>
        </p:spPr>
      </p:pic>
      <p:sp>
        <p:nvSpPr>
          <p:cNvPr id="12" name="anim2_302"/>
          <p:cNvSpPr txBox="1"/>
          <p:nvPr/>
        </p:nvSpPr>
        <p:spPr>
          <a:xfrm>
            <a:off x="9448495" y="3749040"/>
            <a:ext cx="2057400" cy="457200"/>
          </a:xfrm>
          <a:prstGeom prst="rect">
            <a:avLst/>
          </a:prstGeom>
          <a:noFill/>
          <a:ln/>
        </p:spPr>
        <p:txBody>
          <a:bodyPr wrap="square" lIns="0" tIns="0" rIns="0" bIns="0" rtlCol="0" anchor="t"/>
          <a:lstStyle/>
          <a:p>
            <a:pPr rtl="1" algn="ctr" indent="0" marL="0">
              <a:buNone/>
            </a:pPr>
            <a:r>
              <a:rPr lang="ar-SA" altLang="en-US" sz="1900" b="1" dirty="0">
                <a:solidFill>
                  <a:srgbClr val="0B9D76"/>
                </a:solidFill>
                <a:latin typeface="Cairo" pitchFamily="34" charset="0"/>
                <a:ea typeface="Cairo" pitchFamily="34" charset="-122"/>
                <a:cs typeface="Cairo" pitchFamily="34" charset="-120"/>
              </a:rPr>
              <a:t>المستثمر</a:t>
            </a:r>
            <a:endParaRPr lang="ar-SA" sz="1900" dirty="0"/>
          </a:p>
        </p:txBody>
      </p:sp>
      <p:sp>
        <p:nvSpPr>
          <p:cNvPr id="13" name="anim2_303"/>
          <p:cNvSpPr txBox="1"/>
          <p:nvPr/>
        </p:nvSpPr>
        <p:spPr>
          <a:xfrm>
            <a:off x="9494215" y="4206240"/>
            <a:ext cx="1965960" cy="548640"/>
          </a:xfrm>
          <a:prstGeom prst="rect">
            <a:avLst/>
          </a:prstGeom>
          <a:noFill/>
          <a:ln/>
        </p:spPr>
        <p:txBody>
          <a:bodyPr wrap="square" lIns="0" tIns="0" rIns="0" bIns="0" rtlCol="0" anchor="t"/>
          <a:lstStyle/>
          <a:p>
            <a:pPr rtl="1" algn="ctr" indent="0" marL="0">
              <a:buNone/>
            </a:pPr>
            <a:r>
              <a:rPr lang="ar-SA" altLang="en-US" sz="1300" dirty="0">
                <a:solidFill>
                  <a:srgbClr val="1A2340"/>
                </a:solidFill>
                <a:latin typeface="Cairo" pitchFamily="34" charset="0"/>
                <a:ea typeface="Cairo" pitchFamily="34" charset="-122"/>
                <a:cs typeface="Cairo" pitchFamily="34" charset="-120"/>
              </a:rPr>
              <a:t>يقدّم خدماته</a:t>
            </a:r>
            <a:endParaRPr lang="ar-SA" sz="1300" dirty="0"/>
          </a:p>
        </p:txBody>
      </p:sp>
      <p:pic>
        <p:nvPicPr>
          <p:cNvPr id="14" name="anim2_304" descr="نافذة أفراد">    </p:cNvPr>
          <p:cNvPicPr>
            <a:picLocks noChangeAspect="1"/>
          </p:cNvPicPr>
          <p:nvPr/>
        </p:nvPicPr>
        <p:blipFill>
          <a:blip r:embed="rId4"/>
          <a:stretch>
            <a:fillRect/>
          </a:stretch>
        </p:blipFill>
        <p:spPr>
          <a:xfrm>
            <a:off x="8879586" y="3497580"/>
            <a:ext cx="274320" cy="274320"/>
          </a:xfrm>
          <a:prstGeom prst="rect">
            <a:avLst/>
          </a:prstGeom>
        </p:spPr>
      </p:pic>
      <p:sp>
        <p:nvSpPr>
          <p:cNvPr id="15" name="anim3_305"/>
          <p:cNvSpPr/>
          <p:nvPr/>
        </p:nvSpPr>
        <p:spPr>
          <a:xfrm>
            <a:off x="6390437" y="2377440"/>
            <a:ext cx="2331720" cy="2514600"/>
          </a:xfrm>
          <a:prstGeom prst="roundRect">
            <a:avLst>
              <a:gd name="adj" fmla="val 7059"/>
            </a:avLst>
          </a:prstGeom>
          <a:solidFill>
            <a:srgbClr val="E7F5F0"/>
          </a:solidFill>
          <a:ln/>
        </p:spPr>
      </p:sp>
      <p:sp>
        <p:nvSpPr>
          <p:cNvPr id="16" name="anim3_306"/>
          <p:cNvSpPr/>
          <p:nvPr/>
        </p:nvSpPr>
        <p:spPr>
          <a:xfrm>
            <a:off x="7076237" y="2651760"/>
            <a:ext cx="960120" cy="960120"/>
          </a:xfrm>
          <a:prstGeom prst="ellipse">
            <a:avLst/>
          </a:prstGeom>
          <a:solidFill>
            <a:srgbClr val="FFFFFF"/>
          </a:solidFill>
          <a:ln/>
        </p:spPr>
      </p:sp>
      <p:pic>
        <p:nvPicPr>
          <p:cNvPr id="17" name="anim3_307" descr="نافذة أفراد">    </p:cNvPr>
          <p:cNvPicPr>
            <a:picLocks noChangeAspect="1"/>
          </p:cNvPicPr>
          <p:nvPr/>
        </p:nvPicPr>
        <p:blipFill>
          <a:blip r:embed="rId5"/>
          <a:stretch>
            <a:fillRect/>
          </a:stretch>
        </p:blipFill>
        <p:spPr>
          <a:xfrm>
            <a:off x="7236257" y="2808871"/>
            <a:ext cx="640080" cy="645899"/>
          </a:xfrm>
          <a:prstGeom prst="rect">
            <a:avLst/>
          </a:prstGeom>
        </p:spPr>
      </p:pic>
      <p:sp>
        <p:nvSpPr>
          <p:cNvPr id="18" name="anim3_308"/>
          <p:cNvSpPr txBox="1"/>
          <p:nvPr/>
        </p:nvSpPr>
        <p:spPr>
          <a:xfrm>
            <a:off x="6527597" y="3749040"/>
            <a:ext cx="2057400" cy="457200"/>
          </a:xfrm>
          <a:prstGeom prst="rect">
            <a:avLst/>
          </a:prstGeom>
          <a:noFill/>
          <a:ln/>
        </p:spPr>
        <p:txBody>
          <a:bodyPr wrap="square" lIns="0" tIns="0" rIns="0" bIns="0" rtlCol="0" anchor="t"/>
          <a:lstStyle/>
          <a:p>
            <a:pPr rtl="1" algn="ctr" indent="0" marL="0">
              <a:buNone/>
            </a:pPr>
            <a:r>
              <a:rPr lang="ar-SA" altLang="en-US" sz="1900" b="1" dirty="0">
                <a:solidFill>
                  <a:srgbClr val="0B9D76"/>
                </a:solidFill>
                <a:latin typeface="Cairo" pitchFamily="34" charset="0"/>
                <a:ea typeface="Cairo" pitchFamily="34" charset="-122"/>
                <a:cs typeface="Cairo" pitchFamily="34" charset="-120"/>
              </a:rPr>
              <a:t>نافذة أعمال</a:t>
            </a:r>
            <a:endParaRPr lang="ar-SA" sz="1900" dirty="0"/>
          </a:p>
        </p:txBody>
      </p:sp>
      <p:sp>
        <p:nvSpPr>
          <p:cNvPr id="19" name="anim3_309"/>
          <p:cNvSpPr txBox="1"/>
          <p:nvPr/>
        </p:nvSpPr>
        <p:spPr>
          <a:xfrm>
            <a:off x="6573317" y="4206240"/>
            <a:ext cx="1965960" cy="548640"/>
          </a:xfrm>
          <a:prstGeom prst="rect">
            <a:avLst/>
          </a:prstGeom>
          <a:noFill/>
          <a:ln/>
        </p:spPr>
        <p:txBody>
          <a:bodyPr wrap="square" lIns="0" tIns="0" rIns="0" bIns="0" rtlCol="0" anchor="t"/>
          <a:lstStyle/>
          <a:p>
            <a:pPr rtl="1" algn="ctr" indent="0" marL="0">
              <a:buNone/>
            </a:pPr>
            <a:r>
              <a:rPr lang="ar-SA" altLang="en-US" sz="1300" dirty="0">
                <a:solidFill>
                  <a:srgbClr val="1A2340"/>
                </a:solidFill>
                <a:latin typeface="Cairo" pitchFamily="34" charset="0"/>
                <a:ea typeface="Cairo" pitchFamily="34" charset="-122"/>
                <a:cs typeface="Cairo" pitchFamily="34" charset="-120"/>
              </a:rPr>
              <a:t>يدير فيها خدماته وكل ما يخصه</a:t>
            </a:r>
            <a:endParaRPr lang="ar-SA" sz="1300" dirty="0"/>
          </a:p>
        </p:txBody>
      </p:sp>
      <p:pic>
        <p:nvPicPr>
          <p:cNvPr id="20" name="anim3_310" descr="نافذة أفراد">    </p:cNvPr>
          <p:cNvPicPr>
            <a:picLocks noChangeAspect="1"/>
          </p:cNvPicPr>
          <p:nvPr/>
        </p:nvPicPr>
        <p:blipFill>
          <a:blip r:embed="rId6"/>
          <a:stretch>
            <a:fillRect/>
          </a:stretch>
        </p:blipFill>
        <p:spPr>
          <a:xfrm>
            <a:off x="5958688" y="3497580"/>
            <a:ext cx="274320" cy="274320"/>
          </a:xfrm>
          <a:prstGeom prst="rect">
            <a:avLst/>
          </a:prstGeom>
        </p:spPr>
      </p:pic>
      <p:sp>
        <p:nvSpPr>
          <p:cNvPr id="21" name="anim4_311"/>
          <p:cNvSpPr/>
          <p:nvPr/>
        </p:nvSpPr>
        <p:spPr>
          <a:xfrm>
            <a:off x="3469538" y="2377440"/>
            <a:ext cx="2331720" cy="2514600"/>
          </a:xfrm>
          <a:prstGeom prst="roundRect">
            <a:avLst>
              <a:gd name="adj" fmla="val 7059"/>
            </a:avLst>
          </a:prstGeom>
          <a:solidFill>
            <a:srgbClr val="EEF2FA"/>
          </a:solidFill>
          <a:ln/>
        </p:spPr>
      </p:sp>
      <p:sp>
        <p:nvSpPr>
          <p:cNvPr id="22" name="anim4_312"/>
          <p:cNvSpPr/>
          <p:nvPr/>
        </p:nvSpPr>
        <p:spPr>
          <a:xfrm>
            <a:off x="4155338" y="2651760"/>
            <a:ext cx="960120" cy="960120"/>
          </a:xfrm>
          <a:prstGeom prst="ellipse">
            <a:avLst/>
          </a:prstGeom>
          <a:solidFill>
            <a:srgbClr val="FFFFFF"/>
          </a:solidFill>
          <a:ln/>
        </p:spPr>
      </p:sp>
      <p:pic>
        <p:nvPicPr>
          <p:cNvPr id="23" name="anim4_313" descr="نافذة أفراد">    </p:cNvPr>
          <p:cNvPicPr>
            <a:picLocks noChangeAspect="1"/>
          </p:cNvPicPr>
          <p:nvPr/>
        </p:nvPicPr>
        <p:blipFill>
          <a:blip r:embed="rId7"/>
          <a:stretch>
            <a:fillRect/>
          </a:stretch>
        </p:blipFill>
        <p:spPr>
          <a:xfrm>
            <a:off x="4315358" y="2808871"/>
            <a:ext cx="640080" cy="645899"/>
          </a:xfrm>
          <a:prstGeom prst="rect">
            <a:avLst/>
          </a:prstGeom>
        </p:spPr>
      </p:pic>
      <p:sp>
        <p:nvSpPr>
          <p:cNvPr id="24" name="anim4_314"/>
          <p:cNvSpPr txBox="1"/>
          <p:nvPr/>
        </p:nvSpPr>
        <p:spPr>
          <a:xfrm>
            <a:off x="3606698" y="3749040"/>
            <a:ext cx="2057400" cy="457200"/>
          </a:xfrm>
          <a:prstGeom prst="rect">
            <a:avLst/>
          </a:prstGeom>
          <a:noFill/>
          <a:ln/>
        </p:spPr>
        <p:txBody>
          <a:bodyPr wrap="square" lIns="0" tIns="0" rIns="0" bIns="0" rtlCol="0" anchor="t"/>
          <a:lstStyle/>
          <a:p>
            <a:pPr rtl="1" algn="ctr" indent="0" marL="0">
              <a:buNone/>
            </a:pPr>
            <a:r>
              <a:rPr lang="ar-SA" altLang="en-US" sz="1900" b="1" dirty="0">
                <a:solidFill>
                  <a:srgbClr val="052977"/>
                </a:solidFill>
                <a:latin typeface="Cairo" pitchFamily="34" charset="0"/>
                <a:ea typeface="Cairo" pitchFamily="34" charset="-122"/>
                <a:cs typeface="Cairo" pitchFamily="34" charset="-120"/>
              </a:rPr>
              <a:t>نافذة أفراد</a:t>
            </a:r>
            <a:endParaRPr lang="ar-SA" sz="1900" dirty="0"/>
          </a:p>
        </p:txBody>
      </p:sp>
      <p:sp>
        <p:nvSpPr>
          <p:cNvPr id="25" name="anim4_315"/>
          <p:cNvSpPr txBox="1"/>
          <p:nvPr/>
        </p:nvSpPr>
        <p:spPr>
          <a:xfrm>
            <a:off x="3652418" y="4206240"/>
            <a:ext cx="1965960" cy="548640"/>
          </a:xfrm>
          <a:prstGeom prst="rect">
            <a:avLst/>
          </a:prstGeom>
          <a:noFill/>
          <a:ln/>
        </p:spPr>
        <p:txBody>
          <a:bodyPr wrap="square" lIns="0" tIns="0" rIns="0" bIns="0" rtlCol="0" anchor="t"/>
          <a:lstStyle/>
          <a:p>
            <a:pPr rtl="1" algn="ctr" indent="0" marL="0">
              <a:buNone/>
            </a:pPr>
            <a:r>
              <a:rPr lang="ar-SA" altLang="en-US" sz="1300" dirty="0">
                <a:solidFill>
                  <a:srgbClr val="1A2340"/>
                </a:solidFill>
                <a:latin typeface="Cairo" pitchFamily="34" charset="0"/>
                <a:ea typeface="Cairo" pitchFamily="34" charset="-122"/>
                <a:cs typeface="Cairo" pitchFamily="34" charset="-120"/>
              </a:rPr>
              <a:t>تظهر فيها خدماته موسومة باسمه</a:t>
            </a:r>
            <a:endParaRPr lang="ar-SA" sz="1300" dirty="0"/>
          </a:p>
        </p:txBody>
      </p:sp>
      <p:pic>
        <p:nvPicPr>
          <p:cNvPr id="26" name="anim4_316" descr="نافذة أفراد">    </p:cNvPr>
          <p:cNvPicPr>
            <a:picLocks noChangeAspect="1"/>
          </p:cNvPicPr>
          <p:nvPr/>
        </p:nvPicPr>
        <p:blipFill>
          <a:blip r:embed="rId8"/>
          <a:stretch>
            <a:fillRect/>
          </a:stretch>
        </p:blipFill>
        <p:spPr>
          <a:xfrm>
            <a:off x="3037789" y="3497580"/>
            <a:ext cx="274320" cy="274320"/>
          </a:xfrm>
          <a:prstGeom prst="rect">
            <a:avLst/>
          </a:prstGeom>
        </p:spPr>
      </p:pic>
      <p:sp>
        <p:nvSpPr>
          <p:cNvPr id="27" name="anim5_317"/>
          <p:cNvSpPr/>
          <p:nvPr/>
        </p:nvSpPr>
        <p:spPr>
          <a:xfrm>
            <a:off x="548640" y="2377440"/>
            <a:ext cx="2331720" cy="2514600"/>
          </a:xfrm>
          <a:prstGeom prst="roundRect">
            <a:avLst>
              <a:gd name="adj" fmla="val 7059"/>
            </a:avLst>
          </a:prstGeom>
          <a:solidFill>
            <a:srgbClr val="EEF2FA"/>
          </a:solidFill>
          <a:ln/>
        </p:spPr>
      </p:sp>
      <p:sp>
        <p:nvSpPr>
          <p:cNvPr id="28" name="anim5_318"/>
          <p:cNvSpPr/>
          <p:nvPr/>
        </p:nvSpPr>
        <p:spPr>
          <a:xfrm>
            <a:off x="1234440" y="2651760"/>
            <a:ext cx="960120" cy="960120"/>
          </a:xfrm>
          <a:prstGeom prst="ellipse">
            <a:avLst/>
          </a:prstGeom>
          <a:solidFill>
            <a:srgbClr val="052977"/>
          </a:solidFill>
          <a:ln/>
        </p:spPr>
      </p:sp>
      <p:pic>
        <p:nvPicPr>
          <p:cNvPr id="29" name="anim5_319" descr="نافذة أفراد">    </p:cNvPr>
          <p:cNvPicPr>
            <a:picLocks noChangeAspect="1"/>
          </p:cNvPicPr>
          <p:nvPr/>
        </p:nvPicPr>
        <p:blipFill>
          <a:blip r:embed="rId9"/>
          <a:stretch>
            <a:fillRect/>
          </a:stretch>
        </p:blipFill>
        <p:spPr>
          <a:xfrm>
            <a:off x="1493672" y="2910992"/>
            <a:ext cx="441655" cy="441655"/>
          </a:xfrm>
          <a:prstGeom prst="rect">
            <a:avLst/>
          </a:prstGeom>
        </p:spPr>
      </p:pic>
      <p:sp>
        <p:nvSpPr>
          <p:cNvPr id="30" name="anim5_320"/>
          <p:cNvSpPr txBox="1"/>
          <p:nvPr/>
        </p:nvSpPr>
        <p:spPr>
          <a:xfrm>
            <a:off x="685800" y="3749040"/>
            <a:ext cx="2057400" cy="457200"/>
          </a:xfrm>
          <a:prstGeom prst="rect">
            <a:avLst/>
          </a:prstGeom>
          <a:noFill/>
          <a:ln/>
        </p:spPr>
        <p:txBody>
          <a:bodyPr wrap="square" lIns="0" tIns="0" rIns="0" bIns="0" rtlCol="0" anchor="t"/>
          <a:lstStyle/>
          <a:p>
            <a:pPr rtl="1" algn="ctr" indent="0" marL="0">
              <a:buNone/>
            </a:pPr>
            <a:r>
              <a:rPr lang="ar-SA" altLang="en-US" sz="1900" b="1" dirty="0">
                <a:solidFill>
                  <a:srgbClr val="052977"/>
                </a:solidFill>
                <a:latin typeface="Cairo" pitchFamily="34" charset="0"/>
                <a:ea typeface="Cairo" pitchFamily="34" charset="-122"/>
                <a:cs typeface="Cairo" pitchFamily="34" charset="-120"/>
              </a:rPr>
              <a:t>الساكن</a:t>
            </a:r>
            <a:endParaRPr lang="ar-SA" sz="1900" dirty="0"/>
          </a:p>
        </p:txBody>
      </p:sp>
      <p:sp>
        <p:nvSpPr>
          <p:cNvPr id="31" name="anim5_321"/>
          <p:cNvSpPr txBox="1"/>
          <p:nvPr/>
        </p:nvSpPr>
        <p:spPr>
          <a:xfrm>
            <a:off x="731520" y="4206240"/>
            <a:ext cx="1965960" cy="548640"/>
          </a:xfrm>
          <a:prstGeom prst="rect">
            <a:avLst/>
          </a:prstGeom>
          <a:noFill/>
          <a:ln/>
        </p:spPr>
        <p:txBody>
          <a:bodyPr wrap="square" lIns="0" tIns="0" rIns="0" bIns="0" rtlCol="0" anchor="t"/>
          <a:lstStyle/>
          <a:p>
            <a:pPr rtl="1" algn="ctr" indent="0" marL="0">
              <a:buNone/>
            </a:pPr>
            <a:r>
              <a:rPr lang="ar-SA" altLang="en-US" sz="1300" dirty="0">
                <a:solidFill>
                  <a:srgbClr val="1A2340"/>
                </a:solidFill>
                <a:latin typeface="Cairo" pitchFamily="34" charset="0"/>
                <a:ea typeface="Cairo" pitchFamily="34" charset="-122"/>
                <a:cs typeface="Cairo" pitchFamily="34" charset="-120"/>
              </a:rPr>
              <a:t>يصل إلى الخدمة مباشرة</a:t>
            </a:r>
            <a:endParaRPr lang="ar-SA" sz="1300" dirty="0"/>
          </a:p>
        </p:txBody>
      </p:sp>
      <p:sp>
        <p:nvSpPr>
          <p:cNvPr id="32" name="anim6_322"/>
          <p:cNvSpPr/>
          <p:nvPr/>
        </p:nvSpPr>
        <p:spPr>
          <a:xfrm>
            <a:off x="548640" y="5349240"/>
            <a:ext cx="11094415" cy="658368"/>
          </a:xfrm>
          <a:prstGeom prst="roundRect">
            <a:avLst>
              <a:gd name="adj" fmla="val 19444"/>
            </a:avLst>
          </a:prstGeom>
          <a:solidFill>
            <a:srgbClr val="EEF2FA"/>
          </a:solidFill>
          <a:ln/>
        </p:spPr>
      </p:sp>
      <p:sp>
        <p:nvSpPr>
          <p:cNvPr id="33" name="anim6_323"/>
          <p:cNvSpPr/>
          <p:nvPr/>
        </p:nvSpPr>
        <p:spPr>
          <a:xfrm>
            <a:off x="10984687" y="5440680"/>
            <a:ext cx="475488" cy="475488"/>
          </a:xfrm>
          <a:prstGeom prst="ellipse">
            <a:avLst/>
          </a:prstGeom>
          <a:solidFill>
            <a:srgbClr val="052977"/>
          </a:solidFill>
          <a:ln/>
        </p:spPr>
      </p:sp>
      <p:pic>
        <p:nvPicPr>
          <p:cNvPr id="34" name="anim6_324" descr="نافذة أفراد">    </p:cNvPr>
          <p:cNvPicPr>
            <a:picLocks noChangeAspect="1"/>
          </p:cNvPicPr>
          <p:nvPr/>
        </p:nvPicPr>
        <p:blipFill>
          <a:blip r:embed="rId10"/>
          <a:stretch>
            <a:fillRect/>
          </a:stretch>
        </p:blipFill>
        <p:spPr>
          <a:xfrm>
            <a:off x="11051256" y="5507248"/>
            <a:ext cx="342351" cy="342351"/>
          </a:xfrm>
          <a:prstGeom prst="rect">
            <a:avLst/>
          </a:prstGeom>
        </p:spPr>
      </p:pic>
      <p:sp>
        <p:nvSpPr>
          <p:cNvPr id="35" name="anim6_325"/>
          <p:cNvSpPr txBox="1"/>
          <p:nvPr/>
        </p:nvSpPr>
        <p:spPr>
          <a:xfrm>
            <a:off x="2286000" y="5349240"/>
            <a:ext cx="8579815" cy="658368"/>
          </a:xfrm>
          <a:prstGeom prst="rect">
            <a:avLst/>
          </a:prstGeom>
          <a:noFill/>
          <a:ln/>
        </p:spPr>
        <p:txBody>
          <a:bodyPr wrap="square" lIns="0" tIns="0" rIns="0" bIns="0" rtlCol="0" anchor="ctr"/>
          <a:lstStyle/>
          <a:p>
            <a:pPr rtl="1" algn="r" indent="0" marL="0">
              <a:buNone/>
            </a:pPr>
            <a:r>
              <a:rPr lang="ar-SA" altLang="en-US" sz="1600" b="1" dirty="0">
                <a:solidFill>
                  <a:srgbClr val="052977"/>
                </a:solidFill>
                <a:latin typeface="Cairo" pitchFamily="34" charset="0"/>
                <a:ea typeface="Cairo" pitchFamily="34" charset="-122"/>
                <a:cs typeface="Cairo" pitchFamily="34" charset="-120"/>
              </a:rPr>
              <a:t>أحمد يرى خدمة المستثمر في نافذة أفراد ويصل إليها مباشرة</a:t>
            </a:r>
            <a:endParaRPr lang="ar-SA" sz="1600" dirty="0"/>
          </a:p>
        </p:txBody>
      </p:sp>
      <p:sp>
        <p:nvSpPr>
          <p:cNvPr id="36" name="anim6_326"/>
          <p:cNvSpPr/>
          <p:nvPr/>
        </p:nvSpPr>
        <p:spPr>
          <a:xfrm>
            <a:off x="777240" y="5513832"/>
            <a:ext cx="1234440" cy="329184"/>
          </a:xfrm>
          <a:prstGeom prst="roundRect">
            <a:avLst>
              <a:gd name="adj" fmla="val 50000"/>
            </a:avLst>
          </a:prstGeom>
          <a:solidFill>
            <a:srgbClr val="FFFFFF"/>
          </a:solidFill>
          <a:ln w="12700">
            <a:solidFill>
              <a:srgbClr val="052977"/>
            </a:solidFill>
            <a:prstDash val="solid"/>
          </a:ln>
        </p:spPr>
      </p:sp>
      <p:sp>
        <p:nvSpPr>
          <p:cNvPr id="37" name="anim6_327"/>
          <p:cNvSpPr txBox="1"/>
          <p:nvPr/>
        </p:nvSpPr>
        <p:spPr>
          <a:xfrm>
            <a:off x="777240" y="5513832"/>
            <a:ext cx="1234440" cy="329184"/>
          </a:xfrm>
          <a:prstGeom prst="rect">
            <a:avLst/>
          </a:prstGeom>
          <a:noFill/>
          <a:ln/>
        </p:spPr>
        <p:txBody>
          <a:bodyPr wrap="square" lIns="0" tIns="0" rIns="0" bIns="0" rtlCol="0" anchor="ctr"/>
          <a:lstStyle/>
          <a:p>
            <a:pPr rtl="1" algn="ctr" indent="0" marL="0">
              <a:buNone/>
            </a:pPr>
            <a:r>
              <a:rPr lang="ar-SA" altLang="en-US" sz="1100" b="1" dirty="0">
                <a:solidFill>
                  <a:srgbClr val="052977"/>
                </a:solidFill>
                <a:latin typeface="Cairo" pitchFamily="34" charset="0"/>
                <a:ea typeface="Cairo" pitchFamily="34" charset="-122"/>
                <a:cs typeface="Cairo" pitchFamily="34" charset="-120"/>
              </a:rPr>
              <a:t>مثال توضيحي</a:t>
            </a:r>
            <a:endParaRPr lang="ar-SA"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450"/>
                                        <p:tgtEl>
                                          <p:spTgt spid="8"/>
                                        </p:tgtEl>
                                      </p:cBhvr>
                                    </p:animEffect>
                                  </p:childTnLst>
                                </p:cTn>
                              </p:par>
                            </p:childTnLst>
                          </p:cTn>
                        </p:par>
                        <p:par>
                          <p:cTn id="25" fill="hold">
                            <p:stCondLst>
                              <p:cond delay="700"/>
                            </p:stCondLst>
                            <p:childTnLst>
                              <p:par>
                                <p:cTn id="7" presetID="10" presetClass="entr" presetSubtype="0" fill="hold" grpId="0" nodeType="after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450"/>
                                        <p:tgtEl>
                                          <p:spTgt spid="9"/>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5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5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45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5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50"/>
                                        <p:tgtEl>
                                          <p:spTgt spid="14"/>
                                        </p:tgtEl>
                                      </p:cBhvr>
                                    </p:animEffect>
                                  </p:childTnLst>
                                </p:cTn>
                              </p:par>
                            </p:childTnLst>
                          </p:cTn>
                        </p:par>
                        <p:par>
                          <p:cTn id="44" fill="hold">
                            <p:stCondLst>
                              <p:cond delay="1400"/>
                            </p:stCondLst>
                            <p:childTnLst>
                              <p:par>
                                <p:cTn id="26" presetID="10" presetClass="entr" presetSubtype="0" fill="hold" grpId="0" nodeType="after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5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5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5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par>
                          <p:cTn id="63" fill="hold">
                            <p:stCondLst>
                              <p:cond delay="2100"/>
                            </p:stCondLst>
                            <p:childTnLst>
                              <p:par>
                                <p:cTn id="45" presetID="10" presetClass="entr" presetSubtype="0" fill="hold" grpId="0" nodeType="after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50"/>
                                        <p:tgtEl>
                                          <p:spTgt spid="2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50"/>
                                        <p:tgtEl>
                                          <p:spTgt spid="2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50"/>
                                        <p:tgtEl>
                                          <p:spTgt spid="2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450"/>
                                        <p:tgtEl>
                                          <p:spTgt spid="2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50"/>
                                        <p:tgtEl>
                                          <p:spTgt spid="2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50"/>
                                        <p:tgtEl>
                                          <p:spTgt spid="26"/>
                                        </p:tgtEl>
                                      </p:cBhvr>
                                    </p:animEffect>
                                  </p:childTnLst>
                                </p:cTn>
                              </p:par>
                            </p:childTnLst>
                          </p:cTn>
                        </p:par>
                        <p:par>
                          <p:cTn id="79" fill="hold">
                            <p:stCondLst>
                              <p:cond delay="2800"/>
                            </p:stCondLst>
                            <p:childTnLst>
                              <p:par>
                                <p:cTn id="64" presetID="10" presetClass="entr" presetSubtype="0" fill="hold" grpId="0"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45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45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5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450"/>
                                        <p:tgtEl>
                                          <p:spTgt spid="3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450"/>
                                        <p:tgtEl>
                                          <p:spTgt spid="31"/>
                                        </p:tgtEl>
                                      </p:cBhvr>
                                    </p:animEffect>
                                  </p:childTnLst>
                                </p:cTn>
                              </p:par>
                            </p:childTnLst>
                          </p:cTn>
                        </p:par>
                        <p:par>
                          <p:cTn id="98" fill="hold">
                            <p:stCondLst>
                              <p:cond delay="3500"/>
                            </p:stCondLst>
                            <p:childTnLst>
                              <p:par>
                                <p:cTn id="80" presetID="10" presetClass="entr" presetSubtype="0" fill="hold" grpId="0" nodeType="after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4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4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4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450"/>
                                        <p:tgtEl>
                                          <p:spTgt spid="3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450"/>
                                        <p:tgtEl>
                                          <p:spTgt spid="3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7"/>
                                        </p:tgtEl>
                                        <p:attrNameLst>
                                          <p:attrName>style.visibility</p:attrName>
                                        </p:attrNameLst>
                                      </p:cBhvr>
                                      <p:to>
                                        <p:strVal val="visible"/>
                                      </p:to>
                                    </p:set>
                                    <p:animEffect transition="in" filter="fade">
                                      <p:cBhvr>
                                        <p:cTn id="97" dur="45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P spid="32" grpId="0" animBg="1"/>
      <p:bldP spid="33" grpId="0" animBg="1"/>
      <p:bldP spid="35" grpId="0" animBg="1"/>
      <p:bldP spid="36" grpId="0" animBg="1"/>
      <p:bldP spid="3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زخرفة شعار نافذة">    </p:cNvPr>
          <p:cNvPicPr>
            <a:picLocks noChangeAspect="1"/>
          </p:cNvPicPr>
          <p:nvPr/>
        </p:nvPicPr>
        <p:blipFill>
          <a:blip r:embed="rId1">
            <a:alphaModFix amt="6000"/>
          </a:blip>
          <a:stretch>
            <a:fillRect/>
          </a:stretch>
        </p:blipFill>
        <p:spPr>
          <a:xfrm>
            <a:off x="8503920" y="-2103120"/>
            <a:ext cx="5486400" cy="5536276"/>
          </a:xfrm>
          <a:prstGeom prst="rect">
            <a:avLst/>
          </a:prstGeom>
        </p:spPr>
      </p:pic>
      <p:pic>
        <p:nvPicPr>
          <p:cNvPr id="3" name="Image 1" descr="زخرفة شعار نافذة">    </p:cNvPr>
          <p:cNvPicPr>
            <a:picLocks noChangeAspect="1"/>
          </p:cNvPicPr>
          <p:nvPr/>
        </p:nvPicPr>
        <p:blipFill>
          <a:blip r:embed="rId2">
            <a:alphaModFix amt="6000"/>
          </a:blip>
          <a:stretch>
            <a:fillRect/>
          </a:stretch>
        </p:blipFill>
        <p:spPr>
          <a:xfrm>
            <a:off x="-2011680" y="3931920"/>
            <a:ext cx="4937760" cy="4982649"/>
          </a:xfrm>
          <a:prstGeom prst="rect">
            <a:avLst/>
          </a:prstGeom>
        </p:spPr>
      </p:pic>
      <p:pic>
        <p:nvPicPr>
          <p:cNvPr id="4" name="anim1_328" descr="نافذة أفراد">    </p:cNvPr>
          <p:cNvPicPr>
            <a:picLocks noChangeAspect="1"/>
          </p:cNvPicPr>
          <p:nvPr/>
        </p:nvPicPr>
        <p:blipFill>
          <a:blip r:embed="rId3"/>
          <a:stretch>
            <a:fillRect/>
          </a:stretch>
        </p:blipFill>
        <p:spPr>
          <a:xfrm>
            <a:off x="10180015" y="822960"/>
            <a:ext cx="1097280" cy="1107255"/>
          </a:xfrm>
          <a:prstGeom prst="rect">
            <a:avLst/>
          </a:prstGeom>
        </p:spPr>
      </p:pic>
      <p:sp>
        <p:nvSpPr>
          <p:cNvPr id="5" name="anim2_329"/>
          <p:cNvSpPr/>
          <p:nvPr/>
        </p:nvSpPr>
        <p:spPr>
          <a:xfrm>
            <a:off x="6430975" y="2148840"/>
            <a:ext cx="4846320" cy="502920"/>
          </a:xfrm>
          <a:prstGeom prst="roundRect">
            <a:avLst>
              <a:gd name="adj" fmla="val 49091"/>
            </a:avLst>
          </a:prstGeom>
          <a:solidFill>
            <a:srgbClr val="EEF2FA"/>
          </a:solidFill>
          <a:ln/>
        </p:spPr>
      </p:sp>
      <p:sp>
        <p:nvSpPr>
          <p:cNvPr id="6" name="anim2_330"/>
          <p:cNvSpPr txBox="1"/>
          <p:nvPr/>
        </p:nvSpPr>
        <p:spPr>
          <a:xfrm>
            <a:off x="6613855" y="2148840"/>
            <a:ext cx="4480560" cy="502920"/>
          </a:xfrm>
          <a:prstGeom prst="rect">
            <a:avLst/>
          </a:prstGeom>
          <a:noFill/>
          <a:ln/>
        </p:spPr>
        <p:txBody>
          <a:bodyPr wrap="square" lIns="0" tIns="0" rIns="0" bIns="0" rtlCol="0" anchor="ctr"/>
          <a:lstStyle/>
          <a:p>
            <a:pPr rtl="1" algn="r" indent="0" marL="0">
              <a:buNone/>
            </a:pPr>
            <a:r>
              <a:rPr lang="ar-SA" altLang="en-US" sz="1500" b="1" dirty="0">
                <a:solidFill>
                  <a:srgbClr val="052977"/>
                </a:solidFill>
                <a:latin typeface="Cairo" pitchFamily="34" charset="0"/>
                <a:ea typeface="Cairo" pitchFamily="34" charset="-122"/>
                <a:cs typeface="Cairo" pitchFamily="34" charset="-120"/>
              </a:rPr>
              <a:t>أحمد: ثلاث حاجات، وتطبيق واحد</a:t>
            </a:r>
            <a:endParaRPr lang="ar-SA" sz="1500" dirty="0"/>
          </a:p>
        </p:txBody>
      </p:sp>
      <p:sp>
        <p:nvSpPr>
          <p:cNvPr id="7" name="anim3_331"/>
          <p:cNvSpPr txBox="1"/>
          <p:nvPr/>
        </p:nvSpPr>
        <p:spPr>
          <a:xfrm>
            <a:off x="4572000" y="2834640"/>
            <a:ext cx="6705295" cy="731520"/>
          </a:xfrm>
          <a:prstGeom prst="rect">
            <a:avLst/>
          </a:prstGeom>
          <a:noFill/>
          <a:ln/>
        </p:spPr>
        <p:txBody>
          <a:bodyPr wrap="square" lIns="0" tIns="0" rIns="0" bIns="0" rtlCol="0" anchor="t"/>
          <a:lstStyle/>
          <a:p>
            <a:pPr rtl="1" algn="r" indent="0" marL="0">
              <a:buNone/>
            </a:pPr>
            <a:r>
              <a:rPr lang="ar-SA" altLang="en-US" sz="3600" b="1" dirty="0">
                <a:solidFill>
                  <a:srgbClr val="052977"/>
                </a:solidFill>
                <a:latin typeface="Cairo" pitchFamily="34" charset="0"/>
                <a:ea typeface="Cairo" pitchFamily="34" charset="-122"/>
                <a:cs typeface="Cairo" pitchFamily="34" charset="-120"/>
              </a:rPr>
              <a:t>نافذة أفراد</a:t>
            </a:r>
            <a:endParaRPr lang="ar-SA" sz="3600" dirty="0"/>
          </a:p>
        </p:txBody>
      </p:sp>
      <p:sp>
        <p:nvSpPr>
          <p:cNvPr id="8" name="anim3_332"/>
          <p:cNvSpPr txBox="1"/>
          <p:nvPr/>
        </p:nvSpPr>
        <p:spPr>
          <a:xfrm>
            <a:off x="4572000" y="3566160"/>
            <a:ext cx="6705295" cy="640080"/>
          </a:xfrm>
          <a:prstGeom prst="rect">
            <a:avLst/>
          </a:prstGeom>
          <a:noFill/>
          <a:ln/>
        </p:spPr>
        <p:txBody>
          <a:bodyPr wrap="square" lIns="0" tIns="0" rIns="0" bIns="0" rtlCol="0" anchor="t"/>
          <a:lstStyle/>
          <a:p>
            <a:pPr rtl="1" algn="r" indent="0" marL="0">
              <a:buNone/>
            </a:pPr>
            <a:r>
              <a:rPr lang="ar-SA" altLang="en-US" sz="2800" b="1" dirty="0">
                <a:solidFill>
                  <a:srgbClr val="5B6784"/>
                </a:solidFill>
                <a:latin typeface="Cairo" pitchFamily="34" charset="0"/>
                <a:ea typeface="Cairo" pitchFamily="34" charset="-122"/>
                <a:cs typeface="Cairo" pitchFamily="34" charset="-120"/>
              </a:rPr>
              <a:t>مدينتك بين يديك</a:t>
            </a:r>
            <a:endParaRPr lang="ar-SA" sz="2800" dirty="0"/>
          </a:p>
        </p:txBody>
      </p:sp>
      <p:sp>
        <p:nvSpPr>
          <p:cNvPr id="9" name="anim4_333"/>
          <p:cNvSpPr txBox="1"/>
          <p:nvPr/>
        </p:nvSpPr>
        <p:spPr>
          <a:xfrm>
            <a:off x="4572000" y="4343400"/>
            <a:ext cx="6705295" cy="457200"/>
          </a:xfrm>
          <a:prstGeom prst="rect">
            <a:avLst/>
          </a:prstGeom>
          <a:noFill/>
          <a:ln/>
        </p:spPr>
        <p:txBody>
          <a:bodyPr wrap="square" lIns="0" tIns="0" rIns="0" bIns="0" rtlCol="0" anchor="t"/>
          <a:lstStyle/>
          <a:p>
            <a:pPr rtl="1" algn="r" indent="0" marL="0">
              <a:buNone/>
            </a:pPr>
            <a:r>
              <a:rPr lang="ar-SA" altLang="en-US" sz="1800" dirty="0">
                <a:solidFill>
                  <a:srgbClr val="1A2340"/>
                </a:solidFill>
                <a:latin typeface="Cairo" pitchFamily="34" charset="0"/>
                <a:ea typeface="Cairo" pitchFamily="34" charset="-122"/>
                <a:cs typeface="Cairo" pitchFamily="34" charset="-120"/>
              </a:rPr>
              <a:t>شكرًا لكم</a:t>
            </a:r>
            <a:endParaRPr lang="ar-SA" sz="1800" dirty="0"/>
          </a:p>
        </p:txBody>
      </p:sp>
      <p:sp>
        <p:nvSpPr>
          <p:cNvPr id="10" name="anim3_334_TODO"/>
          <p:cNvSpPr/>
          <p:nvPr/>
        </p:nvSpPr>
        <p:spPr>
          <a:xfrm>
            <a:off x="1097280" y="1417320"/>
            <a:ext cx="2743200" cy="2743200"/>
          </a:xfrm>
          <a:prstGeom prst="roundRect">
            <a:avLst>
              <a:gd name="adj" fmla="val 3333"/>
            </a:avLst>
          </a:prstGeom>
          <a:solidFill>
            <a:srgbClr val="FFF6E5"/>
          </a:solidFill>
          <a:ln w="12700">
            <a:solidFill>
              <a:srgbClr val="D97706"/>
            </a:solidFill>
            <a:prstDash val="dash"/>
          </a:ln>
        </p:spPr>
      </p:sp>
      <p:sp>
        <p:nvSpPr>
          <p:cNvPr id="11" name="anim3_335_TODO"/>
          <p:cNvSpPr txBox="1"/>
          <p:nvPr/>
        </p:nvSpPr>
        <p:spPr>
          <a:xfrm>
            <a:off x="1234440" y="1417320"/>
            <a:ext cx="2468880" cy="2743200"/>
          </a:xfrm>
          <a:prstGeom prst="rect">
            <a:avLst/>
          </a:prstGeom>
          <a:noFill/>
          <a:ln/>
        </p:spPr>
        <p:txBody>
          <a:bodyPr wrap="square" lIns="0" tIns="0" rIns="0" bIns="0" rtlCol="0" anchor="ctr"/>
          <a:lstStyle/>
          <a:p>
            <a:pPr rtl="1" algn="ctr" indent="0" marL="0">
              <a:buNone/>
            </a:pPr>
            <a:r>
              <a:rPr lang="ar-SA" altLang="en-US" sz="1400" dirty="0">
                <a:solidFill>
                  <a:srgbClr val="92400E"/>
                </a:solidFill>
                <a:latin typeface="Cairo" pitchFamily="34" charset="0"/>
                <a:ea typeface="Cairo" pitchFamily="34" charset="-122"/>
                <a:cs typeface="Cairo" pitchFamily="34" charset="-120"/>
              </a:rPr>
              <a:t>يُستكمل: رمز QR لرابط تحميل التطبيق</a:t>
            </a:r>
            <a:endParaRPr lang="ar-SA" sz="1400" dirty="0"/>
          </a:p>
        </p:txBody>
      </p:sp>
      <p:sp>
        <p:nvSpPr>
          <p:cNvPr id="12" name="anim3_336"/>
          <p:cNvSpPr txBox="1"/>
          <p:nvPr/>
        </p:nvSpPr>
        <p:spPr>
          <a:xfrm>
            <a:off x="822960" y="4343400"/>
            <a:ext cx="3291840" cy="411480"/>
          </a:xfrm>
          <a:prstGeom prst="rect">
            <a:avLst/>
          </a:prstGeom>
          <a:noFill/>
          <a:ln/>
        </p:spPr>
        <p:txBody>
          <a:bodyPr wrap="square" lIns="0" tIns="0" rIns="0" bIns="0" rtlCol="0" anchor="t"/>
          <a:lstStyle/>
          <a:p>
            <a:pPr rtl="1" algn="ctr" indent="0" marL="0">
              <a:buNone/>
            </a:pPr>
            <a:r>
              <a:rPr lang="ar-SA" altLang="en-US" sz="1500" b="1" dirty="0">
                <a:solidFill>
                  <a:srgbClr val="052977"/>
                </a:solidFill>
                <a:latin typeface="Cairo" pitchFamily="34" charset="0"/>
                <a:ea typeface="Cairo" pitchFamily="34" charset="-122"/>
                <a:cs typeface="Cairo" pitchFamily="34" charset="-120"/>
              </a:rPr>
              <a:t>امسح الرمز لتحميل التطبيق</a:t>
            </a:r>
            <a:endParaRPr lang="ar-SA" sz="1500" dirty="0"/>
          </a:p>
        </p:txBody>
      </p:sp>
      <p:pic>
        <p:nvPicPr>
          <p:cNvPr id="13" name="anim5_337" descr="شعار رقيم للحلول الذكية">    </p:cNvPr>
          <p:cNvPicPr>
            <a:picLocks noChangeAspect="1"/>
          </p:cNvPicPr>
          <p:nvPr/>
        </p:nvPicPr>
        <p:blipFill>
          <a:blip r:embed="rId4"/>
          <a:stretch>
            <a:fillRect/>
          </a:stretch>
        </p:blipFill>
        <p:spPr>
          <a:xfrm>
            <a:off x="5627741" y="5257800"/>
            <a:ext cx="936213" cy="640080"/>
          </a:xfrm>
          <a:prstGeom prst="rect">
            <a:avLst/>
          </a:prstGeom>
        </p:spPr>
      </p:pic>
      <p:sp>
        <p:nvSpPr>
          <p:cNvPr id="14" name="anim5_338"/>
          <p:cNvSpPr txBox="1"/>
          <p:nvPr/>
        </p:nvSpPr>
        <p:spPr>
          <a:xfrm>
            <a:off x="2743200" y="5989320"/>
            <a:ext cx="6705295" cy="365760"/>
          </a:xfrm>
          <a:prstGeom prst="rect">
            <a:avLst/>
          </a:prstGeom>
          <a:noFill/>
          <a:ln/>
        </p:spPr>
        <p:txBody>
          <a:bodyPr wrap="square" lIns="0" tIns="0" rIns="0" bIns="0" rtlCol="0" anchor="ctr"/>
          <a:lstStyle/>
          <a:p>
            <a:pPr rtl="1" algn="ctr" indent="0" marL="0">
              <a:buNone/>
            </a:pPr>
            <a:r>
              <a:rPr lang="ar-SA" altLang="en-US" sz="1400" dirty="0">
                <a:solidFill>
                  <a:srgbClr val="5B6784"/>
                </a:solidFill>
                <a:latin typeface="Cairo" pitchFamily="34" charset="0"/>
                <a:ea typeface="Cairo" pitchFamily="34" charset="-122"/>
                <a:cs typeface="Cairo" pitchFamily="34" charset="-120"/>
              </a:rPr>
              <a:t>تطوير شركة رقيم للحلول الذكية</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3" fill="hold">
                            <p:stCondLst>
                              <p:cond delay="7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29" fill="hold">
                            <p:stCondLst>
                              <p:cond delay="140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5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50"/>
                                        <p:tgtEl>
                                          <p:spTgt spid="12"/>
                                        </p:tgtEl>
                                      </p:cBhvr>
                                    </p:animEffect>
                                  </p:childTnLst>
                                </p:cTn>
                              </p:par>
                            </p:childTnLst>
                          </p:cTn>
                        </p:par>
                        <p:par>
                          <p:cTn id="33" fill="hold">
                            <p:stCondLst>
                              <p:cond delay="2100"/>
                            </p:stCondLst>
                            <p:childTnLst>
                              <p:par>
                                <p:cTn id="30" presetID="10"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childTnLst>
                                </p:cTn>
                              </p:par>
                            </p:childTnLst>
                          </p:cTn>
                        </p:par>
                        <p:par>
                          <p:cTn id="40" fill="hold">
                            <p:stCondLst>
                              <p:cond delay="2800"/>
                            </p:stCondLst>
                            <p:childTnLst>
                              <p:par>
                                <p:cTn id="34" presetID="10" presetClass="entr" presetSubtype="0" fill="hold" grpId="0" nodeType="after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شركة رقيم للحلول الذكية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نافذة أفراد</dc:title>
  <dc:subject>PptxGenJS Presentation</dc:subject>
  <dc:creator>PptxGenJS</dc:creator>
  <cp:lastModifiedBy>PptxGenJS</cp:lastModifiedBy>
  <cp:revision>1</cp:revision>
  <dcterms:created xsi:type="dcterms:W3CDTF">2026-09-30T18:01:58Z</dcterms:created>
  <dcterms:modified xsi:type="dcterms:W3CDTF">2026-09-30T18:01:58Z</dcterms:modified>
</cp:coreProperties>
</file>