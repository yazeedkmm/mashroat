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نرحب بكم في حفل تدشين تطبيق نافذة أفراد. التطبيق نافذة رقمية واحدة يصل منها السكان والزوار إلى خدمات المدينة وأماكنها وفعالياتها. وهو ثمرة عمل مشترك بين الهيئة الملكية للجبيل وينبع، وشركة جبين، وشركة رقيم للحلول الذكية التي طوّرت التطبيق.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اسم نافذة يعبّر عن الفكرة ببساطة: نافذة واحدة يطل منها السكان والزوار على المدينة. من خلالها يصلون إلى الخدمات والأماكن والفعاليات دون تنقل بين قنوات متعددة.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استلهمنا الشعار من الطابع المعماري للمدن الأربع وفق دليل العمارة السعودية. أخذنا من كل مدينة عنصرًا يعبّر عنها: البتلات الأربع من الجبيل، والتكوينات المدببة من رأس الخير، والنمط الزهري من ينبع، والأشكال الماسية من جازان.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 نضع الزخارف الأربع جنبًا إلى جنب، بل بسّطنا عناصرها ودمجناها في نمط واحد جديد. في المركز مُعيّن مفتوح يمثل النافذة، وحوله أربعة اتجاهات تجتمع فيها المدن الأربع. التناسق الهندسي يعبّر عن التكامل وسهولة الوصول.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اخترنا الألوان من شعار الهيئة الملكية للجبيل وينبع لتبقى الهوية امتدادًا لهوية الهيئة. الأزرق الداكن لنافذة أفراد ويعبّر عن الثقة، والأخضر مخصص لنافذة أعمال.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نافذة أفراد تطبيق واحد يجمع ما تحتاجه عن المدينة: خدماتها وأماكنها وفعالياتها. صُمّم للسكان والزوار معًا، ليكتشفوا المدينة ويصلوا إلى خدماتها بسهولة.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اليوم تتوزع معلومات المدينة على قنوات متعددة، ويحتاج المستخدم وقتًا ليعرف أين يجد ما يريد. نافذة تجمع ذلك في مكان واحد. قبل أن ننتقل: كم تطبيقًا أو موقعًا تحتاجون اليوم لتعرفوا فعاليات مدينتكم وتصلوا إلى خدماتها؟ (امنح الحضور لحظة للإجابة).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القسم الأول من الخدمات يساعدك على اكتشاف المدينة. تجد فيه أماكن المدينة وفعالياتها وتجاربها في مكان واحد، سواء كنت من السكان أو من الزوار.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القسم الثاني يوصلك إلى خدمات المدينة وفرصها مباشرة من التطبيق. والتطبيق واحد للمدن الأربع: الجبيل ورأس الخير وينبع وجازان.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مثال مبسط لرحلة المستخدم. يفتح التطبيق، ويختار الخدمة التي يحتاجها، ويكمل الطلب، وينجز الخدمة دون أن يغادر التطبيق.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نطلق اليوم المرحلة الأولى: نافذة أفراد للسكان والزوار. المرحلة التالية هي نافذة أعمال، وهي موجهة لأصحاب الأعمال.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المرحلة التالية هي نافذة أعمال. ستجمع لأصحاب الأعمال خدمات المدينة وفرصها وفعالياتها في مكان واحد، بالفكرة نفسها التي بُنيت عليها نافذة أفراد.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لأصحاب الأعمال، الفائدة الأولى هي نافذة واحدة بدل التنقل بين قنوات متعددة. وهذا يعني وقتًا أقل، ورؤية أوضح للفرص، وتجربة متصلة مع نافذة أفراد.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بهذا نعلن تدشين تطبيق نافذة أفراد. يمكنكم تحميله الآن بمسح الرمز على الشاشة. نشكر الهيئة الملكية للجبيل وينبع وشركة جبين على دعمهما، والتطبيق من تطوير شركة رقيم للحلول الذكية.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1.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2.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1.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3.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8778240" y="-2011680"/>
            <a:ext cx="5120640" cy="5167191"/>
          </a:xfrm>
          <a:prstGeom prst="rect">
            <a:avLst/>
          </a:prstGeom>
        </p:spPr>
      </p:pic>
      <p:pic>
        <p:nvPicPr>
          <p:cNvPr id="3" name="Image 1" descr="زخرفة شعار نافذة">    </p:cNvPr>
          <p:cNvPicPr>
            <a:picLocks noChangeAspect="1"/>
          </p:cNvPicPr>
          <p:nvPr/>
        </p:nvPicPr>
        <p:blipFill>
          <a:blip r:embed="rId2">
            <a:alphaModFix amt="6000"/>
          </a:blip>
          <a:stretch>
            <a:fillRect/>
          </a:stretch>
        </p:blipFill>
        <p:spPr>
          <a:xfrm>
            <a:off x="-2194560" y="3840480"/>
            <a:ext cx="5120640" cy="5167191"/>
          </a:xfrm>
          <a:prstGeom prst="rect">
            <a:avLst/>
          </a:prstGeom>
        </p:spPr>
      </p:pic>
      <p:pic>
        <p:nvPicPr>
          <p:cNvPr id="4" name="anim1_0" descr="نافذة أفراد">    </p:cNvPr>
          <p:cNvPicPr>
            <a:picLocks noChangeAspect="1"/>
          </p:cNvPicPr>
          <p:nvPr/>
        </p:nvPicPr>
        <p:blipFill>
          <a:blip r:embed="rId3"/>
          <a:stretch>
            <a:fillRect/>
          </a:stretch>
        </p:blipFill>
        <p:spPr>
          <a:xfrm>
            <a:off x="5090008" y="640080"/>
            <a:ext cx="2011680" cy="2029968"/>
          </a:xfrm>
          <a:prstGeom prst="rect">
            <a:avLst/>
          </a:prstGeom>
        </p:spPr>
      </p:pic>
      <p:sp>
        <p:nvSpPr>
          <p:cNvPr id="5" name="anim2_1"/>
          <p:cNvSpPr txBox="1"/>
          <p:nvPr/>
        </p:nvSpPr>
        <p:spPr>
          <a:xfrm>
            <a:off x="1828800" y="2788920"/>
            <a:ext cx="8534095" cy="1005840"/>
          </a:xfrm>
          <a:prstGeom prst="rect">
            <a:avLst/>
          </a:prstGeom>
          <a:noFill/>
          <a:ln/>
        </p:spPr>
        <p:txBody>
          <a:bodyPr wrap="square" lIns="0" tIns="0" rIns="0" bIns="0" rtlCol="0" anchor="ctr"/>
          <a:lstStyle/>
          <a:p>
            <a:pPr rtl="1" algn="ctr" indent="0" marL="0">
              <a:buNone/>
            </a:pPr>
            <a:r>
              <a:rPr lang="ar-SA" altLang="en-US" sz="5400" b="1" dirty="0">
                <a:solidFill>
                  <a:srgbClr val="052977"/>
                </a:solidFill>
                <a:latin typeface="Cairo" pitchFamily="34" charset="0"/>
                <a:ea typeface="Cairo" pitchFamily="34" charset="-122"/>
                <a:cs typeface="Cairo" pitchFamily="34" charset="-120"/>
              </a:rPr>
              <a:t>نافذة أفراد</a:t>
            </a:r>
            <a:endParaRPr lang="ar-SA" sz="5400" dirty="0"/>
          </a:p>
        </p:txBody>
      </p:sp>
      <p:sp>
        <p:nvSpPr>
          <p:cNvPr id="6" name="anim3_2"/>
          <p:cNvSpPr txBox="1"/>
          <p:nvPr/>
        </p:nvSpPr>
        <p:spPr>
          <a:xfrm>
            <a:off x="1828800" y="3794760"/>
            <a:ext cx="8534095" cy="548640"/>
          </a:xfrm>
          <a:prstGeom prst="rect">
            <a:avLst/>
          </a:prstGeom>
          <a:noFill/>
          <a:ln/>
        </p:spPr>
        <p:txBody>
          <a:bodyPr wrap="square" lIns="0" tIns="0" rIns="0" bIns="0" rtlCol="0" anchor="ctr"/>
          <a:lstStyle/>
          <a:p>
            <a:pPr rtl="1" algn="ctr" indent="0" marL="0">
              <a:buNone/>
            </a:pPr>
            <a:r>
              <a:rPr lang="ar-SA" altLang="en-US" sz="2000" dirty="0">
                <a:solidFill>
                  <a:srgbClr val="5B6784"/>
                </a:solidFill>
                <a:latin typeface="Cairo" pitchFamily="34" charset="0"/>
                <a:ea typeface="Cairo" pitchFamily="34" charset="-122"/>
                <a:cs typeface="Cairo" pitchFamily="34" charset="-120"/>
              </a:rPr>
              <a:t>نافذة رقمية واحدة إلى خدمات المدينة وأماكنها وفعالياتها</a:t>
            </a:r>
            <a:endParaRPr lang="ar-SA" sz="2000" dirty="0"/>
          </a:p>
        </p:txBody>
      </p:sp>
      <p:pic>
        <p:nvPicPr>
          <p:cNvPr id="7" name="anim4_3" descr="شعار الهيئة الملكية للجبيل وينبع">    </p:cNvPr>
          <p:cNvPicPr>
            <a:picLocks noChangeAspect="1"/>
          </p:cNvPicPr>
          <p:nvPr/>
        </p:nvPicPr>
        <p:blipFill>
          <a:blip r:embed="rId4"/>
          <a:stretch>
            <a:fillRect/>
          </a:stretch>
        </p:blipFill>
        <p:spPr>
          <a:xfrm>
            <a:off x="7784534" y="5074920"/>
            <a:ext cx="1145854" cy="868680"/>
          </a:xfrm>
          <a:prstGeom prst="rect">
            <a:avLst/>
          </a:prstGeom>
        </p:spPr>
      </p:pic>
      <p:sp>
        <p:nvSpPr>
          <p:cNvPr id="8" name="anim4_4"/>
          <p:cNvSpPr/>
          <p:nvPr/>
        </p:nvSpPr>
        <p:spPr>
          <a:xfrm>
            <a:off x="7281614" y="5166360"/>
            <a:ext cx="0" cy="685800"/>
          </a:xfrm>
          <a:prstGeom prst="line">
            <a:avLst/>
          </a:prstGeom>
          <a:noFill/>
          <a:ln w="12700">
            <a:solidFill>
              <a:srgbClr val="D6DEEE"/>
            </a:solidFill>
            <a:prstDash val="solid"/>
          </a:ln>
        </p:spPr>
      </p:sp>
      <p:pic>
        <p:nvPicPr>
          <p:cNvPr id="9" name="anim4_5" descr="شعار جبين">    </p:cNvPr>
          <p:cNvPicPr>
            <a:picLocks noChangeAspect="1"/>
          </p:cNvPicPr>
          <p:nvPr/>
        </p:nvPicPr>
        <p:blipFill>
          <a:blip r:embed="rId5"/>
          <a:stretch>
            <a:fillRect/>
          </a:stretch>
        </p:blipFill>
        <p:spPr>
          <a:xfrm>
            <a:off x="5537722" y="5074920"/>
            <a:ext cx="1240971" cy="868680"/>
          </a:xfrm>
          <a:prstGeom prst="rect">
            <a:avLst/>
          </a:prstGeom>
        </p:spPr>
      </p:pic>
      <p:sp>
        <p:nvSpPr>
          <p:cNvPr id="10" name="anim4_6"/>
          <p:cNvSpPr/>
          <p:nvPr/>
        </p:nvSpPr>
        <p:spPr>
          <a:xfrm>
            <a:off x="5034802" y="5166360"/>
            <a:ext cx="0" cy="685800"/>
          </a:xfrm>
          <a:prstGeom prst="line">
            <a:avLst/>
          </a:prstGeom>
          <a:noFill/>
          <a:ln w="12700">
            <a:solidFill>
              <a:srgbClr val="D6DEEE"/>
            </a:solidFill>
            <a:prstDash val="solid"/>
          </a:ln>
        </p:spPr>
      </p:sp>
      <p:pic>
        <p:nvPicPr>
          <p:cNvPr id="11" name="anim4_7" descr="شعار رقيم للحلول الذكية">    </p:cNvPr>
          <p:cNvPicPr>
            <a:picLocks noChangeAspect="1"/>
          </p:cNvPicPr>
          <p:nvPr/>
        </p:nvPicPr>
        <p:blipFill>
          <a:blip r:embed="rId6"/>
          <a:stretch>
            <a:fillRect/>
          </a:stretch>
        </p:blipFill>
        <p:spPr>
          <a:xfrm>
            <a:off x="3261307" y="5074920"/>
            <a:ext cx="1270575" cy="86868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0" fill="hold">
                            <p:stCondLst>
                              <p:cond delay="7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childTnLst>
                          </p:cTn>
                        </p:par>
                        <p:par>
                          <p:cTn id="14" fill="hold">
                            <p:stCondLst>
                              <p:cond delay="1400"/>
                            </p:stCondLst>
                            <p:childTnLst>
                              <p:par>
                                <p:cTn id="11" presetID="10" presetClass="entr" presetSubtype="0" fill="hold" grpId="0" nodeType="after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450"/>
                                        <p:tgtEl>
                                          <p:spTgt spid="6"/>
                                        </p:tgtEl>
                                      </p:cBhvr>
                                    </p:animEffect>
                                  </p:childTnLst>
                                </p:cTn>
                              </p:par>
                            </p:childTnLst>
                          </p:cTn>
                        </p:par>
                        <p:par>
                          <p:cTn id="30" fill="hold">
                            <p:stCondLst>
                              <p:cond delay="2100"/>
                            </p:stCondLst>
                            <p:childTnLst>
                              <p:par>
                                <p:cTn id="15" presetID="10" presetClass="entr" presetSubtype="0" fill="hold" grpId="0" nodeType="after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450"/>
                                        <p:tgtEl>
                                          <p:spTgt spid="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450"/>
                                        <p:tgtEl>
                                          <p:spTgt spid="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5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10"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الهوية</a:t>
            </a:r>
            <a:endParaRPr lang="ar-SA" sz="1400" dirty="0"/>
          </a:p>
        </p:txBody>
      </p:sp>
      <p:sp>
        <p:nvSpPr>
          <p:cNvPr id="4" name="Text 1"/>
          <p:cNvSpPr txBox="1"/>
          <p:nvPr/>
        </p:nvSpPr>
        <p:spPr>
          <a:xfrm>
            <a:off x="2926080" y="731520"/>
            <a:ext cx="8716975" cy="777240"/>
          </a:xfrm>
          <a:prstGeom prst="rect">
            <a:avLst/>
          </a:prstGeom>
          <a:noFill/>
          <a:ln/>
        </p:spPr>
        <p:txBody>
          <a:bodyPr wrap="square" lIns="0" tIns="0" rIns="0" bIns="0" rtlCol="0" anchor="t"/>
          <a:lstStyle/>
          <a:p>
            <a:pPr rtl="1" algn="r" indent="0" marL="0">
              <a:buNone/>
            </a:pPr>
            <a:r>
              <a:rPr lang="ar-SA" altLang="en-US" sz="3200" b="1" dirty="0">
                <a:solidFill>
                  <a:srgbClr val="052977"/>
                </a:solidFill>
                <a:latin typeface="Cairo" pitchFamily="34" charset="0"/>
                <a:ea typeface="Cairo" pitchFamily="34" charset="-122"/>
                <a:cs typeface="Cairo" pitchFamily="34" charset="-120"/>
              </a:rPr>
              <a:t>فكرة الشعار</a:t>
            </a:r>
            <a:endParaRPr lang="ar-SA" sz="32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146304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2</a:t>
            </a:r>
            <a:endParaRPr lang="ar-SA" sz="1100" dirty="0"/>
          </a:p>
        </p:txBody>
      </p:sp>
      <p:sp>
        <p:nvSpPr>
          <p:cNvPr id="8" name="anim1_8"/>
          <p:cNvSpPr/>
          <p:nvPr/>
        </p:nvSpPr>
        <p:spPr>
          <a:xfrm>
            <a:off x="822960" y="1691640"/>
            <a:ext cx="4023360" cy="4023360"/>
          </a:xfrm>
          <a:prstGeom prst="ellipse">
            <a:avLst/>
          </a:prstGeom>
          <a:solidFill>
            <a:srgbClr val="EEF2FA"/>
          </a:solidFill>
          <a:ln/>
        </p:spPr>
      </p:sp>
      <p:pic>
        <p:nvPicPr>
          <p:cNvPr id="9" name="anim1_9" descr="نافذة أفراد">    </p:cNvPr>
          <p:cNvPicPr>
            <a:picLocks noChangeAspect="1"/>
          </p:cNvPicPr>
          <p:nvPr/>
        </p:nvPicPr>
        <p:blipFill>
          <a:blip r:embed="rId3"/>
          <a:stretch>
            <a:fillRect/>
          </a:stretch>
        </p:blipFill>
        <p:spPr>
          <a:xfrm>
            <a:off x="1508760" y="2350008"/>
            <a:ext cx="2651760" cy="2675867"/>
          </a:xfrm>
          <a:prstGeom prst="rect">
            <a:avLst/>
          </a:prstGeom>
        </p:spPr>
      </p:pic>
      <p:sp>
        <p:nvSpPr>
          <p:cNvPr id="10" name="anim2_10"/>
          <p:cNvSpPr txBox="1"/>
          <p:nvPr/>
        </p:nvSpPr>
        <p:spPr>
          <a:xfrm>
            <a:off x="5669280" y="1783080"/>
            <a:ext cx="5973775" cy="868680"/>
          </a:xfrm>
          <a:prstGeom prst="rect">
            <a:avLst/>
          </a:prstGeom>
          <a:noFill/>
          <a:ln/>
        </p:spPr>
        <p:txBody>
          <a:bodyPr wrap="square" lIns="0" tIns="0" rIns="0" bIns="0" rtlCol="0" anchor="t"/>
          <a:lstStyle/>
          <a:p>
            <a:pPr rtl="1" algn="r" indent="0" marL="0">
              <a:buNone/>
            </a:pPr>
            <a:r>
              <a:rPr lang="ar-SA" altLang="en-US" sz="2200" b="1" dirty="0">
                <a:solidFill>
                  <a:srgbClr val="052977"/>
                </a:solidFill>
                <a:latin typeface="Cairo" pitchFamily="34" charset="0"/>
                <a:ea typeface="Cairo" pitchFamily="34" charset="-122"/>
                <a:cs typeface="Cairo" pitchFamily="34" charset="-120"/>
              </a:rPr>
              <a:t>نافذة واحدة يكتشف منها السكان والزوار المدينة</a:t>
            </a:r>
            <a:endParaRPr lang="ar-SA" sz="2200" dirty="0"/>
          </a:p>
        </p:txBody>
      </p:sp>
      <p:sp>
        <p:nvSpPr>
          <p:cNvPr id="11" name="anim3_11"/>
          <p:cNvSpPr/>
          <p:nvPr/>
        </p:nvSpPr>
        <p:spPr>
          <a:xfrm>
            <a:off x="10911535" y="2880360"/>
            <a:ext cx="731520" cy="731520"/>
          </a:xfrm>
          <a:prstGeom prst="ellipse">
            <a:avLst/>
          </a:prstGeom>
          <a:solidFill>
            <a:srgbClr val="EEF2FA"/>
          </a:solidFill>
          <a:ln/>
        </p:spPr>
      </p:sp>
      <p:pic>
        <p:nvPicPr>
          <p:cNvPr id="12" name="anim3_12" descr="نافذة أفراد">    </p:cNvPr>
          <p:cNvPicPr>
            <a:picLocks noChangeAspect="1"/>
          </p:cNvPicPr>
          <p:nvPr/>
        </p:nvPicPr>
        <p:blipFill>
          <a:blip r:embed="rId4"/>
          <a:stretch>
            <a:fillRect/>
          </a:stretch>
        </p:blipFill>
        <p:spPr>
          <a:xfrm>
            <a:off x="11101730" y="3070555"/>
            <a:ext cx="351130" cy="351130"/>
          </a:xfrm>
          <a:prstGeom prst="rect">
            <a:avLst/>
          </a:prstGeom>
        </p:spPr>
      </p:pic>
      <p:sp>
        <p:nvSpPr>
          <p:cNvPr id="13" name="anim3_13"/>
          <p:cNvSpPr txBox="1"/>
          <p:nvPr/>
        </p:nvSpPr>
        <p:spPr>
          <a:xfrm>
            <a:off x="5669280" y="2862072"/>
            <a:ext cx="5013655" cy="384048"/>
          </a:xfrm>
          <a:prstGeom prst="rect">
            <a:avLst/>
          </a:prstGeom>
          <a:noFill/>
          <a:ln/>
        </p:spPr>
        <p:txBody>
          <a:bodyPr wrap="square" lIns="0" tIns="0" rIns="0" bIns="0" rtlCol="0" anchor="t"/>
          <a:lstStyle/>
          <a:p>
            <a:pPr rtl="1" algn="r" indent="0" marL="0">
              <a:buNone/>
            </a:pPr>
            <a:r>
              <a:rPr lang="ar-SA" altLang="en-US" sz="1800" b="1" dirty="0">
                <a:solidFill>
                  <a:srgbClr val="1A2340"/>
                </a:solidFill>
                <a:latin typeface="Cairo" pitchFamily="34" charset="0"/>
                <a:ea typeface="Cairo" pitchFamily="34" charset="-122"/>
                <a:cs typeface="Cairo" pitchFamily="34" charset="-120"/>
              </a:rPr>
              <a:t>نافذة إلى المدينة</a:t>
            </a:r>
            <a:endParaRPr lang="ar-SA" sz="1800" dirty="0"/>
          </a:p>
        </p:txBody>
      </p:sp>
      <p:sp>
        <p:nvSpPr>
          <p:cNvPr id="14" name="anim3_14"/>
          <p:cNvSpPr txBox="1"/>
          <p:nvPr/>
        </p:nvSpPr>
        <p:spPr>
          <a:xfrm>
            <a:off x="5669280" y="3246120"/>
            <a:ext cx="5013655" cy="347472"/>
          </a:xfrm>
          <a:prstGeom prst="rect">
            <a:avLst/>
          </a:prstGeom>
          <a:noFill/>
          <a:ln/>
        </p:spPr>
        <p:txBody>
          <a:bodyPr wrap="square" lIns="0" tIns="0" rIns="0" bIns="0" rtlCol="0" anchor="t"/>
          <a:lstStyle/>
          <a:p>
            <a:pPr rtl="1" algn="r" indent="0" marL="0">
              <a:buNone/>
            </a:pPr>
            <a:r>
              <a:rPr lang="ar-SA" altLang="en-US" sz="1400" dirty="0">
                <a:solidFill>
                  <a:srgbClr val="5B6784"/>
                </a:solidFill>
                <a:latin typeface="Cairo" pitchFamily="34" charset="0"/>
                <a:ea typeface="Cairo" pitchFamily="34" charset="-122"/>
                <a:cs typeface="Cairo" pitchFamily="34" charset="-120"/>
              </a:rPr>
              <a:t>المركز المفتوح بوابة إلى أماكن المدينة وفرصها</a:t>
            </a:r>
            <a:endParaRPr lang="ar-SA" sz="1400" dirty="0"/>
          </a:p>
        </p:txBody>
      </p:sp>
      <p:sp>
        <p:nvSpPr>
          <p:cNvPr id="15" name="anim4_15"/>
          <p:cNvSpPr/>
          <p:nvPr/>
        </p:nvSpPr>
        <p:spPr>
          <a:xfrm>
            <a:off x="10911535" y="3904488"/>
            <a:ext cx="731520" cy="731520"/>
          </a:xfrm>
          <a:prstGeom prst="ellipse">
            <a:avLst/>
          </a:prstGeom>
          <a:solidFill>
            <a:srgbClr val="EEF2FA"/>
          </a:solidFill>
          <a:ln/>
        </p:spPr>
      </p:sp>
      <p:pic>
        <p:nvPicPr>
          <p:cNvPr id="16" name="anim4_16" descr="نافذة أفراد">    </p:cNvPr>
          <p:cNvPicPr>
            <a:picLocks noChangeAspect="1"/>
          </p:cNvPicPr>
          <p:nvPr/>
        </p:nvPicPr>
        <p:blipFill>
          <a:blip r:embed="rId5"/>
          <a:stretch>
            <a:fillRect/>
          </a:stretch>
        </p:blipFill>
        <p:spPr>
          <a:xfrm>
            <a:off x="11101730" y="4094683"/>
            <a:ext cx="351130" cy="351130"/>
          </a:xfrm>
          <a:prstGeom prst="rect">
            <a:avLst/>
          </a:prstGeom>
        </p:spPr>
      </p:pic>
      <p:sp>
        <p:nvSpPr>
          <p:cNvPr id="17" name="anim4_17"/>
          <p:cNvSpPr txBox="1"/>
          <p:nvPr/>
        </p:nvSpPr>
        <p:spPr>
          <a:xfrm>
            <a:off x="5669280" y="3886200"/>
            <a:ext cx="5013655" cy="384048"/>
          </a:xfrm>
          <a:prstGeom prst="rect">
            <a:avLst/>
          </a:prstGeom>
          <a:noFill/>
          <a:ln/>
        </p:spPr>
        <p:txBody>
          <a:bodyPr wrap="square" lIns="0" tIns="0" rIns="0" bIns="0" rtlCol="0" anchor="t"/>
          <a:lstStyle/>
          <a:p>
            <a:pPr rtl="1" algn="r" indent="0" marL="0">
              <a:buNone/>
            </a:pPr>
            <a:r>
              <a:rPr lang="ar-SA" altLang="en-US" sz="1800" b="1" dirty="0">
                <a:solidFill>
                  <a:srgbClr val="1A2340"/>
                </a:solidFill>
                <a:latin typeface="Cairo" pitchFamily="34" charset="0"/>
                <a:ea typeface="Cairo" pitchFamily="34" charset="-122"/>
                <a:cs typeface="Cairo" pitchFamily="34" charset="-120"/>
              </a:rPr>
              <a:t>هوية تجمع المدن</a:t>
            </a:r>
            <a:endParaRPr lang="ar-SA" sz="1800" dirty="0"/>
          </a:p>
        </p:txBody>
      </p:sp>
      <p:sp>
        <p:nvSpPr>
          <p:cNvPr id="18" name="anim4_18"/>
          <p:cNvSpPr txBox="1"/>
          <p:nvPr/>
        </p:nvSpPr>
        <p:spPr>
          <a:xfrm>
            <a:off x="5669280" y="4270248"/>
            <a:ext cx="5013655" cy="347472"/>
          </a:xfrm>
          <a:prstGeom prst="rect">
            <a:avLst/>
          </a:prstGeom>
          <a:noFill/>
          <a:ln/>
        </p:spPr>
        <p:txBody>
          <a:bodyPr wrap="square" lIns="0" tIns="0" rIns="0" bIns="0" rtlCol="0" anchor="t"/>
          <a:lstStyle/>
          <a:p>
            <a:pPr rtl="1" algn="r" indent="0" marL="0">
              <a:buNone/>
            </a:pPr>
            <a:r>
              <a:rPr lang="ar-SA" altLang="en-US" sz="1400" dirty="0">
                <a:solidFill>
                  <a:srgbClr val="5B6784"/>
                </a:solidFill>
                <a:latin typeface="Cairo" pitchFamily="34" charset="0"/>
                <a:ea typeface="Cairo" pitchFamily="34" charset="-122"/>
                <a:cs typeface="Cairo" pitchFamily="34" charset="-120"/>
              </a:rPr>
              <a:t>عناصر من الجبيل ورأس الخير وينبع وجازان</a:t>
            </a:r>
            <a:endParaRPr lang="ar-SA" sz="1400" dirty="0"/>
          </a:p>
        </p:txBody>
      </p:sp>
      <p:sp>
        <p:nvSpPr>
          <p:cNvPr id="19" name="anim5_19"/>
          <p:cNvSpPr/>
          <p:nvPr/>
        </p:nvSpPr>
        <p:spPr>
          <a:xfrm>
            <a:off x="10911535" y="4928616"/>
            <a:ext cx="731520" cy="731520"/>
          </a:xfrm>
          <a:prstGeom prst="ellipse">
            <a:avLst/>
          </a:prstGeom>
          <a:solidFill>
            <a:srgbClr val="EEF2FA"/>
          </a:solidFill>
          <a:ln/>
        </p:spPr>
      </p:sp>
      <p:pic>
        <p:nvPicPr>
          <p:cNvPr id="20" name="anim5_20" descr="نافذة أفراد">    </p:cNvPr>
          <p:cNvPicPr>
            <a:picLocks noChangeAspect="1"/>
          </p:cNvPicPr>
          <p:nvPr/>
        </p:nvPicPr>
        <p:blipFill>
          <a:blip r:embed="rId6"/>
          <a:stretch>
            <a:fillRect/>
          </a:stretch>
        </p:blipFill>
        <p:spPr>
          <a:xfrm>
            <a:off x="11101730" y="5118811"/>
            <a:ext cx="351130" cy="351130"/>
          </a:xfrm>
          <a:prstGeom prst="rect">
            <a:avLst/>
          </a:prstGeom>
        </p:spPr>
      </p:pic>
      <p:sp>
        <p:nvSpPr>
          <p:cNvPr id="21" name="anim5_21"/>
          <p:cNvSpPr txBox="1"/>
          <p:nvPr/>
        </p:nvSpPr>
        <p:spPr>
          <a:xfrm>
            <a:off x="5669280" y="4910328"/>
            <a:ext cx="5013655" cy="384048"/>
          </a:xfrm>
          <a:prstGeom prst="rect">
            <a:avLst/>
          </a:prstGeom>
          <a:noFill/>
          <a:ln/>
        </p:spPr>
        <p:txBody>
          <a:bodyPr wrap="square" lIns="0" tIns="0" rIns="0" bIns="0" rtlCol="0" anchor="t"/>
          <a:lstStyle/>
          <a:p>
            <a:pPr rtl="1" algn="r" indent="0" marL="0">
              <a:buNone/>
            </a:pPr>
            <a:r>
              <a:rPr lang="ar-SA" altLang="en-US" sz="1800" b="1" dirty="0">
                <a:solidFill>
                  <a:srgbClr val="1A2340"/>
                </a:solidFill>
                <a:latin typeface="Cairo" pitchFamily="34" charset="0"/>
                <a:ea typeface="Cairo" pitchFamily="34" charset="-122"/>
                <a:cs typeface="Cairo" pitchFamily="34" charset="-120"/>
              </a:rPr>
              <a:t>خدمات وفعاليات في مكان واحد</a:t>
            </a:r>
            <a:endParaRPr lang="ar-SA" sz="1800" dirty="0"/>
          </a:p>
        </p:txBody>
      </p:sp>
      <p:sp>
        <p:nvSpPr>
          <p:cNvPr id="22" name="anim5_22"/>
          <p:cNvSpPr txBox="1"/>
          <p:nvPr/>
        </p:nvSpPr>
        <p:spPr>
          <a:xfrm>
            <a:off x="5669280" y="5294376"/>
            <a:ext cx="5013655" cy="347472"/>
          </a:xfrm>
          <a:prstGeom prst="rect">
            <a:avLst/>
          </a:prstGeom>
          <a:noFill/>
          <a:ln/>
        </p:spPr>
        <p:txBody>
          <a:bodyPr wrap="square" lIns="0" tIns="0" rIns="0" bIns="0" rtlCol="0" anchor="t"/>
          <a:lstStyle/>
          <a:p>
            <a:pPr rtl="1" algn="r" indent="0" marL="0">
              <a:buNone/>
            </a:pPr>
            <a:r>
              <a:rPr lang="ar-SA" altLang="en-US" sz="1400" dirty="0">
                <a:solidFill>
                  <a:srgbClr val="5B6784"/>
                </a:solidFill>
                <a:latin typeface="Cairo" pitchFamily="34" charset="0"/>
                <a:ea typeface="Cairo" pitchFamily="34" charset="-122"/>
                <a:cs typeface="Cairo" pitchFamily="34" charset="-120"/>
              </a:rPr>
              <a:t>وصول مباشر إلى المدينة من تطبيق واحد</a:t>
            </a:r>
            <a:endParaRPr lang="ar-SA"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3"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par>
                          <p:cTn id="13" fill="hold">
                            <p:stCondLst>
                              <p:cond delay="700"/>
                            </p:stCondLst>
                            <p:childTnLst>
                              <p:par>
                                <p:cTn id="10" presetID="10" presetClass="entr" presetSubtype="0" fill="hold" grpId="0" nodeType="after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50"/>
                                        <p:tgtEl>
                                          <p:spTgt spid="10"/>
                                        </p:tgtEl>
                                      </p:cBhvr>
                                    </p:animEffect>
                                  </p:childTnLst>
                                </p:cTn>
                              </p:par>
                            </p:childTnLst>
                          </p:cTn>
                        </p:par>
                        <p:par>
                          <p:cTn id="26" fill="hold">
                            <p:stCondLst>
                              <p:cond delay="14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50"/>
                                        <p:tgtEl>
                                          <p:spTgt spid="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45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450"/>
                                        <p:tgtEl>
                                          <p:spTgt spid="1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450"/>
                                        <p:tgtEl>
                                          <p:spTgt spid="14"/>
                                        </p:tgtEl>
                                      </p:cBhvr>
                                    </p:animEffect>
                                  </p:childTnLst>
                                </p:cTn>
                              </p:par>
                            </p:childTnLst>
                          </p:cTn>
                        </p:par>
                        <p:par>
                          <p:cTn id="39" fill="hold">
                            <p:stCondLst>
                              <p:cond delay="2100"/>
                            </p:stCondLst>
                            <p:childTnLst>
                              <p:par>
                                <p:cTn id="27" presetID="10" presetClass="entr" presetSubtype="0" fill="hold" grpId="0" nodeType="after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450"/>
                                        <p:tgtEl>
                                          <p:spTgt spid="15"/>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450"/>
                                        <p:tgtEl>
                                          <p:spTgt spid="16"/>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5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50"/>
                                        <p:tgtEl>
                                          <p:spTgt spid="18"/>
                                        </p:tgtEl>
                                      </p:cBhvr>
                                    </p:animEffect>
                                  </p:childTnLst>
                                </p:cTn>
                              </p:par>
                            </p:childTnLst>
                          </p:cTn>
                        </p:par>
                        <p:par>
                          <p:cTn id="52" fill="hold">
                            <p:stCondLst>
                              <p:cond delay="2800"/>
                            </p:stCondLst>
                            <p:childTnLst>
                              <p:par>
                                <p:cTn id="40" presetID="10" presetClass="entr" presetSubtype="0" fill="hold" grpId="0" nodeType="after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450"/>
                                        <p:tgtEl>
                                          <p:spTgt spid="1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0"/>
                                        </p:tgtEl>
                                        <p:attrNameLst>
                                          <p:attrName>style.visibility</p:attrName>
                                        </p:attrNameLst>
                                      </p:cBhvr>
                                      <p:to>
                                        <p:strVal val="visible"/>
                                      </p:to>
                                    </p:set>
                                    <p:animEffect transition="in" filter="fade">
                                      <p:cBhvr>
                                        <p:cTn id="45" dur="450"/>
                                        <p:tgtEl>
                                          <p:spTgt spid="2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450"/>
                                        <p:tgtEl>
                                          <p:spTgt spid="2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animEffect transition="in" filter="fade">
                                      <p:cBhvr>
                                        <p:cTn id="51"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3" grpId="0" animBg="1"/>
      <p:bldP spid="14" grpId="0" animBg="1"/>
      <p:bldP spid="15" grpId="0" animBg="1"/>
      <p:bldP spid="17" grpId="0" animBg="1"/>
      <p:bldP spid="18" grpId="0" animBg="1"/>
      <p:bldP spid="19" grpId="0" animBg="1"/>
      <p:bldP spid="21" grpId="0" animBg="1"/>
      <p:bldP spid="2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الهوية</a:t>
            </a:r>
            <a:endParaRPr lang="ar-SA" sz="1400" dirty="0"/>
          </a:p>
        </p:txBody>
      </p:sp>
      <p:sp>
        <p:nvSpPr>
          <p:cNvPr id="4" name="Text 1"/>
          <p:cNvSpPr txBox="1"/>
          <p:nvPr/>
        </p:nvSpPr>
        <p:spPr>
          <a:xfrm>
            <a:off x="2926080" y="731520"/>
            <a:ext cx="8716975" cy="777240"/>
          </a:xfrm>
          <a:prstGeom prst="rect">
            <a:avLst/>
          </a:prstGeom>
          <a:noFill/>
          <a:ln/>
        </p:spPr>
        <p:txBody>
          <a:bodyPr wrap="square" lIns="0" tIns="0" rIns="0" bIns="0" rtlCol="0" anchor="t"/>
          <a:lstStyle/>
          <a:p>
            <a:pPr rtl="1" algn="r" indent="0" marL="0">
              <a:buNone/>
            </a:pPr>
            <a:r>
              <a:rPr lang="ar-SA" altLang="en-US" sz="3200" b="1" dirty="0">
                <a:solidFill>
                  <a:srgbClr val="052977"/>
                </a:solidFill>
                <a:latin typeface="Cairo" pitchFamily="34" charset="0"/>
                <a:ea typeface="Cairo" pitchFamily="34" charset="-122"/>
                <a:cs typeface="Cairo" pitchFamily="34" charset="-120"/>
              </a:rPr>
              <a:t>المدن الأربع: من كل مدينة عنصر</a:t>
            </a:r>
            <a:endParaRPr lang="ar-SA" sz="32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146304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3</a:t>
            </a:r>
            <a:endParaRPr lang="ar-SA" sz="1100" dirty="0"/>
          </a:p>
        </p:txBody>
      </p:sp>
      <p:sp>
        <p:nvSpPr>
          <p:cNvPr id="8" name="anim1_23"/>
          <p:cNvSpPr/>
          <p:nvPr/>
        </p:nvSpPr>
        <p:spPr>
          <a:xfrm>
            <a:off x="9082735" y="1783080"/>
            <a:ext cx="2560320" cy="3840480"/>
          </a:xfrm>
          <a:prstGeom prst="roundRect">
            <a:avLst>
              <a:gd name="adj" fmla="val 6429"/>
            </a:avLst>
          </a:prstGeom>
          <a:solidFill>
            <a:srgbClr val="EEF2FA"/>
          </a:solidFill>
          <a:ln/>
        </p:spPr>
      </p:sp>
      <p:sp>
        <p:nvSpPr>
          <p:cNvPr id="9" name="anim1_24"/>
          <p:cNvSpPr/>
          <p:nvPr/>
        </p:nvSpPr>
        <p:spPr>
          <a:xfrm>
            <a:off x="9585655" y="2103120"/>
            <a:ext cx="1554480" cy="1554480"/>
          </a:xfrm>
          <a:prstGeom prst="ellipse">
            <a:avLst/>
          </a:prstGeom>
          <a:solidFill>
            <a:srgbClr val="FFFFFF"/>
          </a:solidFill>
          <a:ln/>
        </p:spPr>
      </p:sp>
      <p:pic>
        <p:nvPicPr>
          <p:cNvPr id="10" name="anim1_25" descr="نافذة أفراد">    </p:cNvPr>
          <p:cNvPicPr>
            <a:picLocks noChangeAspect="1"/>
          </p:cNvPicPr>
          <p:nvPr/>
        </p:nvPicPr>
        <p:blipFill>
          <a:blip r:embed="rId3"/>
          <a:stretch>
            <a:fillRect/>
          </a:stretch>
        </p:blipFill>
        <p:spPr>
          <a:xfrm>
            <a:off x="9882835" y="2403522"/>
            <a:ext cx="960120" cy="953676"/>
          </a:xfrm>
          <a:prstGeom prst="rect">
            <a:avLst/>
          </a:prstGeom>
        </p:spPr>
      </p:pic>
      <p:sp>
        <p:nvSpPr>
          <p:cNvPr id="11" name="anim1_26"/>
          <p:cNvSpPr txBox="1"/>
          <p:nvPr/>
        </p:nvSpPr>
        <p:spPr>
          <a:xfrm>
            <a:off x="9265615" y="3794760"/>
            <a:ext cx="2194560" cy="502920"/>
          </a:xfrm>
          <a:prstGeom prst="rect">
            <a:avLst/>
          </a:prstGeom>
          <a:noFill/>
          <a:ln/>
        </p:spPr>
        <p:txBody>
          <a:bodyPr wrap="square" lIns="0" tIns="0" rIns="0" bIns="0" rtlCol="0" anchor="t"/>
          <a:lstStyle/>
          <a:p>
            <a:pPr rtl="1" algn="ctr" indent="0" marL="0">
              <a:buNone/>
            </a:pPr>
            <a:r>
              <a:rPr lang="ar-SA" altLang="en-US" sz="2200" b="1" dirty="0">
                <a:solidFill>
                  <a:srgbClr val="052977"/>
                </a:solidFill>
                <a:latin typeface="Cairo" pitchFamily="34" charset="0"/>
                <a:ea typeface="Cairo" pitchFamily="34" charset="-122"/>
                <a:cs typeface="Cairo" pitchFamily="34" charset="-120"/>
              </a:rPr>
              <a:t>الجبيل</a:t>
            </a:r>
            <a:endParaRPr lang="ar-SA" sz="2200" dirty="0"/>
          </a:p>
        </p:txBody>
      </p:sp>
      <p:sp>
        <p:nvSpPr>
          <p:cNvPr id="12" name="anim1_27"/>
          <p:cNvSpPr txBox="1"/>
          <p:nvPr/>
        </p:nvSpPr>
        <p:spPr>
          <a:xfrm>
            <a:off x="9265615" y="4297680"/>
            <a:ext cx="2194560" cy="320040"/>
          </a:xfrm>
          <a:prstGeom prst="rect">
            <a:avLst/>
          </a:prstGeom>
          <a:noFill/>
          <a:ln/>
        </p:spPr>
        <p:txBody>
          <a:bodyPr wrap="square" lIns="0" tIns="0" rIns="0" bIns="0" rtlCol="0" anchor="t"/>
          <a:lstStyle/>
          <a:p>
            <a:pPr rtl="1" algn="ctr" indent="0" marL="0">
              <a:buNone/>
            </a:pPr>
            <a:r>
              <a:rPr lang="ar-SA" altLang="en-US" sz="1200" dirty="0">
                <a:solidFill>
                  <a:srgbClr val="5B6784"/>
                </a:solidFill>
                <a:latin typeface="Cairo" pitchFamily="34" charset="0"/>
                <a:ea typeface="Cairo" pitchFamily="34" charset="-122"/>
                <a:cs typeface="Cairo" pitchFamily="34" charset="-120"/>
              </a:rPr>
              <a:t>الساحل الشرقي</a:t>
            </a:r>
            <a:endParaRPr lang="ar-SA" sz="1200" dirty="0"/>
          </a:p>
        </p:txBody>
      </p:sp>
      <p:sp>
        <p:nvSpPr>
          <p:cNvPr id="13" name="anim1_28"/>
          <p:cNvSpPr txBox="1"/>
          <p:nvPr/>
        </p:nvSpPr>
        <p:spPr>
          <a:xfrm>
            <a:off x="9311335" y="4663440"/>
            <a:ext cx="2103120" cy="777240"/>
          </a:xfrm>
          <a:prstGeom prst="rect">
            <a:avLst/>
          </a:prstGeom>
          <a:noFill/>
          <a:ln/>
        </p:spPr>
        <p:txBody>
          <a:bodyPr wrap="square" lIns="0" tIns="0" rIns="0" bIns="0" rtlCol="0" anchor="t"/>
          <a:lstStyle/>
          <a:p>
            <a:pPr rtl="1" algn="ctr" indent="0" marL="0">
              <a:buNone/>
            </a:pPr>
            <a:r>
              <a:rPr lang="ar-SA" altLang="en-US" sz="1400" dirty="0">
                <a:solidFill>
                  <a:srgbClr val="1A2340"/>
                </a:solidFill>
                <a:latin typeface="Cairo" pitchFamily="34" charset="0"/>
                <a:ea typeface="Cairo" pitchFamily="34" charset="-122"/>
                <a:cs typeface="Cairo" pitchFamily="34" charset="-120"/>
              </a:rPr>
              <a:t>شكل هندسي متوازن</a:t>
            </a:r>
            <a:endParaRPr lang="ar-SA" sz="1400" dirty="0"/>
          </a:p>
          <a:p>
            <a:pPr rtl="1" algn="ctr" indent="0" marL="0">
              <a:buNone/>
            </a:pPr>
            <a:r>
              <a:rPr lang="ar-SA" altLang="en-US" sz="1400" dirty="0">
                <a:solidFill>
                  <a:srgbClr val="1A2340"/>
                </a:solidFill>
                <a:latin typeface="Cairo" pitchFamily="34" charset="0"/>
                <a:ea typeface="Cairo" pitchFamily="34" charset="-122"/>
                <a:cs typeface="Cairo" pitchFamily="34" charset="-120"/>
              </a:rPr>
              <a:t>بأربع بتلات</a:t>
            </a:r>
            <a:endParaRPr lang="ar-SA" sz="1400" dirty="0"/>
          </a:p>
        </p:txBody>
      </p:sp>
      <p:sp>
        <p:nvSpPr>
          <p:cNvPr id="14" name="anim2_29"/>
          <p:cNvSpPr/>
          <p:nvPr/>
        </p:nvSpPr>
        <p:spPr>
          <a:xfrm>
            <a:off x="6248095" y="1783080"/>
            <a:ext cx="2560320" cy="3840480"/>
          </a:xfrm>
          <a:prstGeom prst="roundRect">
            <a:avLst>
              <a:gd name="adj" fmla="val 6429"/>
            </a:avLst>
          </a:prstGeom>
          <a:solidFill>
            <a:srgbClr val="EEF2FA"/>
          </a:solidFill>
          <a:ln/>
        </p:spPr>
      </p:sp>
      <p:sp>
        <p:nvSpPr>
          <p:cNvPr id="15" name="anim2_30"/>
          <p:cNvSpPr/>
          <p:nvPr/>
        </p:nvSpPr>
        <p:spPr>
          <a:xfrm>
            <a:off x="6751015" y="2103120"/>
            <a:ext cx="1554480" cy="1554480"/>
          </a:xfrm>
          <a:prstGeom prst="ellipse">
            <a:avLst/>
          </a:prstGeom>
          <a:solidFill>
            <a:srgbClr val="FFFFFF"/>
          </a:solidFill>
          <a:ln/>
        </p:spPr>
      </p:sp>
      <p:pic>
        <p:nvPicPr>
          <p:cNvPr id="16" name="anim2_31" descr="نافذة أفراد">    </p:cNvPr>
          <p:cNvPicPr>
            <a:picLocks noChangeAspect="1"/>
          </p:cNvPicPr>
          <p:nvPr/>
        </p:nvPicPr>
        <p:blipFill>
          <a:blip r:embed="rId4"/>
          <a:stretch>
            <a:fillRect/>
          </a:stretch>
        </p:blipFill>
        <p:spPr>
          <a:xfrm>
            <a:off x="7048195" y="2583481"/>
            <a:ext cx="960120" cy="593758"/>
          </a:xfrm>
          <a:prstGeom prst="rect">
            <a:avLst/>
          </a:prstGeom>
        </p:spPr>
      </p:pic>
      <p:sp>
        <p:nvSpPr>
          <p:cNvPr id="17" name="anim2_32"/>
          <p:cNvSpPr txBox="1"/>
          <p:nvPr/>
        </p:nvSpPr>
        <p:spPr>
          <a:xfrm>
            <a:off x="6430975" y="3794760"/>
            <a:ext cx="2194560" cy="502920"/>
          </a:xfrm>
          <a:prstGeom prst="rect">
            <a:avLst/>
          </a:prstGeom>
          <a:noFill/>
          <a:ln/>
        </p:spPr>
        <p:txBody>
          <a:bodyPr wrap="square" lIns="0" tIns="0" rIns="0" bIns="0" rtlCol="0" anchor="t"/>
          <a:lstStyle/>
          <a:p>
            <a:pPr rtl="1" algn="ctr" indent="0" marL="0">
              <a:buNone/>
            </a:pPr>
            <a:r>
              <a:rPr lang="ar-SA" altLang="en-US" sz="2200" b="1" dirty="0">
                <a:solidFill>
                  <a:srgbClr val="052977"/>
                </a:solidFill>
                <a:latin typeface="Cairo" pitchFamily="34" charset="0"/>
                <a:ea typeface="Cairo" pitchFamily="34" charset="-122"/>
                <a:cs typeface="Cairo" pitchFamily="34" charset="-120"/>
              </a:rPr>
              <a:t>رأس الخير</a:t>
            </a:r>
            <a:endParaRPr lang="ar-SA" sz="2200" dirty="0"/>
          </a:p>
        </p:txBody>
      </p:sp>
      <p:sp>
        <p:nvSpPr>
          <p:cNvPr id="18" name="anim2_33"/>
          <p:cNvSpPr txBox="1"/>
          <p:nvPr/>
        </p:nvSpPr>
        <p:spPr>
          <a:xfrm>
            <a:off x="6430975" y="4297680"/>
            <a:ext cx="2194560" cy="320040"/>
          </a:xfrm>
          <a:prstGeom prst="rect">
            <a:avLst/>
          </a:prstGeom>
          <a:noFill/>
          <a:ln/>
        </p:spPr>
        <p:txBody>
          <a:bodyPr wrap="square" lIns="0" tIns="0" rIns="0" bIns="0" rtlCol="0" anchor="t"/>
          <a:lstStyle/>
          <a:p>
            <a:pPr rtl="1" algn="ctr" indent="0" marL="0">
              <a:buNone/>
            </a:pPr>
            <a:r>
              <a:rPr lang="ar-SA" altLang="en-US" sz="1200" dirty="0">
                <a:solidFill>
                  <a:srgbClr val="5B6784"/>
                </a:solidFill>
                <a:latin typeface="Cairo" pitchFamily="34" charset="0"/>
                <a:ea typeface="Cairo" pitchFamily="34" charset="-122"/>
                <a:cs typeface="Cairo" pitchFamily="34" charset="-120"/>
              </a:rPr>
              <a:t>الساحل الشرقي</a:t>
            </a:r>
            <a:endParaRPr lang="ar-SA" sz="1200" dirty="0"/>
          </a:p>
        </p:txBody>
      </p:sp>
      <p:sp>
        <p:nvSpPr>
          <p:cNvPr id="19" name="anim2_34"/>
          <p:cNvSpPr txBox="1"/>
          <p:nvPr/>
        </p:nvSpPr>
        <p:spPr>
          <a:xfrm>
            <a:off x="6476695" y="4663440"/>
            <a:ext cx="2103120" cy="777240"/>
          </a:xfrm>
          <a:prstGeom prst="rect">
            <a:avLst/>
          </a:prstGeom>
          <a:noFill/>
          <a:ln/>
        </p:spPr>
        <p:txBody>
          <a:bodyPr wrap="square" lIns="0" tIns="0" rIns="0" bIns="0" rtlCol="0" anchor="t"/>
          <a:lstStyle/>
          <a:p>
            <a:pPr rtl="1" algn="ctr" indent="0" marL="0">
              <a:buNone/>
            </a:pPr>
            <a:r>
              <a:rPr lang="ar-SA" altLang="en-US" sz="1400" dirty="0">
                <a:solidFill>
                  <a:srgbClr val="1A2340"/>
                </a:solidFill>
                <a:latin typeface="Cairo" pitchFamily="34" charset="0"/>
                <a:ea typeface="Cairo" pitchFamily="34" charset="-122"/>
                <a:cs typeface="Cairo" pitchFamily="34" charset="-120"/>
              </a:rPr>
              <a:t>تكوينات مدببة من الأوراق</a:t>
            </a:r>
            <a:endParaRPr lang="ar-SA" sz="1400" dirty="0"/>
          </a:p>
          <a:p>
            <a:pPr rtl="1" algn="ctr" indent="0" marL="0">
              <a:buNone/>
            </a:pPr>
            <a:r>
              <a:rPr lang="ar-SA" altLang="en-US" sz="1400" dirty="0">
                <a:solidFill>
                  <a:srgbClr val="1A2340"/>
                </a:solidFill>
                <a:latin typeface="Cairo" pitchFamily="34" charset="0"/>
                <a:ea typeface="Cairo" pitchFamily="34" charset="-122"/>
                <a:cs typeface="Cairo" pitchFamily="34" charset="-120"/>
              </a:rPr>
              <a:t>والزخارف التقليدية</a:t>
            </a:r>
            <a:endParaRPr lang="ar-SA" sz="1400" dirty="0"/>
          </a:p>
        </p:txBody>
      </p:sp>
      <p:sp>
        <p:nvSpPr>
          <p:cNvPr id="20" name="anim3_35"/>
          <p:cNvSpPr/>
          <p:nvPr/>
        </p:nvSpPr>
        <p:spPr>
          <a:xfrm>
            <a:off x="3413455" y="1783080"/>
            <a:ext cx="2560320" cy="3840480"/>
          </a:xfrm>
          <a:prstGeom prst="roundRect">
            <a:avLst>
              <a:gd name="adj" fmla="val 6429"/>
            </a:avLst>
          </a:prstGeom>
          <a:solidFill>
            <a:srgbClr val="EEF2FA"/>
          </a:solidFill>
          <a:ln/>
        </p:spPr>
      </p:sp>
      <p:sp>
        <p:nvSpPr>
          <p:cNvPr id="21" name="anim3_36"/>
          <p:cNvSpPr/>
          <p:nvPr/>
        </p:nvSpPr>
        <p:spPr>
          <a:xfrm>
            <a:off x="3916375" y="2103120"/>
            <a:ext cx="1554480" cy="1554480"/>
          </a:xfrm>
          <a:prstGeom prst="ellipse">
            <a:avLst/>
          </a:prstGeom>
          <a:solidFill>
            <a:srgbClr val="FFFFFF"/>
          </a:solidFill>
          <a:ln/>
        </p:spPr>
      </p:sp>
      <p:pic>
        <p:nvPicPr>
          <p:cNvPr id="22" name="anim3_37" descr="نافذة أفراد">    </p:cNvPr>
          <p:cNvPicPr>
            <a:picLocks noChangeAspect="1"/>
          </p:cNvPicPr>
          <p:nvPr/>
        </p:nvPicPr>
        <p:blipFill>
          <a:blip r:embed="rId5"/>
          <a:stretch>
            <a:fillRect/>
          </a:stretch>
        </p:blipFill>
        <p:spPr>
          <a:xfrm>
            <a:off x="4213555" y="2400300"/>
            <a:ext cx="960120" cy="960120"/>
          </a:xfrm>
          <a:prstGeom prst="rect">
            <a:avLst/>
          </a:prstGeom>
        </p:spPr>
      </p:pic>
      <p:sp>
        <p:nvSpPr>
          <p:cNvPr id="23" name="anim3_38"/>
          <p:cNvSpPr txBox="1"/>
          <p:nvPr/>
        </p:nvSpPr>
        <p:spPr>
          <a:xfrm>
            <a:off x="3596335" y="3794760"/>
            <a:ext cx="2194560" cy="502920"/>
          </a:xfrm>
          <a:prstGeom prst="rect">
            <a:avLst/>
          </a:prstGeom>
          <a:noFill/>
          <a:ln/>
        </p:spPr>
        <p:txBody>
          <a:bodyPr wrap="square" lIns="0" tIns="0" rIns="0" bIns="0" rtlCol="0" anchor="t"/>
          <a:lstStyle/>
          <a:p>
            <a:pPr rtl="1" algn="ctr" indent="0" marL="0">
              <a:buNone/>
            </a:pPr>
            <a:r>
              <a:rPr lang="ar-SA" altLang="en-US" sz="2200" b="1" dirty="0">
                <a:solidFill>
                  <a:srgbClr val="052977"/>
                </a:solidFill>
                <a:latin typeface="Cairo" pitchFamily="34" charset="0"/>
                <a:ea typeface="Cairo" pitchFamily="34" charset="-122"/>
                <a:cs typeface="Cairo" pitchFamily="34" charset="-120"/>
              </a:rPr>
              <a:t>ينبع</a:t>
            </a:r>
            <a:endParaRPr lang="ar-SA" sz="2200" dirty="0"/>
          </a:p>
        </p:txBody>
      </p:sp>
      <p:sp>
        <p:nvSpPr>
          <p:cNvPr id="24" name="anim3_39"/>
          <p:cNvSpPr txBox="1"/>
          <p:nvPr/>
        </p:nvSpPr>
        <p:spPr>
          <a:xfrm>
            <a:off x="3596335" y="4297680"/>
            <a:ext cx="2194560" cy="320040"/>
          </a:xfrm>
          <a:prstGeom prst="rect">
            <a:avLst/>
          </a:prstGeom>
          <a:noFill/>
          <a:ln/>
        </p:spPr>
        <p:txBody>
          <a:bodyPr wrap="square" lIns="0" tIns="0" rIns="0" bIns="0" rtlCol="0" anchor="t"/>
          <a:lstStyle/>
          <a:p>
            <a:pPr rtl="1" algn="ctr" indent="0" marL="0">
              <a:buNone/>
            </a:pPr>
            <a:r>
              <a:rPr lang="ar-SA" altLang="en-US" sz="1200" dirty="0">
                <a:solidFill>
                  <a:srgbClr val="5B6784"/>
                </a:solidFill>
                <a:latin typeface="Cairo" pitchFamily="34" charset="0"/>
                <a:ea typeface="Cairo" pitchFamily="34" charset="-122"/>
                <a:cs typeface="Cairo" pitchFamily="34" charset="-120"/>
              </a:rPr>
              <a:t>الساحل الحجازي</a:t>
            </a:r>
            <a:endParaRPr lang="ar-SA" sz="1200" dirty="0"/>
          </a:p>
        </p:txBody>
      </p:sp>
      <p:sp>
        <p:nvSpPr>
          <p:cNvPr id="25" name="anim3_40"/>
          <p:cNvSpPr txBox="1"/>
          <p:nvPr/>
        </p:nvSpPr>
        <p:spPr>
          <a:xfrm>
            <a:off x="3642055" y="4663440"/>
            <a:ext cx="2103120" cy="777240"/>
          </a:xfrm>
          <a:prstGeom prst="rect">
            <a:avLst/>
          </a:prstGeom>
          <a:noFill/>
          <a:ln/>
        </p:spPr>
        <p:txBody>
          <a:bodyPr wrap="square" lIns="0" tIns="0" rIns="0" bIns="0" rtlCol="0" anchor="t"/>
          <a:lstStyle/>
          <a:p>
            <a:pPr rtl="1" algn="ctr" indent="0" marL="0">
              <a:buNone/>
            </a:pPr>
            <a:r>
              <a:rPr lang="ar-SA" altLang="en-US" sz="1400" dirty="0">
                <a:solidFill>
                  <a:srgbClr val="1A2340"/>
                </a:solidFill>
                <a:latin typeface="Cairo" pitchFamily="34" charset="0"/>
                <a:ea typeface="Cairo" pitchFamily="34" charset="-122"/>
                <a:cs typeface="Cairo" pitchFamily="34" charset="-120"/>
              </a:rPr>
              <a:t>نمط زهري هندسي متناظر</a:t>
            </a:r>
            <a:endParaRPr lang="ar-SA" sz="1400" dirty="0"/>
          </a:p>
          <a:p>
            <a:pPr rtl="1" algn="ctr" indent="0" marL="0">
              <a:buNone/>
            </a:pPr>
            <a:r>
              <a:rPr lang="ar-SA" altLang="en-US" sz="1400" dirty="0">
                <a:solidFill>
                  <a:srgbClr val="1A2340"/>
                </a:solidFill>
                <a:latin typeface="Cairo" pitchFamily="34" charset="0"/>
                <a:ea typeface="Cairo" pitchFamily="34" charset="-122"/>
                <a:cs typeface="Cairo" pitchFamily="34" charset="-120"/>
              </a:rPr>
              <a:t>يوحي بالحركة</a:t>
            </a:r>
            <a:endParaRPr lang="ar-SA" sz="1400" dirty="0"/>
          </a:p>
        </p:txBody>
      </p:sp>
      <p:sp>
        <p:nvSpPr>
          <p:cNvPr id="26" name="anim4_41"/>
          <p:cNvSpPr/>
          <p:nvPr/>
        </p:nvSpPr>
        <p:spPr>
          <a:xfrm>
            <a:off x="578815" y="1783080"/>
            <a:ext cx="2560320" cy="3840480"/>
          </a:xfrm>
          <a:prstGeom prst="roundRect">
            <a:avLst>
              <a:gd name="adj" fmla="val 6429"/>
            </a:avLst>
          </a:prstGeom>
          <a:solidFill>
            <a:srgbClr val="EEF2FA"/>
          </a:solidFill>
          <a:ln/>
        </p:spPr>
      </p:sp>
      <p:sp>
        <p:nvSpPr>
          <p:cNvPr id="27" name="anim4_42"/>
          <p:cNvSpPr/>
          <p:nvPr/>
        </p:nvSpPr>
        <p:spPr>
          <a:xfrm>
            <a:off x="1081735" y="2103120"/>
            <a:ext cx="1554480" cy="1554480"/>
          </a:xfrm>
          <a:prstGeom prst="ellipse">
            <a:avLst/>
          </a:prstGeom>
          <a:solidFill>
            <a:srgbClr val="FFFFFF"/>
          </a:solidFill>
          <a:ln/>
        </p:spPr>
      </p:sp>
      <p:pic>
        <p:nvPicPr>
          <p:cNvPr id="28" name="anim4_43" descr="نافذة أفراد">    </p:cNvPr>
          <p:cNvPicPr>
            <a:picLocks noChangeAspect="1"/>
          </p:cNvPicPr>
          <p:nvPr/>
        </p:nvPicPr>
        <p:blipFill>
          <a:blip r:embed="rId6"/>
          <a:stretch>
            <a:fillRect/>
          </a:stretch>
        </p:blipFill>
        <p:spPr>
          <a:xfrm>
            <a:off x="1378915" y="2400300"/>
            <a:ext cx="960120" cy="960120"/>
          </a:xfrm>
          <a:prstGeom prst="rect">
            <a:avLst/>
          </a:prstGeom>
        </p:spPr>
      </p:pic>
      <p:sp>
        <p:nvSpPr>
          <p:cNvPr id="29" name="anim4_44"/>
          <p:cNvSpPr txBox="1"/>
          <p:nvPr/>
        </p:nvSpPr>
        <p:spPr>
          <a:xfrm>
            <a:off x="761695" y="3794760"/>
            <a:ext cx="2194560" cy="502920"/>
          </a:xfrm>
          <a:prstGeom prst="rect">
            <a:avLst/>
          </a:prstGeom>
          <a:noFill/>
          <a:ln/>
        </p:spPr>
        <p:txBody>
          <a:bodyPr wrap="square" lIns="0" tIns="0" rIns="0" bIns="0" rtlCol="0" anchor="t"/>
          <a:lstStyle/>
          <a:p>
            <a:pPr rtl="1" algn="ctr" indent="0" marL="0">
              <a:buNone/>
            </a:pPr>
            <a:r>
              <a:rPr lang="ar-SA" altLang="en-US" sz="2200" b="1" dirty="0">
                <a:solidFill>
                  <a:srgbClr val="052977"/>
                </a:solidFill>
                <a:latin typeface="Cairo" pitchFamily="34" charset="0"/>
                <a:ea typeface="Cairo" pitchFamily="34" charset="-122"/>
                <a:cs typeface="Cairo" pitchFamily="34" charset="-120"/>
              </a:rPr>
              <a:t>جازان</a:t>
            </a:r>
            <a:endParaRPr lang="ar-SA" sz="2200" dirty="0"/>
          </a:p>
        </p:txBody>
      </p:sp>
      <p:sp>
        <p:nvSpPr>
          <p:cNvPr id="30" name="anim4_45"/>
          <p:cNvSpPr txBox="1"/>
          <p:nvPr/>
        </p:nvSpPr>
        <p:spPr>
          <a:xfrm>
            <a:off x="761695" y="4297680"/>
            <a:ext cx="2194560" cy="320040"/>
          </a:xfrm>
          <a:prstGeom prst="rect">
            <a:avLst/>
          </a:prstGeom>
          <a:noFill/>
          <a:ln/>
        </p:spPr>
        <p:txBody>
          <a:bodyPr wrap="square" lIns="0" tIns="0" rIns="0" bIns="0" rtlCol="0" anchor="t"/>
          <a:lstStyle/>
          <a:p>
            <a:pPr rtl="1" algn="ctr" indent="0" marL="0">
              <a:buNone/>
            </a:pPr>
            <a:r>
              <a:rPr lang="ar-SA" altLang="en-US" sz="1200" dirty="0">
                <a:solidFill>
                  <a:srgbClr val="5B6784"/>
                </a:solidFill>
                <a:latin typeface="Cairo" pitchFamily="34" charset="0"/>
                <a:ea typeface="Cairo" pitchFamily="34" charset="-122"/>
                <a:cs typeface="Cairo" pitchFamily="34" charset="-120"/>
              </a:rPr>
              <a:t>ساحل تهامة</a:t>
            </a:r>
            <a:endParaRPr lang="ar-SA" sz="1200" dirty="0"/>
          </a:p>
        </p:txBody>
      </p:sp>
      <p:sp>
        <p:nvSpPr>
          <p:cNvPr id="31" name="anim4_46"/>
          <p:cNvSpPr txBox="1"/>
          <p:nvPr/>
        </p:nvSpPr>
        <p:spPr>
          <a:xfrm>
            <a:off x="807415" y="4663440"/>
            <a:ext cx="2103120" cy="777240"/>
          </a:xfrm>
          <a:prstGeom prst="rect">
            <a:avLst/>
          </a:prstGeom>
          <a:noFill/>
          <a:ln/>
        </p:spPr>
        <p:txBody>
          <a:bodyPr wrap="square" lIns="0" tIns="0" rIns="0" bIns="0" rtlCol="0" anchor="t"/>
          <a:lstStyle/>
          <a:p>
            <a:pPr rtl="1" algn="ctr" indent="0" marL="0">
              <a:buNone/>
            </a:pPr>
            <a:r>
              <a:rPr lang="ar-SA" altLang="en-US" sz="1400" dirty="0">
                <a:solidFill>
                  <a:srgbClr val="1A2340"/>
                </a:solidFill>
                <a:latin typeface="Cairo" pitchFamily="34" charset="0"/>
                <a:ea typeface="Cairo" pitchFamily="34" charset="-122"/>
                <a:cs typeface="Cairo" pitchFamily="34" charset="-120"/>
              </a:rPr>
              <a:t>أشكال ماسية متداخلة</a:t>
            </a:r>
            <a:endParaRPr lang="ar-SA" sz="1400" dirty="0"/>
          </a:p>
          <a:p>
            <a:pPr rtl="1" algn="ctr" indent="0" marL="0">
              <a:buNone/>
            </a:pPr>
            <a:r>
              <a:rPr lang="ar-SA" altLang="en-US" sz="1400" dirty="0">
                <a:solidFill>
                  <a:srgbClr val="1A2340"/>
                </a:solidFill>
                <a:latin typeface="Cairo" pitchFamily="34" charset="0"/>
                <a:ea typeface="Cairo" pitchFamily="34" charset="-122"/>
                <a:cs typeface="Cairo" pitchFamily="34" charset="-120"/>
              </a:rPr>
              <a:t>وزخارف نباتية</a:t>
            </a:r>
            <a:endParaRPr lang="ar-SA" sz="1400" dirty="0"/>
          </a:p>
        </p:txBody>
      </p:sp>
      <p:sp>
        <p:nvSpPr>
          <p:cNvPr id="32" name="anim5_47"/>
          <p:cNvSpPr txBox="1"/>
          <p:nvPr/>
        </p:nvSpPr>
        <p:spPr>
          <a:xfrm>
            <a:off x="2377440" y="5760720"/>
            <a:ext cx="9265615" cy="320040"/>
          </a:xfrm>
          <a:prstGeom prst="rect">
            <a:avLst/>
          </a:prstGeom>
          <a:noFill/>
          <a:ln/>
        </p:spPr>
        <p:txBody>
          <a:bodyPr wrap="square" lIns="0" tIns="0" rIns="0" bIns="0" rtlCol="0" anchor="t"/>
          <a:lstStyle/>
          <a:p>
            <a:pPr rtl="1" algn="r" indent="0" marL="0">
              <a:buNone/>
            </a:pPr>
            <a:r>
              <a:rPr lang="ar-SA" altLang="en-US" sz="1100" dirty="0">
                <a:solidFill>
                  <a:srgbClr val="5B6784"/>
                </a:solidFill>
                <a:latin typeface="Cairo" pitchFamily="34" charset="0"/>
                <a:ea typeface="Cairo" pitchFamily="34" charset="-122"/>
                <a:cs typeface="Cairo" pitchFamily="34" charset="-120"/>
              </a:rPr>
              <a:t>المرجع المعماري: دليل العمارة السعودية (الساحل الشرقي، الساحل الحجازي، ساحل تهامة)</a:t>
            </a:r>
            <a:endParaRPr lang="ar-SA"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3" fill="hold">
                      <p:stCondLst>
                        <p:cond delay="indefinite"/>
                        <p:cond evt="onBegin" delay="0">
                          <p:tn val="2"/>
                        </p:cond>
                      </p:stCondLst>
                      <p:childTnLst>
                        <p:par>
                          <p:cTn id="21"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5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450"/>
                                        <p:tgtEl>
                                          <p:spTgt spid="1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50"/>
                                        <p:tgtEl>
                                          <p:spTgt spid="13"/>
                                        </p:tgtEl>
                                      </p:cBhvr>
                                    </p:animEffect>
                                  </p:childTnLst>
                                </p:cTn>
                              </p:par>
                            </p:childTnLst>
                          </p:cTn>
                        </p:par>
                        <p:par>
                          <p:cTn id="40" fill="hold">
                            <p:stCondLst>
                              <p:cond delay="700"/>
                            </p:stCondLst>
                            <p:childTnLst>
                              <p:par>
                                <p:cTn id="22" presetID="10" presetClass="entr" presetSubtype="0"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5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50"/>
                                        <p:tgtEl>
                                          <p:spTgt spid="1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450"/>
                                        <p:tgtEl>
                                          <p:spTgt spid="1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450"/>
                                        <p:tgtEl>
                                          <p:spTgt spid="19"/>
                                        </p:tgtEl>
                                      </p:cBhvr>
                                    </p:animEffect>
                                  </p:childTnLst>
                                </p:cTn>
                              </p:par>
                            </p:childTnLst>
                          </p:cTn>
                        </p:par>
                        <p:par>
                          <p:cTn id="59" fill="hold">
                            <p:stCondLst>
                              <p:cond delay="1400"/>
                            </p:stCondLst>
                            <p:childTnLst>
                              <p:par>
                                <p:cTn id="41" presetID="10" presetClass="entr" presetSubtype="0" fill="hold" grpId="0" nodeType="after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50"/>
                                        <p:tgtEl>
                                          <p:spTgt spid="2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450"/>
                                        <p:tgtEl>
                                          <p:spTgt spid="21"/>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450"/>
                                        <p:tgtEl>
                                          <p:spTgt spid="2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fade">
                                      <p:cBhvr>
                                        <p:cTn id="52" dur="450"/>
                                        <p:tgtEl>
                                          <p:spTgt spid="23"/>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450"/>
                                        <p:tgtEl>
                                          <p:spTgt spid="24"/>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5"/>
                                        </p:tgtEl>
                                        <p:attrNameLst>
                                          <p:attrName>style.visibility</p:attrName>
                                        </p:attrNameLst>
                                      </p:cBhvr>
                                      <p:to>
                                        <p:strVal val="visible"/>
                                      </p:to>
                                    </p:set>
                                    <p:animEffect transition="in" filter="fade">
                                      <p:cBhvr>
                                        <p:cTn id="58" dur="450"/>
                                        <p:tgtEl>
                                          <p:spTgt spid="25"/>
                                        </p:tgtEl>
                                      </p:cBhvr>
                                    </p:animEffect>
                                  </p:childTnLst>
                                </p:cTn>
                              </p:par>
                            </p:childTnLst>
                          </p:cTn>
                        </p:par>
                        <p:par>
                          <p:cTn id="78" fill="hold">
                            <p:stCondLst>
                              <p:cond delay="2100"/>
                            </p:stCondLst>
                            <p:childTnLst>
                              <p:par>
                                <p:cTn id="60" presetID="10" presetClass="entr" presetSubtype="0"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450"/>
                                        <p:tgtEl>
                                          <p:spTgt spid="26"/>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450"/>
                                        <p:tgtEl>
                                          <p:spTgt spid="27"/>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450"/>
                                        <p:tgtEl>
                                          <p:spTgt spid="28"/>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450"/>
                                        <p:tgtEl>
                                          <p:spTgt spid="29"/>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0"/>
                                        </p:tgtEl>
                                        <p:attrNameLst>
                                          <p:attrName>style.visibility</p:attrName>
                                        </p:attrNameLst>
                                      </p:cBhvr>
                                      <p:to>
                                        <p:strVal val="visible"/>
                                      </p:to>
                                    </p:set>
                                    <p:animEffect transition="in" filter="fade">
                                      <p:cBhvr>
                                        <p:cTn id="74" dur="450"/>
                                        <p:tgtEl>
                                          <p:spTgt spid="30"/>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450"/>
                                        <p:tgtEl>
                                          <p:spTgt spid="31"/>
                                        </p:tgtEl>
                                      </p:cBhvr>
                                    </p:animEffect>
                                  </p:childTnLst>
                                </p:cTn>
                              </p:par>
                            </p:childTnLst>
                          </p:cTn>
                        </p:par>
                        <p:par>
                          <p:cTn id="82" fill="hold">
                            <p:stCondLst>
                              <p:cond delay="2800"/>
                            </p:stCondLst>
                            <p:childTnLst>
                              <p:par>
                                <p:cTn id="79" presetID="10" presetClass="entr" presetSubtype="0" fill="hold" grpId="0" nodeType="after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45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2" grpId="0" animBg="1"/>
      <p:bldP spid="13" grpId="0" animBg="1"/>
      <p:bldP spid="14" grpId="0" animBg="1"/>
      <p:bldP spid="15" grpId="0" animBg="1"/>
      <p:bldP spid="17" grpId="0" animBg="1"/>
      <p:bldP spid="18" grpId="0" animBg="1"/>
      <p:bldP spid="19" grpId="0" animBg="1"/>
      <p:bldP spid="20" grpId="0" animBg="1"/>
      <p:bldP spid="21" grpId="0" animBg="1"/>
      <p:bldP spid="23" grpId="0" animBg="1"/>
      <p:bldP spid="24" grpId="0" animBg="1"/>
      <p:bldP spid="25" grpId="0" animBg="1"/>
      <p:bldP spid="26" grpId="0" animBg="1"/>
      <p:bldP spid="27" grpId="0" animBg="1"/>
      <p:bldP spid="29" grpId="0" animBg="1"/>
      <p:bldP spid="30" grpId="0" animBg="1"/>
      <p:bldP spid="31" grpId="0" animBg="1"/>
      <p:bldP spid="32"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الهوية</a:t>
            </a:r>
            <a:endParaRPr lang="ar-SA" sz="1400" dirty="0"/>
          </a:p>
        </p:txBody>
      </p:sp>
      <p:sp>
        <p:nvSpPr>
          <p:cNvPr id="4" name="Text 1"/>
          <p:cNvSpPr txBox="1"/>
          <p:nvPr/>
        </p:nvSpPr>
        <p:spPr>
          <a:xfrm>
            <a:off x="2926080" y="731520"/>
            <a:ext cx="8716975" cy="777240"/>
          </a:xfrm>
          <a:prstGeom prst="rect">
            <a:avLst/>
          </a:prstGeom>
          <a:noFill/>
          <a:ln/>
        </p:spPr>
        <p:txBody>
          <a:bodyPr wrap="square" lIns="0" tIns="0" rIns="0" bIns="0" rtlCol="0" anchor="t"/>
          <a:lstStyle/>
          <a:p>
            <a:pPr rtl="1" algn="r" indent="0" marL="0">
              <a:buNone/>
            </a:pPr>
            <a:r>
              <a:rPr lang="ar-SA" altLang="en-US" sz="3200" b="1" dirty="0">
                <a:solidFill>
                  <a:srgbClr val="052977"/>
                </a:solidFill>
                <a:latin typeface="Cairo" pitchFamily="34" charset="0"/>
                <a:ea typeface="Cairo" pitchFamily="34" charset="-122"/>
                <a:cs typeface="Cairo" pitchFamily="34" charset="-120"/>
              </a:rPr>
              <a:t>من أربعة أنماط إلى نمط واحد</a:t>
            </a:r>
            <a:endParaRPr lang="ar-SA" sz="32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146304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4</a:t>
            </a:r>
            <a:endParaRPr lang="ar-SA" sz="1100" dirty="0"/>
          </a:p>
        </p:txBody>
      </p:sp>
      <p:sp>
        <p:nvSpPr>
          <p:cNvPr id="8" name="anim1_48"/>
          <p:cNvSpPr/>
          <p:nvPr/>
        </p:nvSpPr>
        <p:spPr>
          <a:xfrm>
            <a:off x="4640580" y="1851660"/>
            <a:ext cx="960120" cy="960120"/>
          </a:xfrm>
          <a:prstGeom prst="ellipse">
            <a:avLst/>
          </a:prstGeom>
          <a:solidFill>
            <a:srgbClr val="EEF2FA"/>
          </a:solidFill>
          <a:ln/>
        </p:spPr>
      </p:sp>
      <p:pic>
        <p:nvPicPr>
          <p:cNvPr id="9" name="anim1_49" descr="نافذة أفراد">    </p:cNvPr>
          <p:cNvPicPr>
            <a:picLocks noChangeAspect="1"/>
          </p:cNvPicPr>
          <p:nvPr/>
        </p:nvPicPr>
        <p:blipFill>
          <a:blip r:embed="rId3"/>
          <a:stretch>
            <a:fillRect/>
          </a:stretch>
        </p:blipFill>
        <p:spPr>
          <a:xfrm>
            <a:off x="4837176" y="2050158"/>
            <a:ext cx="566928" cy="563123"/>
          </a:xfrm>
          <a:prstGeom prst="rect">
            <a:avLst/>
          </a:prstGeom>
        </p:spPr>
      </p:pic>
      <p:sp>
        <p:nvSpPr>
          <p:cNvPr id="10" name="anim1_50"/>
          <p:cNvSpPr txBox="1"/>
          <p:nvPr/>
        </p:nvSpPr>
        <p:spPr>
          <a:xfrm>
            <a:off x="4389120" y="2830068"/>
            <a:ext cx="1463040" cy="292608"/>
          </a:xfrm>
          <a:prstGeom prst="rect">
            <a:avLst/>
          </a:prstGeom>
          <a:noFill/>
          <a:ln/>
        </p:spPr>
        <p:txBody>
          <a:bodyPr wrap="square" lIns="0" tIns="0" rIns="0" bIns="0" rtlCol="0" anchor="t"/>
          <a:lstStyle/>
          <a:p>
            <a:pPr rtl="1" algn="ctr" indent="0" marL="0">
              <a:buNone/>
            </a:pPr>
            <a:r>
              <a:rPr lang="ar-SA" altLang="en-US" sz="1200" b="1" dirty="0">
                <a:solidFill>
                  <a:srgbClr val="052977"/>
                </a:solidFill>
                <a:latin typeface="Cairo" pitchFamily="34" charset="0"/>
                <a:ea typeface="Cairo" pitchFamily="34" charset="-122"/>
                <a:cs typeface="Cairo" pitchFamily="34" charset="-120"/>
              </a:rPr>
              <a:t>الجبيل</a:t>
            </a:r>
            <a:endParaRPr lang="ar-SA" sz="1200" dirty="0"/>
          </a:p>
        </p:txBody>
      </p:sp>
      <p:sp>
        <p:nvSpPr>
          <p:cNvPr id="11" name="anim2_51"/>
          <p:cNvSpPr/>
          <p:nvPr/>
        </p:nvSpPr>
        <p:spPr>
          <a:xfrm flipH="1">
            <a:off x="4033418" y="2785262"/>
            <a:ext cx="487375" cy="368503"/>
          </a:xfrm>
          <a:prstGeom prst="line">
            <a:avLst/>
          </a:prstGeom>
          <a:noFill/>
          <a:ln w="15875">
            <a:solidFill>
              <a:srgbClr val="052977"/>
            </a:solidFill>
            <a:prstDash val="solid"/>
            <a:tailEnd type="triangle"/>
          </a:ln>
        </p:spPr>
      </p:sp>
      <p:sp>
        <p:nvSpPr>
          <p:cNvPr id="12" name="anim1_52"/>
          <p:cNvSpPr/>
          <p:nvPr/>
        </p:nvSpPr>
        <p:spPr>
          <a:xfrm>
            <a:off x="891540" y="1851660"/>
            <a:ext cx="960120" cy="960120"/>
          </a:xfrm>
          <a:prstGeom prst="ellipse">
            <a:avLst/>
          </a:prstGeom>
          <a:solidFill>
            <a:srgbClr val="EEF2FA"/>
          </a:solidFill>
          <a:ln/>
        </p:spPr>
      </p:sp>
      <p:pic>
        <p:nvPicPr>
          <p:cNvPr id="13" name="anim1_53" descr="نافذة أفراد">    </p:cNvPr>
          <p:cNvPicPr>
            <a:picLocks noChangeAspect="1"/>
          </p:cNvPicPr>
          <p:nvPr/>
        </p:nvPicPr>
        <p:blipFill>
          <a:blip r:embed="rId4"/>
          <a:stretch>
            <a:fillRect/>
          </a:stretch>
        </p:blipFill>
        <p:spPr>
          <a:xfrm>
            <a:off x="1088136" y="2156420"/>
            <a:ext cx="566928" cy="350600"/>
          </a:xfrm>
          <a:prstGeom prst="rect">
            <a:avLst/>
          </a:prstGeom>
        </p:spPr>
      </p:pic>
      <p:sp>
        <p:nvSpPr>
          <p:cNvPr id="14" name="anim1_54"/>
          <p:cNvSpPr txBox="1"/>
          <p:nvPr/>
        </p:nvSpPr>
        <p:spPr>
          <a:xfrm>
            <a:off x="640080" y="2830068"/>
            <a:ext cx="1463040" cy="292608"/>
          </a:xfrm>
          <a:prstGeom prst="rect">
            <a:avLst/>
          </a:prstGeom>
          <a:noFill/>
          <a:ln/>
        </p:spPr>
        <p:txBody>
          <a:bodyPr wrap="square" lIns="0" tIns="0" rIns="0" bIns="0" rtlCol="0" anchor="t"/>
          <a:lstStyle/>
          <a:p>
            <a:pPr rtl="1" algn="ctr" indent="0" marL="0">
              <a:buNone/>
            </a:pPr>
            <a:r>
              <a:rPr lang="ar-SA" altLang="en-US" sz="1200" b="1" dirty="0">
                <a:solidFill>
                  <a:srgbClr val="052977"/>
                </a:solidFill>
                <a:latin typeface="Cairo" pitchFamily="34" charset="0"/>
                <a:ea typeface="Cairo" pitchFamily="34" charset="-122"/>
                <a:cs typeface="Cairo" pitchFamily="34" charset="-120"/>
              </a:rPr>
              <a:t>رأس الخير</a:t>
            </a:r>
            <a:endParaRPr lang="ar-SA" sz="1200" dirty="0"/>
          </a:p>
        </p:txBody>
      </p:sp>
      <p:sp>
        <p:nvSpPr>
          <p:cNvPr id="15" name="anim2_55"/>
          <p:cNvSpPr/>
          <p:nvPr/>
        </p:nvSpPr>
        <p:spPr>
          <a:xfrm>
            <a:off x="1971446" y="2785262"/>
            <a:ext cx="487375" cy="368503"/>
          </a:xfrm>
          <a:prstGeom prst="line">
            <a:avLst/>
          </a:prstGeom>
          <a:noFill/>
          <a:ln w="15875">
            <a:solidFill>
              <a:srgbClr val="052977"/>
            </a:solidFill>
            <a:prstDash val="solid"/>
            <a:tailEnd type="triangle"/>
          </a:ln>
        </p:spPr>
      </p:sp>
      <p:sp>
        <p:nvSpPr>
          <p:cNvPr id="16" name="anim1_56"/>
          <p:cNvSpPr/>
          <p:nvPr/>
        </p:nvSpPr>
        <p:spPr>
          <a:xfrm>
            <a:off x="4640580" y="4503420"/>
            <a:ext cx="960120" cy="960120"/>
          </a:xfrm>
          <a:prstGeom prst="ellipse">
            <a:avLst/>
          </a:prstGeom>
          <a:solidFill>
            <a:srgbClr val="EEF2FA"/>
          </a:solidFill>
          <a:ln/>
        </p:spPr>
      </p:sp>
      <p:pic>
        <p:nvPicPr>
          <p:cNvPr id="17" name="anim1_57" descr="نافذة أفراد">    </p:cNvPr>
          <p:cNvPicPr>
            <a:picLocks noChangeAspect="1"/>
          </p:cNvPicPr>
          <p:nvPr/>
        </p:nvPicPr>
        <p:blipFill>
          <a:blip r:embed="rId5"/>
          <a:stretch>
            <a:fillRect/>
          </a:stretch>
        </p:blipFill>
        <p:spPr>
          <a:xfrm>
            <a:off x="4837176" y="4700016"/>
            <a:ext cx="566928" cy="566928"/>
          </a:xfrm>
          <a:prstGeom prst="rect">
            <a:avLst/>
          </a:prstGeom>
        </p:spPr>
      </p:pic>
      <p:sp>
        <p:nvSpPr>
          <p:cNvPr id="18" name="anim1_58"/>
          <p:cNvSpPr txBox="1"/>
          <p:nvPr/>
        </p:nvSpPr>
        <p:spPr>
          <a:xfrm>
            <a:off x="4389120" y="5481828"/>
            <a:ext cx="1463040" cy="292608"/>
          </a:xfrm>
          <a:prstGeom prst="rect">
            <a:avLst/>
          </a:prstGeom>
          <a:noFill/>
          <a:ln/>
        </p:spPr>
        <p:txBody>
          <a:bodyPr wrap="square" lIns="0" tIns="0" rIns="0" bIns="0" rtlCol="0" anchor="t"/>
          <a:lstStyle/>
          <a:p>
            <a:pPr rtl="1" algn="ctr" indent="0" marL="0">
              <a:buNone/>
            </a:pPr>
            <a:r>
              <a:rPr lang="ar-SA" altLang="en-US" sz="1200" b="1" dirty="0">
                <a:solidFill>
                  <a:srgbClr val="052977"/>
                </a:solidFill>
                <a:latin typeface="Cairo" pitchFamily="34" charset="0"/>
                <a:ea typeface="Cairo" pitchFamily="34" charset="-122"/>
                <a:cs typeface="Cairo" pitchFamily="34" charset="-120"/>
              </a:rPr>
              <a:t>ينبع</a:t>
            </a:r>
            <a:endParaRPr lang="ar-SA" sz="1200" dirty="0"/>
          </a:p>
        </p:txBody>
      </p:sp>
      <p:sp>
        <p:nvSpPr>
          <p:cNvPr id="19" name="anim2_59"/>
          <p:cNvSpPr/>
          <p:nvPr/>
        </p:nvSpPr>
        <p:spPr>
          <a:xfrm flipH="1" flipV="1">
            <a:off x="4033418" y="4267505"/>
            <a:ext cx="487375" cy="320954"/>
          </a:xfrm>
          <a:prstGeom prst="line">
            <a:avLst/>
          </a:prstGeom>
          <a:noFill/>
          <a:ln w="15875">
            <a:solidFill>
              <a:srgbClr val="052977"/>
            </a:solidFill>
            <a:prstDash val="solid"/>
            <a:tailEnd type="triangle"/>
          </a:ln>
        </p:spPr>
      </p:sp>
      <p:sp>
        <p:nvSpPr>
          <p:cNvPr id="20" name="anim1_60"/>
          <p:cNvSpPr/>
          <p:nvPr/>
        </p:nvSpPr>
        <p:spPr>
          <a:xfrm>
            <a:off x="891540" y="4503420"/>
            <a:ext cx="960120" cy="960120"/>
          </a:xfrm>
          <a:prstGeom prst="ellipse">
            <a:avLst/>
          </a:prstGeom>
          <a:solidFill>
            <a:srgbClr val="EEF2FA"/>
          </a:solidFill>
          <a:ln/>
        </p:spPr>
      </p:sp>
      <p:pic>
        <p:nvPicPr>
          <p:cNvPr id="21" name="anim1_61" descr="نافذة أفراد">    </p:cNvPr>
          <p:cNvPicPr>
            <a:picLocks noChangeAspect="1"/>
          </p:cNvPicPr>
          <p:nvPr/>
        </p:nvPicPr>
        <p:blipFill>
          <a:blip r:embed="rId6"/>
          <a:stretch>
            <a:fillRect/>
          </a:stretch>
        </p:blipFill>
        <p:spPr>
          <a:xfrm>
            <a:off x="1088136" y="4700016"/>
            <a:ext cx="566928" cy="566928"/>
          </a:xfrm>
          <a:prstGeom prst="rect">
            <a:avLst/>
          </a:prstGeom>
        </p:spPr>
      </p:pic>
      <p:sp>
        <p:nvSpPr>
          <p:cNvPr id="22" name="anim1_62"/>
          <p:cNvSpPr txBox="1"/>
          <p:nvPr/>
        </p:nvSpPr>
        <p:spPr>
          <a:xfrm>
            <a:off x="640080" y="5481828"/>
            <a:ext cx="1463040" cy="292608"/>
          </a:xfrm>
          <a:prstGeom prst="rect">
            <a:avLst/>
          </a:prstGeom>
          <a:noFill/>
          <a:ln/>
        </p:spPr>
        <p:txBody>
          <a:bodyPr wrap="square" lIns="0" tIns="0" rIns="0" bIns="0" rtlCol="0" anchor="t"/>
          <a:lstStyle/>
          <a:p>
            <a:pPr rtl="1" algn="ctr" indent="0" marL="0">
              <a:buNone/>
            </a:pPr>
            <a:r>
              <a:rPr lang="ar-SA" altLang="en-US" sz="1200" b="1" dirty="0">
                <a:solidFill>
                  <a:srgbClr val="052977"/>
                </a:solidFill>
                <a:latin typeface="Cairo" pitchFamily="34" charset="0"/>
                <a:ea typeface="Cairo" pitchFamily="34" charset="-122"/>
                <a:cs typeface="Cairo" pitchFamily="34" charset="-120"/>
              </a:rPr>
              <a:t>جازان</a:t>
            </a:r>
            <a:endParaRPr lang="ar-SA" sz="1200" dirty="0"/>
          </a:p>
        </p:txBody>
      </p:sp>
      <p:sp>
        <p:nvSpPr>
          <p:cNvPr id="23" name="anim2_63"/>
          <p:cNvSpPr/>
          <p:nvPr/>
        </p:nvSpPr>
        <p:spPr>
          <a:xfrm flipV="1">
            <a:off x="1971446" y="4267505"/>
            <a:ext cx="487375" cy="320954"/>
          </a:xfrm>
          <a:prstGeom prst="line">
            <a:avLst/>
          </a:prstGeom>
          <a:noFill/>
          <a:ln w="15875">
            <a:solidFill>
              <a:srgbClr val="052977"/>
            </a:solidFill>
            <a:prstDash val="solid"/>
            <a:tailEnd type="triangle"/>
          </a:ln>
        </p:spPr>
      </p:sp>
      <p:pic>
        <p:nvPicPr>
          <p:cNvPr id="24" name="anim3_64" descr="نافذة أفراد">    </p:cNvPr>
          <p:cNvPicPr>
            <a:picLocks noChangeAspect="1"/>
          </p:cNvPicPr>
          <p:nvPr/>
        </p:nvPicPr>
        <p:blipFill>
          <a:blip r:embed="rId7"/>
          <a:stretch>
            <a:fillRect/>
          </a:stretch>
        </p:blipFill>
        <p:spPr>
          <a:xfrm>
            <a:off x="2446020" y="2941666"/>
            <a:ext cx="1600200" cy="1614747"/>
          </a:xfrm>
          <a:prstGeom prst="rect">
            <a:avLst/>
          </a:prstGeom>
        </p:spPr>
      </p:pic>
      <p:sp>
        <p:nvSpPr>
          <p:cNvPr id="25" name="anim4_65"/>
          <p:cNvSpPr/>
          <p:nvPr/>
        </p:nvSpPr>
        <p:spPr>
          <a:xfrm>
            <a:off x="10984687" y="1783080"/>
            <a:ext cx="658368" cy="658368"/>
          </a:xfrm>
          <a:prstGeom prst="ellipse">
            <a:avLst/>
          </a:prstGeom>
          <a:solidFill>
            <a:srgbClr val="EEF2FA"/>
          </a:solidFill>
          <a:ln/>
        </p:spPr>
      </p:sp>
      <p:pic>
        <p:nvPicPr>
          <p:cNvPr id="26" name="anim4_66" descr="نافذة أفراد">    </p:cNvPr>
          <p:cNvPicPr>
            <a:picLocks noChangeAspect="1"/>
          </p:cNvPicPr>
          <p:nvPr/>
        </p:nvPicPr>
        <p:blipFill>
          <a:blip r:embed="rId8"/>
          <a:stretch>
            <a:fillRect/>
          </a:stretch>
        </p:blipFill>
        <p:spPr>
          <a:xfrm>
            <a:off x="11155863" y="1954256"/>
            <a:ext cx="316017" cy="316017"/>
          </a:xfrm>
          <a:prstGeom prst="rect">
            <a:avLst/>
          </a:prstGeom>
        </p:spPr>
      </p:pic>
      <p:sp>
        <p:nvSpPr>
          <p:cNvPr id="27" name="anim4_67"/>
          <p:cNvSpPr txBox="1"/>
          <p:nvPr/>
        </p:nvSpPr>
        <p:spPr>
          <a:xfrm>
            <a:off x="6400800" y="1746504"/>
            <a:ext cx="4373575" cy="365760"/>
          </a:xfrm>
          <a:prstGeom prst="rect">
            <a:avLst/>
          </a:prstGeom>
          <a:noFill/>
          <a:ln/>
        </p:spPr>
        <p:txBody>
          <a:bodyPr wrap="square" lIns="0" tIns="0" rIns="0" bIns="0" rtlCol="0" anchor="t"/>
          <a:lstStyle/>
          <a:p>
            <a:pPr rtl="1" algn="r" indent="0" marL="0">
              <a:buNone/>
            </a:pPr>
            <a:r>
              <a:rPr lang="ar-SA" altLang="en-US" sz="1800" b="1" dirty="0">
                <a:solidFill>
                  <a:srgbClr val="1A2340"/>
                </a:solidFill>
                <a:latin typeface="Cairo" pitchFamily="34" charset="0"/>
                <a:ea typeface="Cairo" pitchFamily="34" charset="-122"/>
                <a:cs typeface="Cairo" pitchFamily="34" charset="-120"/>
              </a:rPr>
              <a:t>الدمج</a:t>
            </a:r>
            <a:endParaRPr lang="ar-SA" sz="1800" dirty="0"/>
          </a:p>
        </p:txBody>
      </p:sp>
      <p:sp>
        <p:nvSpPr>
          <p:cNvPr id="28" name="anim4_68"/>
          <p:cNvSpPr txBox="1"/>
          <p:nvPr/>
        </p:nvSpPr>
        <p:spPr>
          <a:xfrm>
            <a:off x="6400800" y="2112264"/>
            <a:ext cx="4373575" cy="329184"/>
          </a:xfrm>
          <a:prstGeom prst="rect">
            <a:avLst/>
          </a:prstGeom>
          <a:noFill/>
          <a:ln/>
        </p:spPr>
        <p:txBody>
          <a:bodyPr wrap="square" lIns="0" tIns="0" rIns="0" bIns="0" rtlCol="0" anchor="t"/>
          <a:lstStyle/>
          <a:p>
            <a:pPr rtl="1" algn="r" indent="0" marL="0">
              <a:buNone/>
            </a:pPr>
            <a:r>
              <a:rPr lang="ar-SA" altLang="en-US" sz="1400" dirty="0">
                <a:solidFill>
                  <a:srgbClr val="5B6784"/>
                </a:solidFill>
                <a:latin typeface="Cairo" pitchFamily="34" charset="0"/>
                <a:ea typeface="Cairo" pitchFamily="34" charset="-122"/>
                <a:cs typeface="Cairo" pitchFamily="34" charset="-120"/>
              </a:rPr>
              <a:t>بسّطنا أبرز عناصر كل نمط ودمجناها في زخرفة واحدة</a:t>
            </a:r>
            <a:endParaRPr lang="ar-SA" sz="1400" dirty="0"/>
          </a:p>
        </p:txBody>
      </p:sp>
      <p:sp>
        <p:nvSpPr>
          <p:cNvPr id="29" name="anim5_69"/>
          <p:cNvSpPr/>
          <p:nvPr/>
        </p:nvSpPr>
        <p:spPr>
          <a:xfrm>
            <a:off x="10984687" y="2770632"/>
            <a:ext cx="658368" cy="658368"/>
          </a:xfrm>
          <a:prstGeom prst="ellipse">
            <a:avLst/>
          </a:prstGeom>
          <a:solidFill>
            <a:srgbClr val="EEF2FA"/>
          </a:solidFill>
          <a:ln/>
        </p:spPr>
      </p:sp>
      <p:pic>
        <p:nvPicPr>
          <p:cNvPr id="30" name="anim5_70" descr="نافذة أفراد">    </p:cNvPr>
          <p:cNvPicPr>
            <a:picLocks noChangeAspect="1"/>
          </p:cNvPicPr>
          <p:nvPr/>
        </p:nvPicPr>
        <p:blipFill>
          <a:blip r:embed="rId9"/>
          <a:stretch>
            <a:fillRect/>
          </a:stretch>
        </p:blipFill>
        <p:spPr>
          <a:xfrm>
            <a:off x="11155863" y="2941808"/>
            <a:ext cx="316017" cy="316017"/>
          </a:xfrm>
          <a:prstGeom prst="rect">
            <a:avLst/>
          </a:prstGeom>
        </p:spPr>
      </p:pic>
      <p:sp>
        <p:nvSpPr>
          <p:cNvPr id="31" name="anim5_71"/>
          <p:cNvSpPr txBox="1"/>
          <p:nvPr/>
        </p:nvSpPr>
        <p:spPr>
          <a:xfrm>
            <a:off x="6400800" y="2734056"/>
            <a:ext cx="4373575" cy="365760"/>
          </a:xfrm>
          <a:prstGeom prst="rect">
            <a:avLst/>
          </a:prstGeom>
          <a:noFill/>
          <a:ln/>
        </p:spPr>
        <p:txBody>
          <a:bodyPr wrap="square" lIns="0" tIns="0" rIns="0" bIns="0" rtlCol="0" anchor="t"/>
          <a:lstStyle/>
          <a:p>
            <a:pPr rtl="1" algn="r" indent="0" marL="0">
              <a:buNone/>
            </a:pPr>
            <a:r>
              <a:rPr lang="ar-SA" altLang="en-US" sz="1800" b="1" dirty="0">
                <a:solidFill>
                  <a:srgbClr val="1A2340"/>
                </a:solidFill>
                <a:latin typeface="Cairo" pitchFamily="34" charset="0"/>
                <a:ea typeface="Cairo" pitchFamily="34" charset="-122"/>
                <a:cs typeface="Cairo" pitchFamily="34" charset="-120"/>
              </a:rPr>
              <a:t>المركز</a:t>
            </a:r>
            <a:endParaRPr lang="ar-SA" sz="1800" dirty="0"/>
          </a:p>
        </p:txBody>
      </p:sp>
      <p:sp>
        <p:nvSpPr>
          <p:cNvPr id="32" name="anim5_72"/>
          <p:cNvSpPr txBox="1"/>
          <p:nvPr/>
        </p:nvSpPr>
        <p:spPr>
          <a:xfrm>
            <a:off x="6400800" y="3099816"/>
            <a:ext cx="4373575" cy="329184"/>
          </a:xfrm>
          <a:prstGeom prst="rect">
            <a:avLst/>
          </a:prstGeom>
          <a:noFill/>
          <a:ln/>
        </p:spPr>
        <p:txBody>
          <a:bodyPr wrap="square" lIns="0" tIns="0" rIns="0" bIns="0" rtlCol="0" anchor="t"/>
          <a:lstStyle/>
          <a:p>
            <a:pPr rtl="1" algn="r" indent="0" marL="0">
              <a:buNone/>
            </a:pPr>
            <a:r>
              <a:rPr lang="ar-SA" altLang="en-US" sz="1400" dirty="0">
                <a:solidFill>
                  <a:srgbClr val="5B6784"/>
                </a:solidFill>
                <a:latin typeface="Cairo" pitchFamily="34" charset="0"/>
                <a:ea typeface="Cairo" pitchFamily="34" charset="-122"/>
                <a:cs typeface="Cairo" pitchFamily="34" charset="-120"/>
              </a:rPr>
              <a:t>مساحة مفتوحة على شكل مُعيّن تمثل النافذة</a:t>
            </a:r>
            <a:endParaRPr lang="ar-SA" sz="1400" dirty="0"/>
          </a:p>
        </p:txBody>
      </p:sp>
      <p:sp>
        <p:nvSpPr>
          <p:cNvPr id="33" name="anim6_73"/>
          <p:cNvSpPr/>
          <p:nvPr/>
        </p:nvSpPr>
        <p:spPr>
          <a:xfrm>
            <a:off x="10984687" y="3758184"/>
            <a:ext cx="658368" cy="658368"/>
          </a:xfrm>
          <a:prstGeom prst="ellipse">
            <a:avLst/>
          </a:prstGeom>
          <a:solidFill>
            <a:srgbClr val="EEF2FA"/>
          </a:solidFill>
          <a:ln/>
        </p:spPr>
      </p:sp>
      <p:pic>
        <p:nvPicPr>
          <p:cNvPr id="34" name="anim6_74" descr="نافذة أفراد">    </p:cNvPr>
          <p:cNvPicPr>
            <a:picLocks noChangeAspect="1"/>
          </p:cNvPicPr>
          <p:nvPr/>
        </p:nvPicPr>
        <p:blipFill>
          <a:blip r:embed="rId10"/>
          <a:stretch>
            <a:fillRect/>
          </a:stretch>
        </p:blipFill>
        <p:spPr>
          <a:xfrm>
            <a:off x="11155863" y="3929360"/>
            <a:ext cx="316017" cy="316017"/>
          </a:xfrm>
          <a:prstGeom prst="rect">
            <a:avLst/>
          </a:prstGeom>
        </p:spPr>
      </p:pic>
      <p:sp>
        <p:nvSpPr>
          <p:cNvPr id="35" name="anim6_75"/>
          <p:cNvSpPr txBox="1"/>
          <p:nvPr/>
        </p:nvSpPr>
        <p:spPr>
          <a:xfrm>
            <a:off x="6400800" y="3721608"/>
            <a:ext cx="4373575" cy="365760"/>
          </a:xfrm>
          <a:prstGeom prst="rect">
            <a:avLst/>
          </a:prstGeom>
          <a:noFill/>
          <a:ln/>
        </p:spPr>
        <p:txBody>
          <a:bodyPr wrap="square" lIns="0" tIns="0" rIns="0" bIns="0" rtlCol="0" anchor="t"/>
          <a:lstStyle/>
          <a:p>
            <a:pPr rtl="1" algn="r" indent="0" marL="0">
              <a:buNone/>
            </a:pPr>
            <a:r>
              <a:rPr lang="ar-SA" altLang="en-US" sz="1800" b="1" dirty="0">
                <a:solidFill>
                  <a:srgbClr val="1A2340"/>
                </a:solidFill>
                <a:latin typeface="Cairo" pitchFamily="34" charset="0"/>
                <a:ea typeface="Cairo" pitchFamily="34" charset="-122"/>
                <a:cs typeface="Cairo" pitchFamily="34" charset="-120"/>
              </a:rPr>
              <a:t>الاتجاهات الأربعة</a:t>
            </a:r>
            <a:endParaRPr lang="ar-SA" sz="1800" dirty="0"/>
          </a:p>
        </p:txBody>
      </p:sp>
      <p:sp>
        <p:nvSpPr>
          <p:cNvPr id="36" name="anim6_76"/>
          <p:cNvSpPr txBox="1"/>
          <p:nvPr/>
        </p:nvSpPr>
        <p:spPr>
          <a:xfrm>
            <a:off x="6400800" y="4087368"/>
            <a:ext cx="4373575" cy="329184"/>
          </a:xfrm>
          <a:prstGeom prst="rect">
            <a:avLst/>
          </a:prstGeom>
          <a:noFill/>
          <a:ln/>
        </p:spPr>
        <p:txBody>
          <a:bodyPr wrap="square" lIns="0" tIns="0" rIns="0" bIns="0" rtlCol="0" anchor="t"/>
          <a:lstStyle/>
          <a:p>
            <a:pPr rtl="1" algn="r" indent="0" marL="0">
              <a:buNone/>
            </a:pPr>
            <a:r>
              <a:rPr lang="ar-SA" altLang="en-US" sz="1400" dirty="0">
                <a:solidFill>
                  <a:srgbClr val="5B6784"/>
                </a:solidFill>
                <a:latin typeface="Cairo" pitchFamily="34" charset="0"/>
                <a:ea typeface="Cairo" pitchFamily="34" charset="-122"/>
                <a:cs typeface="Cairo" pitchFamily="34" charset="-120"/>
              </a:rPr>
              <a:t>اجتماع المدن الأربع حول نافذة رقمية واحدة</a:t>
            </a:r>
            <a:endParaRPr lang="ar-SA" sz="1400" dirty="0"/>
          </a:p>
        </p:txBody>
      </p:sp>
      <p:sp>
        <p:nvSpPr>
          <p:cNvPr id="37" name="anim7_77"/>
          <p:cNvSpPr/>
          <p:nvPr/>
        </p:nvSpPr>
        <p:spPr>
          <a:xfrm>
            <a:off x="6400800" y="4846320"/>
            <a:ext cx="5242255" cy="960120"/>
          </a:xfrm>
          <a:prstGeom prst="roundRect">
            <a:avLst>
              <a:gd name="adj" fmla="val 13333"/>
            </a:avLst>
          </a:prstGeom>
          <a:solidFill>
            <a:srgbClr val="052977"/>
          </a:solidFill>
          <a:ln/>
        </p:spPr>
      </p:sp>
      <p:sp>
        <p:nvSpPr>
          <p:cNvPr id="38" name="anim7_78"/>
          <p:cNvSpPr txBox="1"/>
          <p:nvPr/>
        </p:nvSpPr>
        <p:spPr>
          <a:xfrm>
            <a:off x="6675120" y="4846320"/>
            <a:ext cx="4693615" cy="960120"/>
          </a:xfrm>
          <a:prstGeom prst="rect">
            <a:avLst/>
          </a:prstGeom>
          <a:noFill/>
          <a:ln/>
        </p:spPr>
        <p:txBody>
          <a:bodyPr wrap="square" lIns="0" tIns="0" rIns="0" bIns="0" rtlCol="0" anchor="ctr"/>
          <a:lstStyle/>
          <a:p>
            <a:pPr rtl="1" algn="r" indent="0" marL="0">
              <a:buNone/>
            </a:pPr>
            <a:r>
              <a:rPr lang="ar-SA" altLang="en-US" sz="1700" b="1" dirty="0">
                <a:solidFill>
                  <a:srgbClr val="FFFFFF"/>
                </a:solidFill>
                <a:latin typeface="Cairo" pitchFamily="34" charset="0"/>
                <a:ea typeface="Cairo" pitchFamily="34" charset="-122"/>
                <a:cs typeface="Cairo" pitchFamily="34" charset="-120"/>
              </a:rPr>
              <a:t>نمط جديد وُلد من هوية المدن الأربع، وليس تجميعًا لأربع زخارف</a:t>
            </a:r>
            <a:endParaRPr lang="ar-SA" sz="1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5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450"/>
                                        <p:tgtEl>
                                          <p:spTgt spid="1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450"/>
                                        <p:tgtEl>
                                          <p:spTgt spid="1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450"/>
                                        <p:tgtEl>
                                          <p:spTgt spid="1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450"/>
                                        <p:tgtEl>
                                          <p:spTgt spid="17"/>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450"/>
                                        <p:tgtEl>
                                          <p:spTgt spid="1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450"/>
                                        <p:tgtEl>
                                          <p:spTgt spid="2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450"/>
                                        <p:tgtEl>
                                          <p:spTgt spid="2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22"/>
                                        </p:tgtEl>
                                        <p:attrNameLst>
                                          <p:attrName>style.visibility</p:attrName>
                                        </p:attrNameLst>
                                      </p:cBhvr>
                                      <p:to>
                                        <p:strVal val="visible"/>
                                      </p:to>
                                    </p:set>
                                    <p:animEffect transition="in" filter="fade">
                                      <p:cBhvr>
                                        <p:cTn id="38" dur="450"/>
                                        <p:tgtEl>
                                          <p:spTgt spid="22"/>
                                        </p:tgtEl>
                                      </p:cBhvr>
                                    </p:animEffect>
                                  </p:childTnLst>
                                </p:cTn>
                              </p:par>
                            </p:childTnLst>
                          </p:cTn>
                        </p:par>
                        <p:par>
                          <p:cTn id="52" fill="hold">
                            <p:stCondLst>
                              <p:cond delay="700"/>
                            </p:stCondLst>
                            <p:childTnLst>
                              <p:par>
                                <p:cTn id="40" presetID="10" presetClass="entr" presetSubtype="0" fill="hold" grpId="0" nodeType="after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450"/>
                                        <p:tgtEl>
                                          <p:spTgt spid="11"/>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5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450"/>
                                        <p:tgtEl>
                                          <p:spTgt spid="1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50"/>
                                        <p:tgtEl>
                                          <p:spTgt spid="23"/>
                                        </p:tgtEl>
                                      </p:cBhvr>
                                    </p:animEffect>
                                  </p:childTnLst>
                                </p:cTn>
                              </p:par>
                            </p:childTnLst>
                          </p:cTn>
                        </p:par>
                        <p:par>
                          <p:cTn id="56" fill="hold">
                            <p:stCondLst>
                              <p:cond delay="1400"/>
                            </p:stCondLst>
                            <p:childTnLst>
                              <p:par>
                                <p:cTn id="53" presetID="10" presetClass="entr" presetSubtype="0" fill="hold" grpId="0" nodeType="after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450"/>
                                        <p:tgtEl>
                                          <p:spTgt spid="24"/>
                                        </p:tgtEl>
                                      </p:cBhvr>
                                    </p:animEffect>
                                  </p:childTnLst>
                                </p:cTn>
                              </p:par>
                            </p:childTnLst>
                          </p:cTn>
                        </p:par>
                        <p:par>
                          <p:cTn id="69" fill="hold">
                            <p:stCondLst>
                              <p:cond delay="2100"/>
                            </p:stCondLst>
                            <p:childTnLst>
                              <p:par>
                                <p:cTn id="57" presetID="10" presetClass="entr" presetSubtype="0" fill="hold" grpId="0" nodeType="after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450"/>
                                        <p:tgtEl>
                                          <p:spTgt spid="2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450"/>
                                        <p:tgtEl>
                                          <p:spTgt spid="26"/>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450"/>
                                        <p:tgtEl>
                                          <p:spTgt spid="27"/>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450"/>
                                        <p:tgtEl>
                                          <p:spTgt spid="28"/>
                                        </p:tgtEl>
                                      </p:cBhvr>
                                    </p:animEffect>
                                  </p:childTnLst>
                                </p:cTn>
                              </p:par>
                            </p:childTnLst>
                          </p:cTn>
                        </p:par>
                        <p:par>
                          <p:cTn id="82" fill="hold">
                            <p:stCondLst>
                              <p:cond delay="2800"/>
                            </p:stCondLst>
                            <p:childTnLst>
                              <p:par>
                                <p:cTn id="70" presetID="10" presetClass="entr" presetSubtype="0" fill="hold" grpId="0" nodeType="after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fade">
                                      <p:cBhvr>
                                        <p:cTn id="72" dur="450"/>
                                        <p:tgtEl>
                                          <p:spTgt spid="29"/>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450"/>
                                        <p:tgtEl>
                                          <p:spTgt spid="30"/>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1"/>
                                        </p:tgtEl>
                                        <p:attrNameLst>
                                          <p:attrName>style.visibility</p:attrName>
                                        </p:attrNameLst>
                                      </p:cBhvr>
                                      <p:to>
                                        <p:strVal val="visible"/>
                                      </p:to>
                                    </p:set>
                                    <p:animEffect transition="in" filter="fade">
                                      <p:cBhvr>
                                        <p:cTn id="78" dur="450"/>
                                        <p:tgtEl>
                                          <p:spTgt spid="31"/>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450"/>
                                        <p:tgtEl>
                                          <p:spTgt spid="32"/>
                                        </p:tgtEl>
                                      </p:cBhvr>
                                    </p:animEffect>
                                  </p:childTnLst>
                                </p:cTn>
                              </p:par>
                            </p:childTnLst>
                          </p:cTn>
                        </p:par>
                        <p:par>
                          <p:cTn id="95" fill="hold">
                            <p:stCondLst>
                              <p:cond delay="3500"/>
                            </p:stCondLst>
                            <p:childTnLst>
                              <p:par>
                                <p:cTn id="83" presetID="10" presetClass="entr" presetSubtype="0" fill="hold" grpId="0" nodeType="afterEffect">
                                  <p:stCondLst>
                                    <p:cond delay="0"/>
                                  </p:stCondLst>
                                  <p:childTnLst>
                                    <p:set>
                                      <p:cBhvr>
                                        <p:cTn id="84" dur="1" fill="hold">
                                          <p:stCondLst>
                                            <p:cond delay="0"/>
                                          </p:stCondLst>
                                        </p:cTn>
                                        <p:tgtEl>
                                          <p:spTgt spid="33"/>
                                        </p:tgtEl>
                                        <p:attrNameLst>
                                          <p:attrName>style.visibility</p:attrName>
                                        </p:attrNameLst>
                                      </p:cBhvr>
                                      <p:to>
                                        <p:strVal val="visible"/>
                                      </p:to>
                                    </p:set>
                                    <p:animEffect transition="in" filter="fade">
                                      <p:cBhvr>
                                        <p:cTn id="85" dur="450"/>
                                        <p:tgtEl>
                                          <p:spTgt spid="3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4"/>
                                        </p:tgtEl>
                                        <p:attrNameLst>
                                          <p:attrName>style.visibility</p:attrName>
                                        </p:attrNameLst>
                                      </p:cBhvr>
                                      <p:to>
                                        <p:strVal val="visible"/>
                                      </p:to>
                                    </p:set>
                                    <p:animEffect transition="in" filter="fade">
                                      <p:cBhvr>
                                        <p:cTn id="88" dur="450"/>
                                        <p:tgtEl>
                                          <p:spTgt spid="3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450"/>
                                        <p:tgtEl>
                                          <p:spTgt spid="35"/>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6"/>
                                        </p:tgtEl>
                                        <p:attrNameLst>
                                          <p:attrName>style.visibility</p:attrName>
                                        </p:attrNameLst>
                                      </p:cBhvr>
                                      <p:to>
                                        <p:strVal val="visible"/>
                                      </p:to>
                                    </p:set>
                                    <p:animEffect transition="in" filter="fade">
                                      <p:cBhvr>
                                        <p:cTn id="94" dur="450"/>
                                        <p:tgtEl>
                                          <p:spTgt spid="36"/>
                                        </p:tgtEl>
                                      </p:cBhvr>
                                    </p:animEffect>
                                  </p:childTnLst>
                                </p:cTn>
                              </p:par>
                            </p:childTnLst>
                          </p:cTn>
                        </p:par>
                        <p:par>
                          <p:cTn id="102" fill="hold">
                            <p:stCondLst>
                              <p:cond delay="4200"/>
                            </p:stCondLst>
                            <p:childTnLst>
                              <p:par>
                                <p:cTn id="96" presetID="10" presetClass="entr" presetSubtype="0" fill="hold" grpId="0" nodeType="afterEffect">
                                  <p:stCondLst>
                                    <p:cond delay="0"/>
                                  </p:stCondLst>
                                  <p:childTnLst>
                                    <p:set>
                                      <p:cBhvr>
                                        <p:cTn id="97" dur="1" fill="hold">
                                          <p:stCondLst>
                                            <p:cond delay="0"/>
                                          </p:stCondLst>
                                        </p:cTn>
                                        <p:tgtEl>
                                          <p:spTgt spid="37"/>
                                        </p:tgtEl>
                                        <p:attrNameLst>
                                          <p:attrName>style.visibility</p:attrName>
                                        </p:attrNameLst>
                                      </p:cBhvr>
                                      <p:to>
                                        <p:strVal val="visible"/>
                                      </p:to>
                                    </p:set>
                                    <p:animEffect transition="in" filter="fade">
                                      <p:cBhvr>
                                        <p:cTn id="98" dur="450"/>
                                        <p:tgtEl>
                                          <p:spTgt spid="37"/>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45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4" grpId="0" animBg="1"/>
      <p:bldP spid="15" grpId="0" animBg="1"/>
      <p:bldP spid="16" grpId="0" animBg="1"/>
      <p:bldP spid="18" grpId="0" animBg="1"/>
      <p:bldP spid="19" grpId="0" animBg="1"/>
      <p:bldP spid="20" grpId="0" animBg="1"/>
      <p:bldP spid="22" grpId="0" animBg="1"/>
      <p:bldP spid="23" grpId="0" animBg="1"/>
      <p:bldP spid="25" grpId="0" animBg="1"/>
      <p:bldP spid="27" grpId="0" animBg="1"/>
      <p:bldP spid="28" grpId="0" animBg="1"/>
      <p:bldP spid="29" grpId="0" animBg="1"/>
      <p:bldP spid="31" grpId="0" animBg="1"/>
      <p:bldP spid="32" grpId="0" animBg="1"/>
      <p:bldP spid="33" grpId="0" animBg="1"/>
      <p:bldP spid="35" grpId="0" animBg="1"/>
      <p:bldP spid="36" grpId="0" animBg="1"/>
      <p:bldP spid="37" grpId="0" animBg="1"/>
      <p:bldP spid="3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الهوية</a:t>
            </a:r>
            <a:endParaRPr lang="ar-SA" sz="1400" dirty="0"/>
          </a:p>
        </p:txBody>
      </p:sp>
      <p:sp>
        <p:nvSpPr>
          <p:cNvPr id="4" name="Text 1"/>
          <p:cNvSpPr txBox="1"/>
          <p:nvPr/>
        </p:nvSpPr>
        <p:spPr>
          <a:xfrm>
            <a:off x="2926080" y="731520"/>
            <a:ext cx="8716975" cy="777240"/>
          </a:xfrm>
          <a:prstGeom prst="rect">
            <a:avLst/>
          </a:prstGeom>
          <a:noFill/>
          <a:ln/>
        </p:spPr>
        <p:txBody>
          <a:bodyPr wrap="square" lIns="0" tIns="0" rIns="0" bIns="0" rtlCol="0" anchor="t"/>
          <a:lstStyle/>
          <a:p>
            <a:pPr rtl="1" algn="r" indent="0" marL="0">
              <a:buNone/>
            </a:pPr>
            <a:r>
              <a:rPr lang="ar-SA" altLang="en-US" sz="3200" b="1" dirty="0">
                <a:solidFill>
                  <a:srgbClr val="052977"/>
                </a:solidFill>
                <a:latin typeface="Cairo" pitchFamily="34" charset="0"/>
                <a:ea typeface="Cairo" pitchFamily="34" charset="-122"/>
                <a:cs typeface="Cairo" pitchFamily="34" charset="-120"/>
              </a:rPr>
              <a:t>الألوان: من شعار الهيئة</a:t>
            </a:r>
            <a:endParaRPr lang="ar-SA" sz="32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146304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5</a:t>
            </a:r>
            <a:endParaRPr lang="ar-SA" sz="1100" dirty="0"/>
          </a:p>
        </p:txBody>
      </p:sp>
      <p:sp>
        <p:nvSpPr>
          <p:cNvPr id="8" name="anim1_79"/>
          <p:cNvSpPr/>
          <p:nvPr/>
        </p:nvSpPr>
        <p:spPr>
          <a:xfrm>
            <a:off x="6339535" y="1783080"/>
            <a:ext cx="5303520" cy="3291840"/>
          </a:xfrm>
          <a:prstGeom prst="roundRect">
            <a:avLst>
              <a:gd name="adj" fmla="val 5556"/>
            </a:avLst>
          </a:prstGeom>
          <a:solidFill>
            <a:srgbClr val="052977"/>
          </a:solidFill>
          <a:ln/>
        </p:spPr>
      </p:sp>
      <p:pic>
        <p:nvPicPr>
          <p:cNvPr id="9" name="anim1_80" descr="نافذة أفراد">    </p:cNvPr>
          <p:cNvPicPr>
            <a:picLocks noChangeAspect="1"/>
          </p:cNvPicPr>
          <p:nvPr/>
        </p:nvPicPr>
        <p:blipFill>
          <a:blip r:embed="rId3">
            <a:alphaModFix amt="20000"/>
          </a:blip>
          <a:stretch>
            <a:fillRect/>
          </a:stretch>
        </p:blipFill>
        <p:spPr>
          <a:xfrm>
            <a:off x="6659575" y="3200400"/>
            <a:ext cx="1554480" cy="1568612"/>
          </a:xfrm>
          <a:prstGeom prst="rect">
            <a:avLst/>
          </a:prstGeom>
        </p:spPr>
      </p:pic>
      <p:sp>
        <p:nvSpPr>
          <p:cNvPr id="10" name="anim1_81"/>
          <p:cNvSpPr txBox="1"/>
          <p:nvPr/>
        </p:nvSpPr>
        <p:spPr>
          <a:xfrm>
            <a:off x="6705295" y="2148840"/>
            <a:ext cx="4572000" cy="685800"/>
          </a:xfrm>
          <a:prstGeom prst="rect">
            <a:avLst/>
          </a:prstGeom>
          <a:noFill/>
          <a:ln/>
        </p:spPr>
        <p:txBody>
          <a:bodyPr wrap="square" lIns="0" tIns="0" rIns="0" bIns="0" rtlCol="0" anchor="t"/>
          <a:lstStyle/>
          <a:p>
            <a:pPr rtl="1" algn="r" indent="0" marL="0">
              <a:buNone/>
            </a:pPr>
            <a:r>
              <a:rPr lang="ar-SA" altLang="en-US" sz="3000" b="1" dirty="0">
                <a:solidFill>
                  <a:srgbClr val="FFFFFF"/>
                </a:solidFill>
                <a:latin typeface="Cairo" pitchFamily="34" charset="0"/>
                <a:ea typeface="Cairo" pitchFamily="34" charset="-122"/>
                <a:cs typeface="Cairo" pitchFamily="34" charset="-120"/>
              </a:rPr>
              <a:t>نافذة أفراد</a:t>
            </a:r>
            <a:endParaRPr lang="ar-SA" sz="3000" dirty="0"/>
          </a:p>
        </p:txBody>
      </p:sp>
      <p:sp>
        <p:nvSpPr>
          <p:cNvPr id="11" name="anim1_82"/>
          <p:cNvSpPr txBox="1"/>
          <p:nvPr/>
        </p:nvSpPr>
        <p:spPr>
          <a:xfrm>
            <a:off x="6705295" y="2880360"/>
            <a:ext cx="4572000" cy="457200"/>
          </a:xfrm>
          <a:prstGeom prst="rect">
            <a:avLst/>
          </a:prstGeom>
          <a:noFill/>
          <a:ln/>
        </p:spPr>
        <p:txBody>
          <a:bodyPr wrap="square" lIns="0" tIns="0" rIns="0" bIns="0" rtlCol="0" anchor="t"/>
          <a:lstStyle/>
          <a:p>
            <a:pPr rtl="1" algn="r" indent="0" marL="0">
              <a:buNone/>
            </a:pPr>
            <a:r>
              <a:rPr lang="ar-SA" altLang="en-US" sz="2000" dirty="0">
                <a:solidFill>
                  <a:srgbClr val="FFFFFF"/>
                </a:solidFill>
                <a:latin typeface="Cairo" pitchFamily="34" charset="0"/>
                <a:ea typeface="Cairo" pitchFamily="34" charset="-122"/>
                <a:cs typeface="Cairo" pitchFamily="34" charset="-120"/>
              </a:rPr>
              <a:t>#052977</a:t>
            </a:r>
            <a:endParaRPr lang="ar-SA" sz="2000" dirty="0"/>
          </a:p>
        </p:txBody>
      </p:sp>
      <p:sp>
        <p:nvSpPr>
          <p:cNvPr id="12" name="anim1_83"/>
          <p:cNvSpPr txBox="1"/>
          <p:nvPr/>
        </p:nvSpPr>
        <p:spPr>
          <a:xfrm>
            <a:off x="6705295" y="3383280"/>
            <a:ext cx="4572000" cy="411480"/>
          </a:xfrm>
          <a:prstGeom prst="rect">
            <a:avLst/>
          </a:prstGeom>
          <a:noFill/>
          <a:ln/>
        </p:spPr>
        <p:txBody>
          <a:bodyPr wrap="square" lIns="0" tIns="0" rIns="0" bIns="0" rtlCol="0" anchor="t"/>
          <a:lstStyle/>
          <a:p>
            <a:pPr rtl="1" algn="r" indent="0" marL="0">
              <a:buNone/>
            </a:pPr>
            <a:r>
              <a:rPr lang="ar-SA" altLang="en-US" sz="1600" dirty="0">
                <a:solidFill>
                  <a:srgbClr val="FFFFFF"/>
                </a:solidFill>
                <a:latin typeface="Cairo" pitchFamily="34" charset="0"/>
                <a:ea typeface="Cairo" pitchFamily="34" charset="-122"/>
                <a:cs typeface="Cairo" pitchFamily="34" charset="-120"/>
              </a:rPr>
              <a:t>الثقة والطابع الرسمي</a:t>
            </a:r>
            <a:endParaRPr lang="ar-SA" sz="1600" dirty="0"/>
          </a:p>
        </p:txBody>
      </p:sp>
      <p:sp>
        <p:nvSpPr>
          <p:cNvPr id="13" name="anim2_84"/>
          <p:cNvSpPr/>
          <p:nvPr/>
        </p:nvSpPr>
        <p:spPr>
          <a:xfrm>
            <a:off x="578815" y="1783080"/>
            <a:ext cx="5303520" cy="3291840"/>
          </a:xfrm>
          <a:prstGeom prst="roundRect">
            <a:avLst>
              <a:gd name="adj" fmla="val 5556"/>
            </a:avLst>
          </a:prstGeom>
          <a:solidFill>
            <a:srgbClr val="0B9D76"/>
          </a:solidFill>
          <a:ln/>
        </p:spPr>
      </p:sp>
      <p:pic>
        <p:nvPicPr>
          <p:cNvPr id="14" name="anim2_85" descr="نافذة أفراد">    </p:cNvPr>
          <p:cNvPicPr>
            <a:picLocks noChangeAspect="1"/>
          </p:cNvPicPr>
          <p:nvPr/>
        </p:nvPicPr>
        <p:blipFill>
          <a:blip r:embed="rId4">
            <a:alphaModFix amt="20000"/>
          </a:blip>
          <a:stretch>
            <a:fillRect/>
          </a:stretch>
        </p:blipFill>
        <p:spPr>
          <a:xfrm>
            <a:off x="898855" y="3200400"/>
            <a:ext cx="1554480" cy="1568612"/>
          </a:xfrm>
          <a:prstGeom prst="rect">
            <a:avLst/>
          </a:prstGeom>
        </p:spPr>
      </p:pic>
      <p:sp>
        <p:nvSpPr>
          <p:cNvPr id="15" name="anim2_86"/>
          <p:cNvSpPr txBox="1"/>
          <p:nvPr/>
        </p:nvSpPr>
        <p:spPr>
          <a:xfrm>
            <a:off x="944575" y="2148840"/>
            <a:ext cx="4572000" cy="685800"/>
          </a:xfrm>
          <a:prstGeom prst="rect">
            <a:avLst/>
          </a:prstGeom>
          <a:noFill/>
          <a:ln/>
        </p:spPr>
        <p:txBody>
          <a:bodyPr wrap="square" lIns="0" tIns="0" rIns="0" bIns="0" rtlCol="0" anchor="t"/>
          <a:lstStyle/>
          <a:p>
            <a:pPr rtl="1" algn="r" indent="0" marL="0">
              <a:buNone/>
            </a:pPr>
            <a:r>
              <a:rPr lang="ar-SA" altLang="en-US" sz="3000" b="1" dirty="0">
                <a:solidFill>
                  <a:srgbClr val="FFFFFF"/>
                </a:solidFill>
                <a:latin typeface="Cairo" pitchFamily="34" charset="0"/>
                <a:ea typeface="Cairo" pitchFamily="34" charset="-122"/>
                <a:cs typeface="Cairo" pitchFamily="34" charset="-120"/>
              </a:rPr>
              <a:t>نافذة أعمال</a:t>
            </a:r>
            <a:endParaRPr lang="ar-SA" sz="3000" dirty="0"/>
          </a:p>
        </p:txBody>
      </p:sp>
      <p:sp>
        <p:nvSpPr>
          <p:cNvPr id="16" name="anim2_87"/>
          <p:cNvSpPr txBox="1"/>
          <p:nvPr/>
        </p:nvSpPr>
        <p:spPr>
          <a:xfrm>
            <a:off x="944575" y="2880360"/>
            <a:ext cx="4572000" cy="457200"/>
          </a:xfrm>
          <a:prstGeom prst="rect">
            <a:avLst/>
          </a:prstGeom>
          <a:noFill/>
          <a:ln/>
        </p:spPr>
        <p:txBody>
          <a:bodyPr wrap="square" lIns="0" tIns="0" rIns="0" bIns="0" rtlCol="0" anchor="t"/>
          <a:lstStyle/>
          <a:p>
            <a:pPr rtl="1" algn="r" indent="0" marL="0">
              <a:buNone/>
            </a:pPr>
            <a:r>
              <a:rPr lang="ar-SA" altLang="en-US" sz="2000" dirty="0">
                <a:solidFill>
                  <a:srgbClr val="FFFFFF"/>
                </a:solidFill>
                <a:latin typeface="Cairo" pitchFamily="34" charset="0"/>
                <a:ea typeface="Cairo" pitchFamily="34" charset="-122"/>
                <a:cs typeface="Cairo" pitchFamily="34" charset="-120"/>
              </a:rPr>
              <a:t>#0B9D76</a:t>
            </a:r>
            <a:endParaRPr lang="ar-SA" sz="2000" dirty="0"/>
          </a:p>
        </p:txBody>
      </p:sp>
      <p:sp>
        <p:nvSpPr>
          <p:cNvPr id="17" name="anim2_88"/>
          <p:cNvSpPr txBox="1"/>
          <p:nvPr/>
        </p:nvSpPr>
        <p:spPr>
          <a:xfrm>
            <a:off x="944575" y="3383280"/>
            <a:ext cx="4572000" cy="411480"/>
          </a:xfrm>
          <a:prstGeom prst="rect">
            <a:avLst/>
          </a:prstGeom>
          <a:noFill/>
          <a:ln/>
        </p:spPr>
        <p:txBody>
          <a:bodyPr wrap="square" lIns="0" tIns="0" rIns="0" bIns="0" rtlCol="0" anchor="t"/>
          <a:lstStyle/>
          <a:p>
            <a:pPr rtl="1" algn="r" indent="0" marL="0">
              <a:buNone/>
            </a:pPr>
            <a:r>
              <a:rPr lang="ar-SA" altLang="en-US" sz="1600" dirty="0">
                <a:solidFill>
                  <a:srgbClr val="FFFFFF"/>
                </a:solidFill>
                <a:latin typeface="Cairo" pitchFamily="34" charset="0"/>
                <a:ea typeface="Cairo" pitchFamily="34" charset="-122"/>
                <a:cs typeface="Cairo" pitchFamily="34" charset="-120"/>
              </a:rPr>
              <a:t>لون نسخة الأعمال</a:t>
            </a:r>
            <a:endParaRPr lang="ar-SA" sz="1600" dirty="0"/>
          </a:p>
        </p:txBody>
      </p:sp>
      <p:pic>
        <p:nvPicPr>
          <p:cNvPr id="18" name="anim3_89" descr="شعار الهيئة الملكية للجبيل وينبع">    </p:cNvPr>
          <p:cNvPicPr>
            <a:picLocks noChangeAspect="1"/>
          </p:cNvPicPr>
          <p:nvPr/>
        </p:nvPicPr>
        <p:blipFill>
          <a:blip r:embed="rId5"/>
          <a:stretch>
            <a:fillRect/>
          </a:stretch>
        </p:blipFill>
        <p:spPr>
          <a:xfrm>
            <a:off x="10895235" y="5303520"/>
            <a:ext cx="747821" cy="566928"/>
          </a:xfrm>
          <a:prstGeom prst="rect">
            <a:avLst/>
          </a:prstGeom>
        </p:spPr>
      </p:pic>
      <p:sp>
        <p:nvSpPr>
          <p:cNvPr id="19" name="anim3_90"/>
          <p:cNvSpPr txBox="1"/>
          <p:nvPr/>
        </p:nvSpPr>
        <p:spPr>
          <a:xfrm>
            <a:off x="548640" y="5303520"/>
            <a:ext cx="10117995" cy="566928"/>
          </a:xfrm>
          <a:prstGeom prst="rect">
            <a:avLst/>
          </a:prstGeom>
          <a:noFill/>
          <a:ln/>
        </p:spPr>
        <p:txBody>
          <a:bodyPr wrap="square" lIns="0" tIns="0" rIns="0" bIns="0" rtlCol="0" anchor="ctr"/>
          <a:lstStyle/>
          <a:p>
            <a:pPr rtl="1" algn="r" indent="0" marL="0">
              <a:buNone/>
            </a:pPr>
            <a:r>
              <a:rPr lang="ar-SA" altLang="en-US" sz="1500" dirty="0">
                <a:solidFill>
                  <a:srgbClr val="1A2340"/>
                </a:solidFill>
                <a:latin typeface="Cairo" pitchFamily="34" charset="0"/>
                <a:ea typeface="Cairo" pitchFamily="34" charset="-122"/>
                <a:cs typeface="Cairo" pitchFamily="34" charset="-120"/>
              </a:rPr>
              <a:t>اللونان مأخوذان من شعار الهيئة الملكية للجبيل وينبع: الأزرق لنافذة أفراد، والأخضر لنافذة أعمال</a:t>
            </a:r>
            <a:endParaRPr lang="ar-SA"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cond evt="onBegin" delay="0">
                          <p:tn val="2"/>
                        </p:cond>
                      </p:stCondLst>
                      <p:childTnLst>
                        <p:par>
                          <p:cTn id="18"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5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450"/>
                                        <p:tgtEl>
                                          <p:spTgt spid="1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childTnLst>
                          </p:cTn>
                        </p:par>
                        <p:par>
                          <p:cTn id="34" fill="hold">
                            <p:stCondLst>
                              <p:cond delay="700"/>
                            </p:stCondLst>
                            <p:childTnLst>
                              <p:par>
                                <p:cTn id="19" presetID="10" presetClass="entr" presetSubtype="0" fill="hold" grpId="0" nodeType="after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5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5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50"/>
                                        <p:tgtEl>
                                          <p:spTgt spid="17"/>
                                        </p:tgtEl>
                                      </p:cBhvr>
                                    </p:animEffect>
                                  </p:childTnLst>
                                </p:cTn>
                              </p:par>
                            </p:childTnLst>
                          </p:cTn>
                        </p:par>
                        <p:par>
                          <p:cTn id="41" fill="hold">
                            <p:stCondLst>
                              <p:cond delay="1400"/>
                            </p:stCondLst>
                            <p:childTnLst>
                              <p:par>
                                <p:cTn id="35" presetID="10" presetClass="entr" presetSubtype="0" fill="hold" grpId="0" nodeType="after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5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3" grpId="0" animBg="1"/>
      <p:bldP spid="15" grpId="0" animBg="1"/>
      <p:bldP spid="16" grpId="0" animBg="1"/>
      <p:bldP spid="17" grpId="0" animBg="1"/>
      <p:bldP spid="1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التطبيق</a:t>
            </a:r>
            <a:endParaRPr lang="ar-SA" sz="1400" dirty="0"/>
          </a:p>
        </p:txBody>
      </p:sp>
      <p:sp>
        <p:nvSpPr>
          <p:cNvPr id="4" name="Text 1"/>
          <p:cNvSpPr txBox="1"/>
          <p:nvPr/>
        </p:nvSpPr>
        <p:spPr>
          <a:xfrm>
            <a:off x="2926080" y="731520"/>
            <a:ext cx="8716975" cy="777240"/>
          </a:xfrm>
          <a:prstGeom prst="rect">
            <a:avLst/>
          </a:prstGeom>
          <a:noFill/>
          <a:ln/>
        </p:spPr>
        <p:txBody>
          <a:bodyPr wrap="square" lIns="0" tIns="0" rIns="0" bIns="0" rtlCol="0" anchor="t"/>
          <a:lstStyle/>
          <a:p>
            <a:pPr rtl="1" algn="r" indent="0" marL="0">
              <a:buNone/>
            </a:pPr>
            <a:r>
              <a:rPr lang="ar-SA" altLang="en-US" sz="3200" b="1" dirty="0">
                <a:solidFill>
                  <a:srgbClr val="052977"/>
                </a:solidFill>
                <a:latin typeface="Cairo" pitchFamily="34" charset="0"/>
                <a:ea typeface="Cairo" pitchFamily="34" charset="-122"/>
                <a:cs typeface="Cairo" pitchFamily="34" charset="-120"/>
              </a:rPr>
              <a:t>ما هي نافذة أفراد؟</a:t>
            </a:r>
            <a:endParaRPr lang="ar-SA" sz="32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146304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6</a:t>
            </a:r>
            <a:endParaRPr lang="ar-SA" sz="1100" dirty="0"/>
          </a:p>
        </p:txBody>
      </p:sp>
      <p:sp>
        <p:nvSpPr>
          <p:cNvPr id="8" name="anim1_91"/>
          <p:cNvSpPr/>
          <p:nvPr/>
        </p:nvSpPr>
        <p:spPr>
          <a:xfrm>
            <a:off x="1280160" y="1920240"/>
            <a:ext cx="2743200" cy="2743200"/>
          </a:xfrm>
          <a:prstGeom prst="roundRect">
            <a:avLst>
              <a:gd name="adj" fmla="val 18333"/>
            </a:avLst>
          </a:prstGeom>
          <a:solidFill>
            <a:srgbClr val="FFFFFF"/>
          </a:solidFill>
          <a:ln w="12700">
            <a:solidFill>
              <a:srgbClr val="D6DEEE"/>
            </a:solidFill>
            <a:prstDash val="solid"/>
          </a:ln>
          <a:effectLst>
            <a:outerShdw sx="100000" sy="100000" kx="0" ky="0" algn="bl" rotWithShape="0" blurRad="228600" dist="76200" dir="5400000">
              <a:srgbClr val="052977">
                <a:alpha val="18000"/>
              </a:srgbClr>
            </a:outerShdw>
          </a:effectLst>
        </p:spPr>
      </p:sp>
      <p:pic>
        <p:nvPicPr>
          <p:cNvPr id="9" name="anim1_92" descr="نافذة أفراد">    </p:cNvPr>
          <p:cNvPicPr>
            <a:picLocks noChangeAspect="1"/>
          </p:cNvPicPr>
          <p:nvPr/>
        </p:nvPicPr>
        <p:blipFill>
          <a:blip r:embed="rId3"/>
          <a:stretch>
            <a:fillRect/>
          </a:stretch>
        </p:blipFill>
        <p:spPr>
          <a:xfrm>
            <a:off x="1783080" y="2395728"/>
            <a:ext cx="1737360" cy="1753154"/>
          </a:xfrm>
          <a:prstGeom prst="rect">
            <a:avLst/>
          </a:prstGeom>
        </p:spPr>
      </p:pic>
      <p:sp>
        <p:nvSpPr>
          <p:cNvPr id="10" name="anim1_93"/>
          <p:cNvSpPr txBox="1"/>
          <p:nvPr/>
        </p:nvSpPr>
        <p:spPr>
          <a:xfrm>
            <a:off x="1005840" y="4846320"/>
            <a:ext cx="3291840" cy="457200"/>
          </a:xfrm>
          <a:prstGeom prst="rect">
            <a:avLst/>
          </a:prstGeom>
          <a:noFill/>
          <a:ln/>
        </p:spPr>
        <p:txBody>
          <a:bodyPr wrap="square" lIns="0" tIns="0" rIns="0" bIns="0" rtlCol="0" anchor="t"/>
          <a:lstStyle/>
          <a:p>
            <a:pPr rtl="1" algn="ctr" indent="0" marL="0">
              <a:buNone/>
            </a:pPr>
            <a:r>
              <a:rPr lang="ar-SA" altLang="en-US" sz="1800" b="1" dirty="0">
                <a:solidFill>
                  <a:srgbClr val="052977"/>
                </a:solidFill>
                <a:latin typeface="Cairo" pitchFamily="34" charset="0"/>
                <a:ea typeface="Cairo" pitchFamily="34" charset="-122"/>
                <a:cs typeface="Cairo" pitchFamily="34" charset="-120"/>
              </a:rPr>
              <a:t>نافذة أفراد</a:t>
            </a:r>
            <a:endParaRPr lang="ar-SA" sz="1800" dirty="0"/>
          </a:p>
        </p:txBody>
      </p:sp>
      <p:sp>
        <p:nvSpPr>
          <p:cNvPr id="11" name="anim2_94"/>
          <p:cNvSpPr txBox="1"/>
          <p:nvPr/>
        </p:nvSpPr>
        <p:spPr>
          <a:xfrm>
            <a:off x="4572000" y="1874520"/>
            <a:ext cx="7071055" cy="1371600"/>
          </a:xfrm>
          <a:prstGeom prst="rect">
            <a:avLst/>
          </a:prstGeom>
          <a:noFill/>
          <a:ln/>
        </p:spPr>
        <p:txBody>
          <a:bodyPr wrap="square" lIns="0" tIns="0" rIns="0" bIns="0" rtlCol="0" anchor="t"/>
          <a:lstStyle/>
          <a:p>
            <a:pPr rtl="1" algn="r" indent="0" marL="0">
              <a:buNone/>
            </a:pPr>
            <a:r>
              <a:rPr lang="ar-SA" altLang="en-US" sz="2600" b="1" dirty="0">
                <a:solidFill>
                  <a:srgbClr val="052977"/>
                </a:solidFill>
                <a:latin typeface="Cairo" pitchFamily="34" charset="0"/>
                <a:ea typeface="Cairo" pitchFamily="34" charset="-122"/>
                <a:cs typeface="Cairo" pitchFamily="34" charset="-120"/>
              </a:rPr>
              <a:t>نافذة أفراد تطبيق رقمي يجمع خدمات المدينة وأماكنها وفعالياتها في مكان واحد.</a:t>
            </a:r>
            <a:endParaRPr lang="ar-SA" sz="2600" dirty="0"/>
          </a:p>
        </p:txBody>
      </p:sp>
      <p:sp>
        <p:nvSpPr>
          <p:cNvPr id="12" name="anim3_95"/>
          <p:cNvSpPr txBox="1"/>
          <p:nvPr/>
        </p:nvSpPr>
        <p:spPr>
          <a:xfrm>
            <a:off x="4572000" y="3429000"/>
            <a:ext cx="7071055" cy="914400"/>
          </a:xfrm>
          <a:prstGeom prst="rect">
            <a:avLst/>
          </a:prstGeom>
          <a:noFill/>
          <a:ln/>
        </p:spPr>
        <p:txBody>
          <a:bodyPr wrap="square" lIns="0" tIns="0" rIns="0" bIns="0" rtlCol="0" anchor="t"/>
          <a:lstStyle/>
          <a:p>
            <a:pPr rtl="1" algn="r" indent="0" marL="0">
              <a:buNone/>
            </a:pPr>
            <a:r>
              <a:rPr lang="ar-SA" altLang="en-US" sz="1800" dirty="0">
                <a:solidFill>
                  <a:srgbClr val="1A2340"/>
                </a:solidFill>
                <a:latin typeface="Cairo" pitchFamily="34" charset="0"/>
                <a:ea typeface="Cairo" pitchFamily="34" charset="-122"/>
                <a:cs typeface="Cairo" pitchFamily="34" charset="-120"/>
              </a:rPr>
              <a:t>هدفه أن يكتشف السكان والزوار المدينة، ويصلوا إلى خدماتها بسهولة.</a:t>
            </a:r>
            <a:endParaRPr lang="ar-SA" sz="1800" dirty="0"/>
          </a:p>
        </p:txBody>
      </p:sp>
      <p:sp>
        <p:nvSpPr>
          <p:cNvPr id="13" name="anim4_96"/>
          <p:cNvSpPr/>
          <p:nvPr/>
        </p:nvSpPr>
        <p:spPr>
          <a:xfrm>
            <a:off x="9905695" y="4663440"/>
            <a:ext cx="1737360" cy="566928"/>
          </a:xfrm>
          <a:prstGeom prst="roundRect">
            <a:avLst>
              <a:gd name="adj" fmla="val 50000"/>
            </a:avLst>
          </a:prstGeom>
          <a:solidFill>
            <a:srgbClr val="EEF2FA"/>
          </a:solidFill>
          <a:ln/>
        </p:spPr>
      </p:sp>
      <p:pic>
        <p:nvPicPr>
          <p:cNvPr id="14" name="anim4_97" descr="نافذة أفراد">    </p:cNvPr>
          <p:cNvPicPr>
            <a:picLocks noChangeAspect="1"/>
          </p:cNvPicPr>
          <p:nvPr/>
        </p:nvPicPr>
        <p:blipFill>
          <a:blip r:embed="rId4"/>
          <a:stretch>
            <a:fillRect/>
          </a:stretch>
        </p:blipFill>
        <p:spPr>
          <a:xfrm>
            <a:off x="11167567" y="4809744"/>
            <a:ext cx="274320" cy="274320"/>
          </a:xfrm>
          <a:prstGeom prst="rect">
            <a:avLst/>
          </a:prstGeom>
        </p:spPr>
      </p:pic>
      <p:sp>
        <p:nvSpPr>
          <p:cNvPr id="15" name="anim4_98"/>
          <p:cNvSpPr txBox="1"/>
          <p:nvPr/>
        </p:nvSpPr>
        <p:spPr>
          <a:xfrm>
            <a:off x="10042855" y="4663440"/>
            <a:ext cx="1051560" cy="566928"/>
          </a:xfrm>
          <a:prstGeom prst="rect">
            <a:avLst/>
          </a:prstGeom>
          <a:noFill/>
          <a:ln/>
        </p:spPr>
        <p:txBody>
          <a:bodyPr wrap="square" lIns="0" tIns="0" rIns="0" bIns="0" rtlCol="0" anchor="ctr"/>
          <a:lstStyle/>
          <a:p>
            <a:pPr rtl="1" algn="r" indent="0" marL="0">
              <a:buNone/>
            </a:pPr>
            <a:r>
              <a:rPr lang="ar-SA" altLang="en-US" sz="1500" b="1" dirty="0">
                <a:solidFill>
                  <a:srgbClr val="052977"/>
                </a:solidFill>
                <a:latin typeface="Cairo" pitchFamily="34" charset="0"/>
                <a:ea typeface="Cairo" pitchFamily="34" charset="-122"/>
                <a:cs typeface="Cairo" pitchFamily="34" charset="-120"/>
              </a:rPr>
              <a:t>السكان</a:t>
            </a:r>
            <a:endParaRPr lang="ar-SA" sz="1500" dirty="0"/>
          </a:p>
        </p:txBody>
      </p:sp>
      <p:sp>
        <p:nvSpPr>
          <p:cNvPr id="16" name="anim4_99"/>
          <p:cNvSpPr/>
          <p:nvPr/>
        </p:nvSpPr>
        <p:spPr>
          <a:xfrm>
            <a:off x="7939735" y="4663440"/>
            <a:ext cx="1737360" cy="566928"/>
          </a:xfrm>
          <a:prstGeom prst="roundRect">
            <a:avLst>
              <a:gd name="adj" fmla="val 50000"/>
            </a:avLst>
          </a:prstGeom>
          <a:solidFill>
            <a:srgbClr val="EEF2FA"/>
          </a:solidFill>
          <a:ln/>
        </p:spPr>
      </p:sp>
      <p:pic>
        <p:nvPicPr>
          <p:cNvPr id="17" name="anim4_100" descr="نافذة أفراد">    </p:cNvPr>
          <p:cNvPicPr>
            <a:picLocks noChangeAspect="1"/>
          </p:cNvPicPr>
          <p:nvPr/>
        </p:nvPicPr>
        <p:blipFill>
          <a:blip r:embed="rId5"/>
          <a:stretch>
            <a:fillRect/>
          </a:stretch>
        </p:blipFill>
        <p:spPr>
          <a:xfrm>
            <a:off x="9201607" y="4809744"/>
            <a:ext cx="274320" cy="274320"/>
          </a:xfrm>
          <a:prstGeom prst="rect">
            <a:avLst/>
          </a:prstGeom>
        </p:spPr>
      </p:pic>
      <p:sp>
        <p:nvSpPr>
          <p:cNvPr id="18" name="anim4_101"/>
          <p:cNvSpPr txBox="1"/>
          <p:nvPr/>
        </p:nvSpPr>
        <p:spPr>
          <a:xfrm>
            <a:off x="8076895" y="4663440"/>
            <a:ext cx="1051560" cy="566928"/>
          </a:xfrm>
          <a:prstGeom prst="rect">
            <a:avLst/>
          </a:prstGeom>
          <a:noFill/>
          <a:ln/>
        </p:spPr>
        <p:txBody>
          <a:bodyPr wrap="square" lIns="0" tIns="0" rIns="0" bIns="0" rtlCol="0" anchor="ctr"/>
          <a:lstStyle/>
          <a:p>
            <a:pPr rtl="1" algn="r" indent="0" marL="0">
              <a:buNone/>
            </a:pPr>
            <a:r>
              <a:rPr lang="ar-SA" altLang="en-US" sz="1500" b="1" dirty="0">
                <a:solidFill>
                  <a:srgbClr val="052977"/>
                </a:solidFill>
                <a:latin typeface="Cairo" pitchFamily="34" charset="0"/>
                <a:ea typeface="Cairo" pitchFamily="34" charset="-122"/>
                <a:cs typeface="Cairo" pitchFamily="34" charset="-120"/>
              </a:rPr>
              <a:t>الزوار</a:t>
            </a:r>
            <a:endParaRPr lang="ar-SA"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0"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50"/>
                                        <p:tgtEl>
                                          <p:spTgt spid="10"/>
                                        </p:tgtEl>
                                      </p:cBhvr>
                                    </p:animEffect>
                                  </p:childTnLst>
                                </p:cTn>
                              </p:par>
                            </p:childTnLst>
                          </p:cTn>
                        </p:par>
                        <p:par>
                          <p:cTn id="16" fill="hold">
                            <p:stCondLst>
                              <p:cond delay="700"/>
                            </p:stCondLst>
                            <p:childTnLst>
                              <p:par>
                                <p:cTn id="13" presetID="10" presetClass="entr" presetSubtype="0" fill="hold" grpId="0" nodeType="after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450"/>
                                        <p:tgtEl>
                                          <p:spTgt spid="11"/>
                                        </p:tgtEl>
                                      </p:cBhvr>
                                    </p:animEffect>
                                  </p:childTnLst>
                                </p:cTn>
                              </p:par>
                            </p:childTnLst>
                          </p:cTn>
                        </p:par>
                        <p:par>
                          <p:cTn id="20" fill="hold">
                            <p:stCondLst>
                              <p:cond delay="1400"/>
                            </p:stCondLst>
                            <p:childTnLst>
                              <p:par>
                                <p:cTn id="17" presetID="10" presetClass="entr" presetSubtype="0" fill="hold" grpId="0" nodeType="after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450"/>
                                        <p:tgtEl>
                                          <p:spTgt spid="12"/>
                                        </p:tgtEl>
                                      </p:cBhvr>
                                    </p:animEffect>
                                  </p:childTnLst>
                                </p:cTn>
                              </p:par>
                            </p:childTnLst>
                          </p:cTn>
                        </p:par>
                        <p:par>
                          <p:cTn id="39" fill="hold">
                            <p:stCondLst>
                              <p:cond delay="2100"/>
                            </p:stCondLst>
                            <p:childTnLst>
                              <p:par>
                                <p:cTn id="21" presetID="10" presetClass="entr" presetSubtype="0" fill="hold" grpId="0" nodeType="after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45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45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450"/>
                                        <p:tgtEl>
                                          <p:spTgt spid="15"/>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450"/>
                                        <p:tgtEl>
                                          <p:spTgt spid="16"/>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5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3" grpId="0" animBg="1"/>
      <p:bldP spid="15" grpId="0" animBg="1"/>
      <p:bldP spid="16"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التطبيق</a:t>
            </a:r>
            <a:endParaRPr lang="ar-SA" sz="1400" dirty="0"/>
          </a:p>
        </p:txBody>
      </p:sp>
      <p:sp>
        <p:nvSpPr>
          <p:cNvPr id="4" name="Text 1"/>
          <p:cNvSpPr txBox="1"/>
          <p:nvPr/>
        </p:nvSpPr>
        <p:spPr>
          <a:xfrm>
            <a:off x="2926080" y="731520"/>
            <a:ext cx="8716975" cy="777240"/>
          </a:xfrm>
          <a:prstGeom prst="rect">
            <a:avLst/>
          </a:prstGeom>
          <a:noFill/>
          <a:ln/>
        </p:spPr>
        <p:txBody>
          <a:bodyPr wrap="square" lIns="0" tIns="0" rIns="0" bIns="0" rtlCol="0" anchor="t"/>
          <a:lstStyle/>
          <a:p>
            <a:pPr rtl="1" algn="r" indent="0" marL="0">
              <a:buNone/>
            </a:pPr>
            <a:r>
              <a:rPr lang="ar-SA" altLang="en-US" sz="3200" b="1" dirty="0">
                <a:solidFill>
                  <a:srgbClr val="052977"/>
                </a:solidFill>
                <a:latin typeface="Cairo" pitchFamily="34" charset="0"/>
                <a:ea typeface="Cairo" pitchFamily="34" charset="-122"/>
                <a:cs typeface="Cairo" pitchFamily="34" charset="-120"/>
              </a:rPr>
              <a:t>لماذا نافذة؟</a:t>
            </a:r>
            <a:endParaRPr lang="ar-SA" sz="32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146304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7</a:t>
            </a:r>
            <a:endParaRPr lang="ar-SA" sz="1100" dirty="0"/>
          </a:p>
        </p:txBody>
      </p:sp>
      <p:sp>
        <p:nvSpPr>
          <p:cNvPr id="8" name="anim1_102"/>
          <p:cNvSpPr/>
          <p:nvPr/>
        </p:nvSpPr>
        <p:spPr>
          <a:xfrm>
            <a:off x="6339535" y="1737360"/>
            <a:ext cx="5303520" cy="2788920"/>
          </a:xfrm>
          <a:prstGeom prst="roundRect">
            <a:avLst>
              <a:gd name="adj" fmla="val 5902"/>
            </a:avLst>
          </a:prstGeom>
          <a:solidFill>
            <a:srgbClr val="FFFFFF"/>
          </a:solidFill>
          <a:ln w="12700">
            <a:solidFill>
              <a:srgbClr val="D6DEEE"/>
            </a:solidFill>
            <a:prstDash val="solid"/>
          </a:ln>
        </p:spPr>
      </p:sp>
      <p:sp>
        <p:nvSpPr>
          <p:cNvPr id="9" name="anim1_103"/>
          <p:cNvSpPr txBox="1"/>
          <p:nvPr/>
        </p:nvSpPr>
        <p:spPr>
          <a:xfrm>
            <a:off x="6659575" y="1965960"/>
            <a:ext cx="4663440" cy="457200"/>
          </a:xfrm>
          <a:prstGeom prst="rect">
            <a:avLst/>
          </a:prstGeom>
          <a:noFill/>
          <a:ln/>
        </p:spPr>
        <p:txBody>
          <a:bodyPr wrap="square" lIns="0" tIns="0" rIns="0" bIns="0" rtlCol="0" anchor="t"/>
          <a:lstStyle/>
          <a:p>
            <a:pPr rtl="1" algn="r" indent="0" marL="0">
              <a:buNone/>
            </a:pPr>
            <a:r>
              <a:rPr lang="ar-SA" altLang="en-US" sz="2000" b="1" dirty="0">
                <a:solidFill>
                  <a:srgbClr val="052977"/>
                </a:solidFill>
                <a:latin typeface="Cairo" pitchFamily="34" charset="0"/>
                <a:ea typeface="Cairo" pitchFamily="34" charset="-122"/>
                <a:cs typeface="Cairo" pitchFamily="34" charset="-120"/>
              </a:rPr>
              <a:t>التحدي</a:t>
            </a:r>
            <a:endParaRPr lang="ar-SA" sz="2000" dirty="0"/>
          </a:p>
        </p:txBody>
      </p:sp>
      <p:pic>
        <p:nvPicPr>
          <p:cNvPr id="10" name="anim1_104" descr="نافذة أفراد">    </p:cNvPr>
          <p:cNvPicPr>
            <a:picLocks noChangeAspect="1"/>
          </p:cNvPicPr>
          <p:nvPr/>
        </p:nvPicPr>
        <p:blipFill>
          <a:blip r:embed="rId3"/>
          <a:stretch>
            <a:fillRect/>
          </a:stretch>
        </p:blipFill>
        <p:spPr>
          <a:xfrm>
            <a:off x="11012119" y="2660904"/>
            <a:ext cx="310896" cy="310896"/>
          </a:xfrm>
          <a:prstGeom prst="rect">
            <a:avLst/>
          </a:prstGeom>
        </p:spPr>
      </p:pic>
      <p:sp>
        <p:nvSpPr>
          <p:cNvPr id="11" name="anim1_105"/>
          <p:cNvSpPr txBox="1"/>
          <p:nvPr/>
        </p:nvSpPr>
        <p:spPr>
          <a:xfrm>
            <a:off x="6613855" y="2606040"/>
            <a:ext cx="4251960" cy="420624"/>
          </a:xfrm>
          <a:prstGeom prst="rect">
            <a:avLst/>
          </a:prstGeom>
          <a:noFill/>
          <a:ln/>
        </p:spPr>
        <p:txBody>
          <a:bodyPr wrap="square" lIns="0" tIns="0" rIns="0" bIns="0" rtlCol="0" anchor="ctr"/>
          <a:lstStyle/>
          <a:p>
            <a:pPr rtl="1" algn="r" indent="0" marL="0">
              <a:buNone/>
            </a:pPr>
            <a:r>
              <a:rPr lang="ar-SA" altLang="en-US" sz="1500" dirty="0">
                <a:solidFill>
                  <a:srgbClr val="1A2340"/>
                </a:solidFill>
                <a:latin typeface="Cairo" pitchFamily="34" charset="0"/>
                <a:ea typeface="Cairo" pitchFamily="34" charset="-122"/>
                <a:cs typeface="Cairo" pitchFamily="34" charset="-120"/>
              </a:rPr>
              <a:t>معلومات المدينة موزعة على قنوات متعددة</a:t>
            </a:r>
            <a:endParaRPr lang="ar-SA" sz="1500" dirty="0"/>
          </a:p>
        </p:txBody>
      </p:sp>
      <p:pic>
        <p:nvPicPr>
          <p:cNvPr id="12" name="anim1_106" descr="نافذة أفراد">    </p:cNvPr>
          <p:cNvPicPr>
            <a:picLocks noChangeAspect="1"/>
          </p:cNvPicPr>
          <p:nvPr/>
        </p:nvPicPr>
        <p:blipFill>
          <a:blip r:embed="rId4"/>
          <a:stretch>
            <a:fillRect/>
          </a:stretch>
        </p:blipFill>
        <p:spPr>
          <a:xfrm>
            <a:off x="11012119" y="3264408"/>
            <a:ext cx="310896" cy="310896"/>
          </a:xfrm>
          <a:prstGeom prst="rect">
            <a:avLst/>
          </a:prstGeom>
        </p:spPr>
      </p:pic>
      <p:sp>
        <p:nvSpPr>
          <p:cNvPr id="13" name="anim1_107"/>
          <p:cNvSpPr txBox="1"/>
          <p:nvPr/>
        </p:nvSpPr>
        <p:spPr>
          <a:xfrm>
            <a:off x="6613855" y="3209544"/>
            <a:ext cx="4251960" cy="420624"/>
          </a:xfrm>
          <a:prstGeom prst="rect">
            <a:avLst/>
          </a:prstGeom>
          <a:noFill/>
          <a:ln/>
        </p:spPr>
        <p:txBody>
          <a:bodyPr wrap="square" lIns="0" tIns="0" rIns="0" bIns="0" rtlCol="0" anchor="ctr"/>
          <a:lstStyle/>
          <a:p>
            <a:pPr rtl="1" algn="r" indent="0" marL="0">
              <a:buNone/>
            </a:pPr>
            <a:r>
              <a:rPr lang="ar-SA" altLang="en-US" sz="1500" dirty="0">
                <a:solidFill>
                  <a:srgbClr val="1A2340"/>
                </a:solidFill>
                <a:latin typeface="Cairo" pitchFamily="34" charset="0"/>
                <a:ea typeface="Cairo" pitchFamily="34" charset="-122"/>
                <a:cs typeface="Cairo" pitchFamily="34" charset="-120"/>
              </a:rPr>
              <a:t>البحث عن الفعاليات والأماكن يأخذ وقتًا</a:t>
            </a:r>
            <a:endParaRPr lang="ar-SA" sz="1500" dirty="0"/>
          </a:p>
        </p:txBody>
      </p:sp>
      <p:pic>
        <p:nvPicPr>
          <p:cNvPr id="14" name="anim1_108" descr="نافذة أفراد">    </p:cNvPr>
          <p:cNvPicPr>
            <a:picLocks noChangeAspect="1"/>
          </p:cNvPicPr>
          <p:nvPr/>
        </p:nvPicPr>
        <p:blipFill>
          <a:blip r:embed="rId5"/>
          <a:stretch>
            <a:fillRect/>
          </a:stretch>
        </p:blipFill>
        <p:spPr>
          <a:xfrm>
            <a:off x="11012119" y="3867912"/>
            <a:ext cx="310896" cy="310896"/>
          </a:xfrm>
          <a:prstGeom prst="rect">
            <a:avLst/>
          </a:prstGeom>
        </p:spPr>
      </p:pic>
      <p:sp>
        <p:nvSpPr>
          <p:cNvPr id="15" name="anim1_109"/>
          <p:cNvSpPr txBox="1"/>
          <p:nvPr/>
        </p:nvSpPr>
        <p:spPr>
          <a:xfrm>
            <a:off x="6613855" y="3813048"/>
            <a:ext cx="4251960" cy="420624"/>
          </a:xfrm>
          <a:prstGeom prst="rect">
            <a:avLst/>
          </a:prstGeom>
          <a:noFill/>
          <a:ln/>
        </p:spPr>
        <p:txBody>
          <a:bodyPr wrap="square" lIns="0" tIns="0" rIns="0" bIns="0" rtlCol="0" anchor="ctr"/>
          <a:lstStyle/>
          <a:p>
            <a:pPr rtl="1" algn="r" indent="0" marL="0">
              <a:buNone/>
            </a:pPr>
            <a:r>
              <a:rPr lang="ar-SA" altLang="en-US" sz="1500" dirty="0">
                <a:solidFill>
                  <a:srgbClr val="1A2340"/>
                </a:solidFill>
                <a:latin typeface="Cairo" pitchFamily="34" charset="0"/>
                <a:ea typeface="Cairo" pitchFamily="34" charset="-122"/>
                <a:cs typeface="Cairo" pitchFamily="34" charset="-120"/>
              </a:rPr>
              <a:t>الزائر لا يعرف من أين يبدأ</a:t>
            </a:r>
            <a:endParaRPr lang="ar-SA" sz="1500" dirty="0"/>
          </a:p>
        </p:txBody>
      </p:sp>
      <p:sp>
        <p:nvSpPr>
          <p:cNvPr id="16" name="anim2_110"/>
          <p:cNvSpPr/>
          <p:nvPr/>
        </p:nvSpPr>
        <p:spPr>
          <a:xfrm>
            <a:off x="551383" y="1737360"/>
            <a:ext cx="5303520" cy="2788920"/>
          </a:xfrm>
          <a:prstGeom prst="roundRect">
            <a:avLst>
              <a:gd name="adj" fmla="val 5902"/>
            </a:avLst>
          </a:prstGeom>
          <a:solidFill>
            <a:srgbClr val="EEF2FA"/>
          </a:solidFill>
          <a:ln/>
        </p:spPr>
      </p:sp>
      <p:sp>
        <p:nvSpPr>
          <p:cNvPr id="17" name="anim2_111"/>
          <p:cNvSpPr txBox="1"/>
          <p:nvPr/>
        </p:nvSpPr>
        <p:spPr>
          <a:xfrm>
            <a:off x="871423" y="1965960"/>
            <a:ext cx="4663440" cy="457200"/>
          </a:xfrm>
          <a:prstGeom prst="rect">
            <a:avLst/>
          </a:prstGeom>
          <a:noFill/>
          <a:ln/>
        </p:spPr>
        <p:txBody>
          <a:bodyPr wrap="square" lIns="0" tIns="0" rIns="0" bIns="0" rtlCol="0" anchor="t"/>
          <a:lstStyle/>
          <a:p>
            <a:pPr rtl="1" algn="r" indent="0" marL="0">
              <a:buNone/>
            </a:pPr>
            <a:r>
              <a:rPr lang="ar-SA" altLang="en-US" sz="2000" b="1" dirty="0">
                <a:solidFill>
                  <a:srgbClr val="052977"/>
                </a:solidFill>
                <a:latin typeface="Cairo" pitchFamily="34" charset="0"/>
                <a:ea typeface="Cairo" pitchFamily="34" charset="-122"/>
                <a:cs typeface="Cairo" pitchFamily="34" charset="-120"/>
              </a:rPr>
              <a:t>ما تقدمه نافذة</a:t>
            </a:r>
            <a:endParaRPr lang="ar-SA" sz="2000" dirty="0"/>
          </a:p>
        </p:txBody>
      </p:sp>
      <p:pic>
        <p:nvPicPr>
          <p:cNvPr id="18" name="anim2_112" descr="نافذة أفراد">    </p:cNvPr>
          <p:cNvPicPr>
            <a:picLocks noChangeAspect="1"/>
          </p:cNvPicPr>
          <p:nvPr/>
        </p:nvPicPr>
        <p:blipFill>
          <a:blip r:embed="rId6"/>
          <a:stretch>
            <a:fillRect/>
          </a:stretch>
        </p:blipFill>
        <p:spPr>
          <a:xfrm>
            <a:off x="5223967" y="2660904"/>
            <a:ext cx="310896" cy="310896"/>
          </a:xfrm>
          <a:prstGeom prst="rect">
            <a:avLst/>
          </a:prstGeom>
        </p:spPr>
      </p:pic>
      <p:sp>
        <p:nvSpPr>
          <p:cNvPr id="19" name="anim2_113"/>
          <p:cNvSpPr txBox="1"/>
          <p:nvPr/>
        </p:nvSpPr>
        <p:spPr>
          <a:xfrm>
            <a:off x="825703" y="2606040"/>
            <a:ext cx="4251960" cy="420624"/>
          </a:xfrm>
          <a:prstGeom prst="rect">
            <a:avLst/>
          </a:prstGeom>
          <a:noFill/>
          <a:ln/>
        </p:spPr>
        <p:txBody>
          <a:bodyPr wrap="square" lIns="0" tIns="0" rIns="0" bIns="0" rtlCol="0" anchor="ctr"/>
          <a:lstStyle/>
          <a:p>
            <a:pPr rtl="1" algn="r" indent="0" marL="0">
              <a:buNone/>
            </a:pPr>
            <a:r>
              <a:rPr lang="ar-SA" altLang="en-US" sz="1500" dirty="0">
                <a:solidFill>
                  <a:srgbClr val="1A2340"/>
                </a:solidFill>
                <a:latin typeface="Cairo" pitchFamily="34" charset="0"/>
                <a:ea typeface="Cairo" pitchFamily="34" charset="-122"/>
                <a:cs typeface="Cairo" pitchFamily="34" charset="-120"/>
              </a:rPr>
              <a:t>نافذة واحدة لخدمات المدينة وفعالياتها</a:t>
            </a:r>
            <a:endParaRPr lang="ar-SA" sz="1500" dirty="0"/>
          </a:p>
        </p:txBody>
      </p:sp>
      <p:pic>
        <p:nvPicPr>
          <p:cNvPr id="20" name="anim2_114" descr="نافذة أفراد">    </p:cNvPr>
          <p:cNvPicPr>
            <a:picLocks noChangeAspect="1"/>
          </p:cNvPicPr>
          <p:nvPr/>
        </p:nvPicPr>
        <p:blipFill>
          <a:blip r:embed="rId7"/>
          <a:stretch>
            <a:fillRect/>
          </a:stretch>
        </p:blipFill>
        <p:spPr>
          <a:xfrm>
            <a:off x="5223967" y="3264408"/>
            <a:ext cx="310896" cy="310896"/>
          </a:xfrm>
          <a:prstGeom prst="rect">
            <a:avLst/>
          </a:prstGeom>
        </p:spPr>
      </p:pic>
      <p:sp>
        <p:nvSpPr>
          <p:cNvPr id="21" name="anim2_115"/>
          <p:cNvSpPr txBox="1"/>
          <p:nvPr/>
        </p:nvSpPr>
        <p:spPr>
          <a:xfrm>
            <a:off x="825703" y="3209544"/>
            <a:ext cx="4251960" cy="420624"/>
          </a:xfrm>
          <a:prstGeom prst="rect">
            <a:avLst/>
          </a:prstGeom>
          <a:noFill/>
          <a:ln/>
        </p:spPr>
        <p:txBody>
          <a:bodyPr wrap="square" lIns="0" tIns="0" rIns="0" bIns="0" rtlCol="0" anchor="ctr"/>
          <a:lstStyle/>
          <a:p>
            <a:pPr rtl="1" algn="r" indent="0" marL="0">
              <a:buNone/>
            </a:pPr>
            <a:r>
              <a:rPr lang="ar-SA" altLang="en-US" sz="1500" dirty="0">
                <a:solidFill>
                  <a:srgbClr val="1A2340"/>
                </a:solidFill>
                <a:latin typeface="Cairo" pitchFamily="34" charset="0"/>
                <a:ea typeface="Cairo" pitchFamily="34" charset="-122"/>
                <a:cs typeface="Cairo" pitchFamily="34" charset="-120"/>
              </a:rPr>
              <a:t>وصول أسرع للسكان والزوار</a:t>
            </a:r>
            <a:endParaRPr lang="ar-SA" sz="1500" dirty="0"/>
          </a:p>
        </p:txBody>
      </p:sp>
      <p:pic>
        <p:nvPicPr>
          <p:cNvPr id="22" name="anim2_116" descr="نافذة أفراد">    </p:cNvPr>
          <p:cNvPicPr>
            <a:picLocks noChangeAspect="1"/>
          </p:cNvPicPr>
          <p:nvPr/>
        </p:nvPicPr>
        <p:blipFill>
          <a:blip r:embed="rId8"/>
          <a:stretch>
            <a:fillRect/>
          </a:stretch>
        </p:blipFill>
        <p:spPr>
          <a:xfrm>
            <a:off x="5223967" y="3867912"/>
            <a:ext cx="310896" cy="310896"/>
          </a:xfrm>
          <a:prstGeom prst="rect">
            <a:avLst/>
          </a:prstGeom>
        </p:spPr>
      </p:pic>
      <p:sp>
        <p:nvSpPr>
          <p:cNvPr id="23" name="anim2_117"/>
          <p:cNvSpPr txBox="1"/>
          <p:nvPr/>
        </p:nvSpPr>
        <p:spPr>
          <a:xfrm>
            <a:off x="825703" y="3813048"/>
            <a:ext cx="4251960" cy="420624"/>
          </a:xfrm>
          <a:prstGeom prst="rect">
            <a:avLst/>
          </a:prstGeom>
          <a:noFill/>
          <a:ln/>
        </p:spPr>
        <p:txBody>
          <a:bodyPr wrap="square" lIns="0" tIns="0" rIns="0" bIns="0" rtlCol="0" anchor="ctr"/>
          <a:lstStyle/>
          <a:p>
            <a:pPr rtl="1" algn="r" indent="0" marL="0">
              <a:buNone/>
            </a:pPr>
            <a:r>
              <a:rPr lang="ar-SA" altLang="en-US" sz="1500" dirty="0">
                <a:solidFill>
                  <a:srgbClr val="1A2340"/>
                </a:solidFill>
                <a:latin typeface="Cairo" pitchFamily="34" charset="0"/>
                <a:ea typeface="Cairo" pitchFamily="34" charset="-122"/>
                <a:cs typeface="Cairo" pitchFamily="34" charset="-120"/>
              </a:rPr>
              <a:t>تجربة واحدة في المدن الأربع</a:t>
            </a:r>
            <a:endParaRPr lang="ar-SA" sz="1500" dirty="0"/>
          </a:p>
        </p:txBody>
      </p:sp>
      <p:sp>
        <p:nvSpPr>
          <p:cNvPr id="24" name="anim3_118"/>
          <p:cNvSpPr/>
          <p:nvPr/>
        </p:nvSpPr>
        <p:spPr>
          <a:xfrm>
            <a:off x="548640" y="4846320"/>
            <a:ext cx="11094415" cy="1051560"/>
          </a:xfrm>
          <a:prstGeom prst="roundRect">
            <a:avLst>
              <a:gd name="adj" fmla="val 13913"/>
            </a:avLst>
          </a:prstGeom>
          <a:solidFill>
            <a:srgbClr val="052977"/>
          </a:solidFill>
          <a:ln/>
        </p:spPr>
      </p:sp>
      <p:sp>
        <p:nvSpPr>
          <p:cNvPr id="25" name="anim3_119"/>
          <p:cNvSpPr/>
          <p:nvPr/>
        </p:nvSpPr>
        <p:spPr>
          <a:xfrm>
            <a:off x="10710367" y="5042916"/>
            <a:ext cx="658368" cy="658368"/>
          </a:xfrm>
          <a:prstGeom prst="ellipse">
            <a:avLst/>
          </a:prstGeom>
          <a:solidFill>
            <a:srgbClr val="FFFFFF"/>
          </a:solidFill>
          <a:ln/>
        </p:spPr>
      </p:sp>
      <p:pic>
        <p:nvPicPr>
          <p:cNvPr id="26" name="anim3_120" descr="نافذة أفراد">    </p:cNvPr>
          <p:cNvPicPr>
            <a:picLocks noChangeAspect="1"/>
          </p:cNvPicPr>
          <p:nvPr/>
        </p:nvPicPr>
        <p:blipFill>
          <a:blip r:embed="rId9"/>
          <a:stretch>
            <a:fillRect/>
          </a:stretch>
        </p:blipFill>
        <p:spPr>
          <a:xfrm>
            <a:off x="10894710" y="5227259"/>
            <a:ext cx="289682" cy="289682"/>
          </a:xfrm>
          <a:prstGeom prst="rect">
            <a:avLst/>
          </a:prstGeom>
        </p:spPr>
      </p:pic>
      <p:sp>
        <p:nvSpPr>
          <p:cNvPr id="27" name="anim3_121"/>
          <p:cNvSpPr txBox="1"/>
          <p:nvPr/>
        </p:nvSpPr>
        <p:spPr>
          <a:xfrm>
            <a:off x="914400" y="4846320"/>
            <a:ext cx="9585655" cy="1051560"/>
          </a:xfrm>
          <a:prstGeom prst="rect">
            <a:avLst/>
          </a:prstGeom>
          <a:noFill/>
          <a:ln/>
        </p:spPr>
        <p:txBody>
          <a:bodyPr wrap="square" lIns="0" tIns="0" rIns="0" bIns="0" rtlCol="0" anchor="ctr"/>
          <a:lstStyle/>
          <a:p>
            <a:pPr rtl="1" algn="r" indent="0" marL="0">
              <a:buNone/>
            </a:pPr>
            <a:r>
              <a:rPr lang="ar-SA" altLang="en-US" sz="1800" b="1" dirty="0">
                <a:solidFill>
                  <a:srgbClr val="FFFFFF"/>
                </a:solidFill>
                <a:latin typeface="Cairo" pitchFamily="34" charset="0"/>
                <a:ea typeface="Cairo" pitchFamily="34" charset="-122"/>
                <a:cs typeface="Cairo" pitchFamily="34" charset="-120"/>
              </a:rPr>
              <a:t>سؤال للحضور: كم تطبيقًا أو موقعًا تحتاج اليوم لتعرف فعاليات مدينتك وتصل إلى خدماتها؟</a:t>
            </a:r>
            <a:endParaRPr lang="ar-SA"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27"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5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450"/>
                                        <p:tgtEl>
                                          <p:spTgt spid="1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5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5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450"/>
                                        <p:tgtEl>
                                          <p:spTgt spid="15"/>
                                        </p:tgtEl>
                                      </p:cBhvr>
                                    </p:animEffect>
                                  </p:childTnLst>
                                </p:cTn>
                              </p:par>
                            </p:childTnLst>
                          </p:cTn>
                        </p:par>
                        <p:par>
                          <p:cTn id="52" fill="hold">
                            <p:stCondLst>
                              <p:cond delay="700"/>
                            </p:stCondLst>
                            <p:childTnLst>
                              <p:par>
                                <p:cTn id="28" presetID="10" presetClass="entr" presetSubtype="0" fill="hold" grpId="0" nodeType="after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50"/>
                                        <p:tgtEl>
                                          <p:spTgt spid="1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450"/>
                                        <p:tgtEl>
                                          <p:spTgt spid="1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450"/>
                                        <p:tgtEl>
                                          <p:spTgt spid="1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450"/>
                                        <p:tgtEl>
                                          <p:spTgt spid="20"/>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animEffect transition="in" filter="fade">
                                      <p:cBhvr>
                                        <p:cTn id="45" dur="450"/>
                                        <p:tgtEl>
                                          <p:spTgt spid="2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2"/>
                                        </p:tgtEl>
                                        <p:attrNameLst>
                                          <p:attrName>style.visibility</p:attrName>
                                        </p:attrNameLst>
                                      </p:cBhvr>
                                      <p:to>
                                        <p:strVal val="visible"/>
                                      </p:to>
                                    </p:set>
                                    <p:animEffect transition="in" filter="fade">
                                      <p:cBhvr>
                                        <p:cTn id="48" dur="450"/>
                                        <p:tgtEl>
                                          <p:spTgt spid="2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50"/>
                                        <p:tgtEl>
                                          <p:spTgt spid="23"/>
                                        </p:tgtEl>
                                      </p:cBhvr>
                                    </p:animEffect>
                                  </p:childTnLst>
                                </p:cTn>
                              </p:par>
                            </p:childTnLst>
                          </p:cTn>
                        </p:par>
                        <p:par>
                          <p:cTn id="65" fill="hold">
                            <p:stCondLst>
                              <p:cond delay="1400"/>
                            </p:stCondLst>
                            <p:childTnLst>
                              <p:par>
                                <p:cTn id="53" presetID="10" presetClass="entr" presetSubtype="0" fill="hold" grpId="0" nodeType="after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450"/>
                                        <p:tgtEl>
                                          <p:spTgt spid="24"/>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5"/>
                                        </p:tgtEl>
                                        <p:attrNameLst>
                                          <p:attrName>style.visibility</p:attrName>
                                        </p:attrNameLst>
                                      </p:cBhvr>
                                      <p:to>
                                        <p:strVal val="visible"/>
                                      </p:to>
                                    </p:set>
                                    <p:animEffect transition="in" filter="fade">
                                      <p:cBhvr>
                                        <p:cTn id="58" dur="450"/>
                                        <p:tgtEl>
                                          <p:spTgt spid="25"/>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6"/>
                                        </p:tgtEl>
                                        <p:attrNameLst>
                                          <p:attrName>style.visibility</p:attrName>
                                        </p:attrNameLst>
                                      </p:cBhvr>
                                      <p:to>
                                        <p:strVal val="visible"/>
                                      </p:to>
                                    </p:set>
                                    <p:animEffect transition="in" filter="fade">
                                      <p:cBhvr>
                                        <p:cTn id="61" dur="450"/>
                                        <p:tgtEl>
                                          <p:spTgt spid="26"/>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3" grpId="0" animBg="1"/>
      <p:bldP spid="15" grpId="0" animBg="1"/>
      <p:bldP spid="16" grpId="0" animBg="1"/>
      <p:bldP spid="17" grpId="0" animBg="1"/>
      <p:bldP spid="19" grpId="0" animBg="1"/>
      <p:bldP spid="21" grpId="0" animBg="1"/>
      <p:bldP spid="23" grpId="0" animBg="1"/>
      <p:bldP spid="24" grpId="0" animBg="1"/>
      <p:bldP spid="25" grpId="0" animBg="1"/>
      <p:bldP spid="2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خدمات نافذة أفراد</a:t>
            </a:r>
            <a:endParaRPr lang="ar-SA" sz="1400" dirty="0"/>
          </a:p>
        </p:txBody>
      </p:sp>
      <p:sp>
        <p:nvSpPr>
          <p:cNvPr id="4" name="Text 1"/>
          <p:cNvSpPr txBox="1"/>
          <p:nvPr/>
        </p:nvSpPr>
        <p:spPr>
          <a:xfrm>
            <a:off x="2926080" y="731520"/>
            <a:ext cx="8716975" cy="777240"/>
          </a:xfrm>
          <a:prstGeom prst="rect">
            <a:avLst/>
          </a:prstGeom>
          <a:noFill/>
          <a:ln/>
        </p:spPr>
        <p:txBody>
          <a:bodyPr wrap="square" lIns="0" tIns="0" rIns="0" bIns="0" rtlCol="0" anchor="t"/>
          <a:lstStyle/>
          <a:p>
            <a:pPr rtl="1" algn="r" indent="0" marL="0">
              <a:buNone/>
            </a:pPr>
            <a:r>
              <a:rPr lang="ar-SA" altLang="en-US" sz="3200" b="1" dirty="0">
                <a:solidFill>
                  <a:srgbClr val="052977"/>
                </a:solidFill>
                <a:latin typeface="Cairo" pitchFamily="34" charset="0"/>
                <a:ea typeface="Cairo" pitchFamily="34" charset="-122"/>
                <a:cs typeface="Cairo" pitchFamily="34" charset="-120"/>
              </a:rPr>
              <a:t>اكتشف المدينة</a:t>
            </a:r>
            <a:endParaRPr lang="ar-SA" sz="32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146304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8</a:t>
            </a:r>
            <a:endParaRPr lang="ar-SA" sz="1100" dirty="0"/>
          </a:p>
        </p:txBody>
      </p:sp>
      <p:sp>
        <p:nvSpPr>
          <p:cNvPr id="8" name="anim1_122"/>
          <p:cNvSpPr/>
          <p:nvPr/>
        </p:nvSpPr>
        <p:spPr>
          <a:xfrm>
            <a:off x="8214055" y="1874520"/>
            <a:ext cx="3429000" cy="3246120"/>
          </a:xfrm>
          <a:prstGeom prst="roundRect">
            <a:avLst>
              <a:gd name="adj" fmla="val 5634"/>
            </a:avLst>
          </a:prstGeom>
          <a:solidFill>
            <a:srgbClr val="EEF2FA"/>
          </a:solidFill>
          <a:ln/>
        </p:spPr>
      </p:sp>
      <p:sp>
        <p:nvSpPr>
          <p:cNvPr id="9" name="anim1_123"/>
          <p:cNvSpPr/>
          <p:nvPr/>
        </p:nvSpPr>
        <p:spPr>
          <a:xfrm>
            <a:off x="9334195" y="2286000"/>
            <a:ext cx="1188720" cy="1188720"/>
          </a:xfrm>
          <a:prstGeom prst="ellipse">
            <a:avLst/>
          </a:prstGeom>
          <a:solidFill>
            <a:srgbClr val="052977"/>
          </a:solidFill>
          <a:ln/>
        </p:spPr>
      </p:sp>
      <p:pic>
        <p:nvPicPr>
          <p:cNvPr id="10" name="anim1_124" descr="نافذة أفراد">    </p:cNvPr>
          <p:cNvPicPr>
            <a:picLocks noChangeAspect="1"/>
          </p:cNvPicPr>
          <p:nvPr/>
        </p:nvPicPr>
        <p:blipFill>
          <a:blip r:embed="rId3"/>
          <a:stretch>
            <a:fillRect/>
          </a:stretch>
        </p:blipFill>
        <p:spPr>
          <a:xfrm>
            <a:off x="9667037" y="2618842"/>
            <a:ext cx="523037" cy="523037"/>
          </a:xfrm>
          <a:prstGeom prst="rect">
            <a:avLst/>
          </a:prstGeom>
        </p:spPr>
      </p:pic>
      <p:sp>
        <p:nvSpPr>
          <p:cNvPr id="11" name="anim1_125"/>
          <p:cNvSpPr txBox="1"/>
          <p:nvPr/>
        </p:nvSpPr>
        <p:spPr>
          <a:xfrm>
            <a:off x="8488375" y="3703320"/>
            <a:ext cx="2880360" cy="548640"/>
          </a:xfrm>
          <a:prstGeom prst="rect">
            <a:avLst/>
          </a:prstGeom>
          <a:noFill/>
          <a:ln/>
        </p:spPr>
        <p:txBody>
          <a:bodyPr wrap="square" lIns="0" tIns="0" rIns="0" bIns="0" rtlCol="0" anchor="t"/>
          <a:lstStyle/>
          <a:p>
            <a:pPr rtl="1" algn="ctr" indent="0" marL="0">
              <a:buNone/>
            </a:pPr>
            <a:r>
              <a:rPr lang="ar-SA" altLang="en-US" sz="2400" b="1" dirty="0">
                <a:solidFill>
                  <a:srgbClr val="052977"/>
                </a:solidFill>
                <a:latin typeface="Cairo" pitchFamily="34" charset="0"/>
                <a:ea typeface="Cairo" pitchFamily="34" charset="-122"/>
                <a:cs typeface="Cairo" pitchFamily="34" charset="-120"/>
              </a:rPr>
              <a:t>الأماكن</a:t>
            </a:r>
            <a:endParaRPr lang="ar-SA" sz="2400" dirty="0"/>
          </a:p>
        </p:txBody>
      </p:sp>
      <p:sp>
        <p:nvSpPr>
          <p:cNvPr id="12" name="anim1_126"/>
          <p:cNvSpPr txBox="1"/>
          <p:nvPr/>
        </p:nvSpPr>
        <p:spPr>
          <a:xfrm>
            <a:off x="8488375" y="4343400"/>
            <a:ext cx="2880360" cy="731520"/>
          </a:xfrm>
          <a:prstGeom prst="rect">
            <a:avLst/>
          </a:prstGeom>
          <a:noFill/>
          <a:ln/>
        </p:spPr>
        <p:txBody>
          <a:bodyPr wrap="square" lIns="0" tIns="0" rIns="0" bIns="0" rtlCol="0" anchor="t"/>
          <a:lstStyle/>
          <a:p>
            <a:pPr rtl="1" algn="ctr" indent="0" marL="0">
              <a:buNone/>
            </a:pPr>
            <a:r>
              <a:rPr lang="ar-SA" altLang="en-US" sz="1500" dirty="0">
                <a:solidFill>
                  <a:srgbClr val="1A2340"/>
                </a:solidFill>
                <a:latin typeface="Cairo" pitchFamily="34" charset="0"/>
                <a:ea typeface="Cairo" pitchFamily="34" charset="-122"/>
                <a:cs typeface="Cairo" pitchFamily="34" charset="-120"/>
              </a:rPr>
              <a:t>تعرّف على وجهات المدينة ومعالمها</a:t>
            </a:r>
            <a:endParaRPr lang="ar-SA" sz="1500" dirty="0"/>
          </a:p>
        </p:txBody>
      </p:sp>
      <p:sp>
        <p:nvSpPr>
          <p:cNvPr id="13" name="anim2_127"/>
          <p:cNvSpPr/>
          <p:nvPr/>
        </p:nvSpPr>
        <p:spPr>
          <a:xfrm>
            <a:off x="4382719" y="1874520"/>
            <a:ext cx="3429000" cy="3246120"/>
          </a:xfrm>
          <a:prstGeom prst="roundRect">
            <a:avLst>
              <a:gd name="adj" fmla="val 5634"/>
            </a:avLst>
          </a:prstGeom>
          <a:solidFill>
            <a:srgbClr val="EEF2FA"/>
          </a:solidFill>
          <a:ln/>
        </p:spPr>
      </p:sp>
      <p:sp>
        <p:nvSpPr>
          <p:cNvPr id="14" name="anim2_128"/>
          <p:cNvSpPr/>
          <p:nvPr/>
        </p:nvSpPr>
        <p:spPr>
          <a:xfrm>
            <a:off x="5502859" y="2286000"/>
            <a:ext cx="1188720" cy="1188720"/>
          </a:xfrm>
          <a:prstGeom prst="ellipse">
            <a:avLst/>
          </a:prstGeom>
          <a:solidFill>
            <a:srgbClr val="052977"/>
          </a:solidFill>
          <a:ln/>
        </p:spPr>
      </p:sp>
      <p:pic>
        <p:nvPicPr>
          <p:cNvPr id="15" name="anim2_129" descr="نافذة أفراد">    </p:cNvPr>
          <p:cNvPicPr>
            <a:picLocks noChangeAspect="1"/>
          </p:cNvPicPr>
          <p:nvPr/>
        </p:nvPicPr>
        <p:blipFill>
          <a:blip r:embed="rId4"/>
          <a:stretch>
            <a:fillRect/>
          </a:stretch>
        </p:blipFill>
        <p:spPr>
          <a:xfrm>
            <a:off x="5835701" y="2618842"/>
            <a:ext cx="523037" cy="523037"/>
          </a:xfrm>
          <a:prstGeom prst="rect">
            <a:avLst/>
          </a:prstGeom>
        </p:spPr>
      </p:pic>
      <p:sp>
        <p:nvSpPr>
          <p:cNvPr id="16" name="anim2_130"/>
          <p:cNvSpPr txBox="1"/>
          <p:nvPr/>
        </p:nvSpPr>
        <p:spPr>
          <a:xfrm>
            <a:off x="4657039" y="3703320"/>
            <a:ext cx="2880360" cy="548640"/>
          </a:xfrm>
          <a:prstGeom prst="rect">
            <a:avLst/>
          </a:prstGeom>
          <a:noFill/>
          <a:ln/>
        </p:spPr>
        <p:txBody>
          <a:bodyPr wrap="square" lIns="0" tIns="0" rIns="0" bIns="0" rtlCol="0" anchor="t"/>
          <a:lstStyle/>
          <a:p>
            <a:pPr rtl="1" algn="ctr" indent="0" marL="0">
              <a:buNone/>
            </a:pPr>
            <a:r>
              <a:rPr lang="ar-SA" altLang="en-US" sz="2400" b="1" dirty="0">
                <a:solidFill>
                  <a:srgbClr val="052977"/>
                </a:solidFill>
                <a:latin typeface="Cairo" pitchFamily="34" charset="0"/>
                <a:ea typeface="Cairo" pitchFamily="34" charset="-122"/>
                <a:cs typeface="Cairo" pitchFamily="34" charset="-120"/>
              </a:rPr>
              <a:t>الفعاليات</a:t>
            </a:r>
            <a:endParaRPr lang="ar-SA" sz="2400" dirty="0"/>
          </a:p>
        </p:txBody>
      </p:sp>
      <p:sp>
        <p:nvSpPr>
          <p:cNvPr id="17" name="anim2_131"/>
          <p:cNvSpPr txBox="1"/>
          <p:nvPr/>
        </p:nvSpPr>
        <p:spPr>
          <a:xfrm>
            <a:off x="4657039" y="4343400"/>
            <a:ext cx="2880360" cy="731520"/>
          </a:xfrm>
          <a:prstGeom prst="rect">
            <a:avLst/>
          </a:prstGeom>
          <a:noFill/>
          <a:ln/>
        </p:spPr>
        <p:txBody>
          <a:bodyPr wrap="square" lIns="0" tIns="0" rIns="0" bIns="0" rtlCol="0" anchor="t"/>
          <a:lstStyle/>
          <a:p>
            <a:pPr rtl="1" algn="ctr" indent="0" marL="0">
              <a:buNone/>
            </a:pPr>
            <a:r>
              <a:rPr lang="ar-SA" altLang="en-US" sz="1500" dirty="0">
                <a:solidFill>
                  <a:srgbClr val="1A2340"/>
                </a:solidFill>
                <a:latin typeface="Cairo" pitchFamily="34" charset="0"/>
                <a:ea typeface="Cairo" pitchFamily="34" charset="-122"/>
                <a:cs typeface="Cairo" pitchFamily="34" charset="-120"/>
              </a:rPr>
              <a:t>تابع فعاليات المدينة في مكان واحد</a:t>
            </a:r>
            <a:endParaRPr lang="ar-SA" sz="1500" dirty="0"/>
          </a:p>
        </p:txBody>
      </p:sp>
      <p:sp>
        <p:nvSpPr>
          <p:cNvPr id="18" name="anim3_132"/>
          <p:cNvSpPr/>
          <p:nvPr/>
        </p:nvSpPr>
        <p:spPr>
          <a:xfrm>
            <a:off x="551383" y="1874520"/>
            <a:ext cx="3429000" cy="3246120"/>
          </a:xfrm>
          <a:prstGeom prst="roundRect">
            <a:avLst>
              <a:gd name="adj" fmla="val 5634"/>
            </a:avLst>
          </a:prstGeom>
          <a:solidFill>
            <a:srgbClr val="EEF2FA"/>
          </a:solidFill>
          <a:ln/>
        </p:spPr>
      </p:sp>
      <p:sp>
        <p:nvSpPr>
          <p:cNvPr id="19" name="anim3_133"/>
          <p:cNvSpPr/>
          <p:nvPr/>
        </p:nvSpPr>
        <p:spPr>
          <a:xfrm>
            <a:off x="1671523" y="2286000"/>
            <a:ext cx="1188720" cy="1188720"/>
          </a:xfrm>
          <a:prstGeom prst="ellipse">
            <a:avLst/>
          </a:prstGeom>
          <a:solidFill>
            <a:srgbClr val="052977"/>
          </a:solidFill>
          <a:ln/>
        </p:spPr>
      </p:sp>
      <p:pic>
        <p:nvPicPr>
          <p:cNvPr id="20" name="anim3_134" descr="نافذة أفراد">    </p:cNvPr>
          <p:cNvPicPr>
            <a:picLocks noChangeAspect="1"/>
          </p:cNvPicPr>
          <p:nvPr/>
        </p:nvPicPr>
        <p:blipFill>
          <a:blip r:embed="rId5"/>
          <a:stretch>
            <a:fillRect/>
          </a:stretch>
        </p:blipFill>
        <p:spPr>
          <a:xfrm>
            <a:off x="2004365" y="2618842"/>
            <a:ext cx="523037" cy="523037"/>
          </a:xfrm>
          <a:prstGeom prst="rect">
            <a:avLst/>
          </a:prstGeom>
        </p:spPr>
      </p:pic>
      <p:sp>
        <p:nvSpPr>
          <p:cNvPr id="21" name="anim3_135"/>
          <p:cNvSpPr txBox="1"/>
          <p:nvPr/>
        </p:nvSpPr>
        <p:spPr>
          <a:xfrm>
            <a:off x="825703" y="3703320"/>
            <a:ext cx="2880360" cy="548640"/>
          </a:xfrm>
          <a:prstGeom prst="rect">
            <a:avLst/>
          </a:prstGeom>
          <a:noFill/>
          <a:ln/>
        </p:spPr>
        <p:txBody>
          <a:bodyPr wrap="square" lIns="0" tIns="0" rIns="0" bIns="0" rtlCol="0" anchor="t"/>
          <a:lstStyle/>
          <a:p>
            <a:pPr rtl="1" algn="ctr" indent="0" marL="0">
              <a:buNone/>
            </a:pPr>
            <a:r>
              <a:rPr lang="ar-SA" altLang="en-US" sz="2400" b="1" dirty="0">
                <a:solidFill>
                  <a:srgbClr val="052977"/>
                </a:solidFill>
                <a:latin typeface="Cairo" pitchFamily="34" charset="0"/>
                <a:ea typeface="Cairo" pitchFamily="34" charset="-122"/>
                <a:cs typeface="Cairo" pitchFamily="34" charset="-120"/>
              </a:rPr>
              <a:t>التجارب</a:t>
            </a:r>
            <a:endParaRPr lang="ar-SA" sz="2400" dirty="0"/>
          </a:p>
        </p:txBody>
      </p:sp>
      <p:sp>
        <p:nvSpPr>
          <p:cNvPr id="22" name="anim3_136"/>
          <p:cNvSpPr txBox="1"/>
          <p:nvPr/>
        </p:nvSpPr>
        <p:spPr>
          <a:xfrm>
            <a:off x="825703" y="4343400"/>
            <a:ext cx="2880360" cy="731520"/>
          </a:xfrm>
          <a:prstGeom prst="rect">
            <a:avLst/>
          </a:prstGeom>
          <a:noFill/>
          <a:ln/>
        </p:spPr>
        <p:txBody>
          <a:bodyPr wrap="square" lIns="0" tIns="0" rIns="0" bIns="0" rtlCol="0" anchor="t"/>
          <a:lstStyle/>
          <a:p>
            <a:pPr rtl="1" algn="ctr" indent="0" marL="0">
              <a:buNone/>
            </a:pPr>
            <a:r>
              <a:rPr lang="ar-SA" altLang="en-US" sz="1500" dirty="0">
                <a:solidFill>
                  <a:srgbClr val="1A2340"/>
                </a:solidFill>
                <a:latin typeface="Cairo" pitchFamily="34" charset="0"/>
                <a:ea typeface="Cairo" pitchFamily="34" charset="-122"/>
                <a:cs typeface="Cairo" pitchFamily="34" charset="-120"/>
              </a:rPr>
              <a:t>تجارب المدينة للسكان والزوار</a:t>
            </a:r>
            <a:endParaRPr lang="ar-SA"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18"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5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450"/>
                                        <p:tgtEl>
                                          <p:spTgt spid="1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childTnLst>
                          </p:cTn>
                        </p:par>
                        <p:par>
                          <p:cTn id="34" fill="hold">
                            <p:stCondLst>
                              <p:cond delay="700"/>
                            </p:stCondLst>
                            <p:childTnLst>
                              <p:par>
                                <p:cTn id="19" presetID="10" presetClass="entr" presetSubtype="0" fill="hold" grpId="0" nodeType="after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5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5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50"/>
                                        <p:tgtEl>
                                          <p:spTgt spid="17"/>
                                        </p:tgtEl>
                                      </p:cBhvr>
                                    </p:animEffect>
                                  </p:childTnLst>
                                </p:cTn>
                              </p:par>
                            </p:childTnLst>
                          </p:cTn>
                        </p:par>
                        <p:par>
                          <p:cTn id="50" fill="hold">
                            <p:stCondLst>
                              <p:cond delay="1400"/>
                            </p:stCondLst>
                            <p:childTnLst>
                              <p:par>
                                <p:cTn id="35" presetID="10" presetClass="entr" presetSubtype="0" fill="hold" grpId="0" nodeType="after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5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50"/>
                                        <p:tgtEl>
                                          <p:spTgt spid="2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450"/>
                                        <p:tgtEl>
                                          <p:spTgt spid="21"/>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2" grpId="0" animBg="1"/>
      <p:bldP spid="13" grpId="0" animBg="1"/>
      <p:bldP spid="14" grpId="0" animBg="1"/>
      <p:bldP spid="16" grpId="0" animBg="1"/>
      <p:bldP spid="17" grpId="0" animBg="1"/>
      <p:bldP spid="18" grpId="0" animBg="1"/>
      <p:bldP spid="19" grpId="0" animBg="1"/>
      <p:bldP spid="21" grpId="0" animBg="1"/>
      <p:bldP spid="2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خدمات نافذة أفراد</a:t>
            </a:r>
            <a:endParaRPr lang="ar-SA" sz="1400" dirty="0"/>
          </a:p>
        </p:txBody>
      </p:sp>
      <p:sp>
        <p:nvSpPr>
          <p:cNvPr id="4" name="Text 1"/>
          <p:cNvSpPr txBox="1"/>
          <p:nvPr/>
        </p:nvSpPr>
        <p:spPr>
          <a:xfrm>
            <a:off x="2926080" y="731520"/>
            <a:ext cx="8716975" cy="777240"/>
          </a:xfrm>
          <a:prstGeom prst="rect">
            <a:avLst/>
          </a:prstGeom>
          <a:noFill/>
          <a:ln/>
        </p:spPr>
        <p:txBody>
          <a:bodyPr wrap="square" lIns="0" tIns="0" rIns="0" bIns="0" rtlCol="0" anchor="t"/>
          <a:lstStyle/>
          <a:p>
            <a:pPr rtl="1" algn="r" indent="0" marL="0">
              <a:buNone/>
            </a:pPr>
            <a:r>
              <a:rPr lang="ar-SA" altLang="en-US" sz="3200" b="1" dirty="0">
                <a:solidFill>
                  <a:srgbClr val="052977"/>
                </a:solidFill>
                <a:latin typeface="Cairo" pitchFamily="34" charset="0"/>
                <a:ea typeface="Cairo" pitchFamily="34" charset="-122"/>
                <a:cs typeface="Cairo" pitchFamily="34" charset="-120"/>
              </a:rPr>
              <a:t>أنجز من التطبيق</a:t>
            </a:r>
            <a:endParaRPr lang="ar-SA" sz="32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146304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9</a:t>
            </a:r>
            <a:endParaRPr lang="ar-SA" sz="1100" dirty="0"/>
          </a:p>
        </p:txBody>
      </p:sp>
      <p:sp>
        <p:nvSpPr>
          <p:cNvPr id="8" name="anim1_137"/>
          <p:cNvSpPr/>
          <p:nvPr/>
        </p:nvSpPr>
        <p:spPr>
          <a:xfrm>
            <a:off x="914400" y="1783080"/>
            <a:ext cx="3749040" cy="3749040"/>
          </a:xfrm>
          <a:prstGeom prst="ellipse">
            <a:avLst/>
          </a:prstGeom>
          <a:solidFill>
            <a:srgbClr val="EEF2FA"/>
          </a:solidFill>
          <a:ln/>
        </p:spPr>
      </p:sp>
      <p:pic>
        <p:nvPicPr>
          <p:cNvPr id="9" name="anim1_138" descr="نافذة أفراد">    </p:cNvPr>
          <p:cNvPicPr>
            <a:picLocks noChangeAspect="1"/>
          </p:cNvPicPr>
          <p:nvPr/>
        </p:nvPicPr>
        <p:blipFill>
          <a:blip r:embed="rId3"/>
          <a:stretch>
            <a:fillRect/>
          </a:stretch>
        </p:blipFill>
        <p:spPr>
          <a:xfrm>
            <a:off x="2057400" y="2788920"/>
            <a:ext cx="1463040" cy="1463040"/>
          </a:xfrm>
          <a:prstGeom prst="rect">
            <a:avLst/>
          </a:prstGeom>
        </p:spPr>
      </p:pic>
      <p:sp>
        <p:nvSpPr>
          <p:cNvPr id="10" name="anim2_139"/>
          <p:cNvSpPr/>
          <p:nvPr/>
        </p:nvSpPr>
        <p:spPr>
          <a:xfrm>
            <a:off x="5486400" y="1783080"/>
            <a:ext cx="6156655" cy="1051560"/>
          </a:xfrm>
          <a:prstGeom prst="roundRect">
            <a:avLst>
              <a:gd name="adj" fmla="val 13913"/>
            </a:avLst>
          </a:prstGeom>
          <a:solidFill>
            <a:srgbClr val="FFFFFF"/>
          </a:solidFill>
          <a:ln w="12700">
            <a:solidFill>
              <a:srgbClr val="D6DEEE"/>
            </a:solidFill>
            <a:prstDash val="solid"/>
          </a:ln>
        </p:spPr>
      </p:sp>
      <p:sp>
        <p:nvSpPr>
          <p:cNvPr id="11" name="anim2_140"/>
          <p:cNvSpPr/>
          <p:nvPr/>
        </p:nvSpPr>
        <p:spPr>
          <a:xfrm>
            <a:off x="10728655" y="1965960"/>
            <a:ext cx="685800" cy="685800"/>
          </a:xfrm>
          <a:prstGeom prst="ellipse">
            <a:avLst/>
          </a:prstGeom>
          <a:solidFill>
            <a:srgbClr val="052977"/>
          </a:solidFill>
          <a:ln/>
        </p:spPr>
      </p:sp>
      <p:pic>
        <p:nvPicPr>
          <p:cNvPr id="12" name="anim2_141" descr="نافذة أفراد">    </p:cNvPr>
          <p:cNvPicPr>
            <a:picLocks noChangeAspect="1"/>
          </p:cNvPicPr>
          <p:nvPr/>
        </p:nvPicPr>
        <p:blipFill>
          <a:blip r:embed="rId4"/>
          <a:stretch>
            <a:fillRect/>
          </a:stretch>
        </p:blipFill>
        <p:spPr>
          <a:xfrm>
            <a:off x="10920679" y="2157984"/>
            <a:ext cx="301752" cy="301752"/>
          </a:xfrm>
          <a:prstGeom prst="rect">
            <a:avLst/>
          </a:prstGeom>
        </p:spPr>
      </p:pic>
      <p:sp>
        <p:nvSpPr>
          <p:cNvPr id="13" name="anim2_142"/>
          <p:cNvSpPr txBox="1"/>
          <p:nvPr/>
        </p:nvSpPr>
        <p:spPr>
          <a:xfrm>
            <a:off x="5760720" y="1911096"/>
            <a:ext cx="4876495" cy="411480"/>
          </a:xfrm>
          <a:prstGeom prst="rect">
            <a:avLst/>
          </a:prstGeom>
          <a:noFill/>
          <a:ln/>
        </p:spPr>
        <p:txBody>
          <a:bodyPr wrap="square" lIns="0" tIns="0" rIns="0" bIns="0" rtlCol="0" anchor="t"/>
          <a:lstStyle/>
          <a:p>
            <a:pPr rtl="1" algn="r" indent="0" marL="0">
              <a:buNone/>
            </a:pPr>
            <a:r>
              <a:rPr lang="ar-SA" altLang="en-US" sz="1900" b="1" dirty="0">
                <a:solidFill>
                  <a:srgbClr val="052977"/>
                </a:solidFill>
                <a:latin typeface="Cairo" pitchFamily="34" charset="0"/>
                <a:ea typeface="Cairo" pitchFamily="34" charset="-122"/>
                <a:cs typeface="Cairo" pitchFamily="34" charset="-120"/>
              </a:rPr>
              <a:t>خدمات المدينة</a:t>
            </a:r>
            <a:endParaRPr lang="ar-SA" sz="1900" dirty="0"/>
          </a:p>
        </p:txBody>
      </p:sp>
      <p:sp>
        <p:nvSpPr>
          <p:cNvPr id="14" name="anim2_143"/>
          <p:cNvSpPr txBox="1"/>
          <p:nvPr/>
        </p:nvSpPr>
        <p:spPr>
          <a:xfrm>
            <a:off x="5760720" y="2331720"/>
            <a:ext cx="4876495" cy="365760"/>
          </a:xfrm>
          <a:prstGeom prst="rect">
            <a:avLst/>
          </a:prstGeom>
          <a:noFill/>
          <a:ln/>
        </p:spPr>
        <p:txBody>
          <a:bodyPr wrap="square" lIns="0" tIns="0" rIns="0" bIns="0" rtlCol="0" anchor="t"/>
          <a:lstStyle/>
          <a:p>
            <a:pPr rtl="1" algn="r" indent="0" marL="0">
              <a:buNone/>
            </a:pPr>
            <a:r>
              <a:rPr lang="ar-SA" altLang="en-US" sz="1400" dirty="0">
                <a:solidFill>
                  <a:srgbClr val="5B6784"/>
                </a:solidFill>
                <a:latin typeface="Cairo" pitchFamily="34" charset="0"/>
                <a:ea typeface="Cairo" pitchFamily="34" charset="-122"/>
                <a:cs typeface="Cairo" pitchFamily="34" charset="-120"/>
              </a:rPr>
              <a:t>الوصول إلى خدمات المدينة من مكان واحد</a:t>
            </a:r>
            <a:endParaRPr lang="ar-SA" sz="1400" dirty="0"/>
          </a:p>
        </p:txBody>
      </p:sp>
      <p:sp>
        <p:nvSpPr>
          <p:cNvPr id="15" name="anim3_144"/>
          <p:cNvSpPr/>
          <p:nvPr/>
        </p:nvSpPr>
        <p:spPr>
          <a:xfrm>
            <a:off x="5486400" y="3063240"/>
            <a:ext cx="6156655" cy="1051560"/>
          </a:xfrm>
          <a:prstGeom prst="roundRect">
            <a:avLst>
              <a:gd name="adj" fmla="val 13913"/>
            </a:avLst>
          </a:prstGeom>
          <a:solidFill>
            <a:srgbClr val="FFFFFF"/>
          </a:solidFill>
          <a:ln w="12700">
            <a:solidFill>
              <a:srgbClr val="D6DEEE"/>
            </a:solidFill>
            <a:prstDash val="solid"/>
          </a:ln>
        </p:spPr>
      </p:sp>
      <p:sp>
        <p:nvSpPr>
          <p:cNvPr id="16" name="anim3_145"/>
          <p:cNvSpPr/>
          <p:nvPr/>
        </p:nvSpPr>
        <p:spPr>
          <a:xfrm>
            <a:off x="10728655" y="3246120"/>
            <a:ext cx="685800" cy="685800"/>
          </a:xfrm>
          <a:prstGeom prst="ellipse">
            <a:avLst/>
          </a:prstGeom>
          <a:solidFill>
            <a:srgbClr val="052977"/>
          </a:solidFill>
          <a:ln/>
        </p:spPr>
      </p:sp>
      <p:pic>
        <p:nvPicPr>
          <p:cNvPr id="17" name="anim3_146" descr="نافذة أفراد">    </p:cNvPr>
          <p:cNvPicPr>
            <a:picLocks noChangeAspect="1"/>
          </p:cNvPicPr>
          <p:nvPr/>
        </p:nvPicPr>
        <p:blipFill>
          <a:blip r:embed="rId5"/>
          <a:stretch>
            <a:fillRect/>
          </a:stretch>
        </p:blipFill>
        <p:spPr>
          <a:xfrm>
            <a:off x="10920679" y="3438144"/>
            <a:ext cx="301752" cy="301752"/>
          </a:xfrm>
          <a:prstGeom prst="rect">
            <a:avLst/>
          </a:prstGeom>
        </p:spPr>
      </p:pic>
      <p:sp>
        <p:nvSpPr>
          <p:cNvPr id="18" name="anim3_147"/>
          <p:cNvSpPr txBox="1"/>
          <p:nvPr/>
        </p:nvSpPr>
        <p:spPr>
          <a:xfrm>
            <a:off x="5760720" y="3191256"/>
            <a:ext cx="4876495" cy="411480"/>
          </a:xfrm>
          <a:prstGeom prst="rect">
            <a:avLst/>
          </a:prstGeom>
          <a:noFill/>
          <a:ln/>
        </p:spPr>
        <p:txBody>
          <a:bodyPr wrap="square" lIns="0" tIns="0" rIns="0" bIns="0" rtlCol="0" anchor="t"/>
          <a:lstStyle/>
          <a:p>
            <a:pPr rtl="1" algn="r" indent="0" marL="0">
              <a:buNone/>
            </a:pPr>
            <a:r>
              <a:rPr lang="ar-SA" altLang="en-US" sz="1900" b="1" dirty="0">
                <a:solidFill>
                  <a:srgbClr val="052977"/>
                </a:solidFill>
                <a:latin typeface="Cairo" pitchFamily="34" charset="0"/>
                <a:ea typeface="Cairo" pitchFamily="34" charset="-122"/>
                <a:cs typeface="Cairo" pitchFamily="34" charset="-120"/>
              </a:rPr>
              <a:t>الفرص</a:t>
            </a:r>
            <a:endParaRPr lang="ar-SA" sz="1900" dirty="0"/>
          </a:p>
        </p:txBody>
      </p:sp>
      <p:sp>
        <p:nvSpPr>
          <p:cNvPr id="19" name="anim3_148"/>
          <p:cNvSpPr txBox="1"/>
          <p:nvPr/>
        </p:nvSpPr>
        <p:spPr>
          <a:xfrm>
            <a:off x="5760720" y="3611880"/>
            <a:ext cx="4876495" cy="365760"/>
          </a:xfrm>
          <a:prstGeom prst="rect">
            <a:avLst/>
          </a:prstGeom>
          <a:noFill/>
          <a:ln/>
        </p:spPr>
        <p:txBody>
          <a:bodyPr wrap="square" lIns="0" tIns="0" rIns="0" bIns="0" rtlCol="0" anchor="t"/>
          <a:lstStyle/>
          <a:p>
            <a:pPr rtl="1" algn="r" indent="0" marL="0">
              <a:buNone/>
            </a:pPr>
            <a:r>
              <a:rPr lang="ar-SA" altLang="en-US" sz="1400" dirty="0">
                <a:solidFill>
                  <a:srgbClr val="5B6784"/>
                </a:solidFill>
                <a:latin typeface="Cairo" pitchFamily="34" charset="0"/>
                <a:ea typeface="Cairo" pitchFamily="34" charset="-122"/>
                <a:cs typeface="Cairo" pitchFamily="34" charset="-120"/>
              </a:rPr>
              <a:t>اطّلع على فرص المدينة المتاحة</a:t>
            </a:r>
            <a:endParaRPr lang="ar-SA" sz="1400" dirty="0"/>
          </a:p>
        </p:txBody>
      </p:sp>
      <p:sp>
        <p:nvSpPr>
          <p:cNvPr id="20" name="anim4_149"/>
          <p:cNvSpPr/>
          <p:nvPr/>
        </p:nvSpPr>
        <p:spPr>
          <a:xfrm>
            <a:off x="5486400" y="4343400"/>
            <a:ext cx="6156655" cy="1051560"/>
          </a:xfrm>
          <a:prstGeom prst="roundRect">
            <a:avLst>
              <a:gd name="adj" fmla="val 13913"/>
            </a:avLst>
          </a:prstGeom>
          <a:solidFill>
            <a:srgbClr val="FFFFFF"/>
          </a:solidFill>
          <a:ln w="12700">
            <a:solidFill>
              <a:srgbClr val="D6DEEE"/>
            </a:solidFill>
            <a:prstDash val="solid"/>
          </a:ln>
        </p:spPr>
      </p:sp>
      <p:sp>
        <p:nvSpPr>
          <p:cNvPr id="21" name="anim4_150"/>
          <p:cNvSpPr/>
          <p:nvPr/>
        </p:nvSpPr>
        <p:spPr>
          <a:xfrm>
            <a:off x="10728655" y="4526280"/>
            <a:ext cx="685800" cy="685800"/>
          </a:xfrm>
          <a:prstGeom prst="ellipse">
            <a:avLst/>
          </a:prstGeom>
          <a:solidFill>
            <a:srgbClr val="052977"/>
          </a:solidFill>
          <a:ln/>
        </p:spPr>
      </p:sp>
      <p:pic>
        <p:nvPicPr>
          <p:cNvPr id="22" name="anim4_151" descr="نافذة أفراد">    </p:cNvPr>
          <p:cNvPicPr>
            <a:picLocks noChangeAspect="1"/>
          </p:cNvPicPr>
          <p:nvPr/>
        </p:nvPicPr>
        <p:blipFill>
          <a:blip r:embed="rId6"/>
          <a:stretch>
            <a:fillRect/>
          </a:stretch>
        </p:blipFill>
        <p:spPr>
          <a:xfrm>
            <a:off x="10920679" y="4718304"/>
            <a:ext cx="301752" cy="301752"/>
          </a:xfrm>
          <a:prstGeom prst="rect">
            <a:avLst/>
          </a:prstGeom>
        </p:spPr>
      </p:pic>
      <p:sp>
        <p:nvSpPr>
          <p:cNvPr id="23" name="anim4_152"/>
          <p:cNvSpPr txBox="1"/>
          <p:nvPr/>
        </p:nvSpPr>
        <p:spPr>
          <a:xfrm>
            <a:off x="5760720" y="4471416"/>
            <a:ext cx="4876495" cy="411480"/>
          </a:xfrm>
          <a:prstGeom prst="rect">
            <a:avLst/>
          </a:prstGeom>
          <a:noFill/>
          <a:ln/>
        </p:spPr>
        <p:txBody>
          <a:bodyPr wrap="square" lIns="0" tIns="0" rIns="0" bIns="0" rtlCol="0" anchor="t"/>
          <a:lstStyle/>
          <a:p>
            <a:pPr rtl="1" algn="r" indent="0" marL="0">
              <a:buNone/>
            </a:pPr>
            <a:r>
              <a:rPr lang="ar-SA" altLang="en-US" sz="1900" b="1" dirty="0">
                <a:solidFill>
                  <a:srgbClr val="052977"/>
                </a:solidFill>
                <a:latin typeface="Cairo" pitchFamily="34" charset="0"/>
                <a:ea typeface="Cairo" pitchFamily="34" charset="-122"/>
                <a:cs typeface="Cairo" pitchFamily="34" charset="-120"/>
              </a:rPr>
              <a:t>المدن الأربع</a:t>
            </a:r>
            <a:endParaRPr lang="ar-SA" sz="1900" dirty="0"/>
          </a:p>
        </p:txBody>
      </p:sp>
      <p:sp>
        <p:nvSpPr>
          <p:cNvPr id="24" name="anim4_153"/>
          <p:cNvSpPr txBox="1"/>
          <p:nvPr/>
        </p:nvSpPr>
        <p:spPr>
          <a:xfrm>
            <a:off x="5760720" y="4892040"/>
            <a:ext cx="4876495" cy="365760"/>
          </a:xfrm>
          <a:prstGeom prst="rect">
            <a:avLst/>
          </a:prstGeom>
          <a:noFill/>
          <a:ln/>
        </p:spPr>
        <p:txBody>
          <a:bodyPr wrap="square" lIns="0" tIns="0" rIns="0" bIns="0" rtlCol="0" anchor="t"/>
          <a:lstStyle/>
          <a:p>
            <a:pPr rtl="1" algn="r" indent="0" marL="0">
              <a:buNone/>
            </a:pPr>
            <a:r>
              <a:rPr lang="ar-SA" altLang="en-US" sz="1400" dirty="0">
                <a:solidFill>
                  <a:srgbClr val="5B6784"/>
                </a:solidFill>
                <a:latin typeface="Cairo" pitchFamily="34" charset="0"/>
                <a:ea typeface="Cairo" pitchFamily="34" charset="-122"/>
                <a:cs typeface="Cairo" pitchFamily="34" charset="-120"/>
              </a:rPr>
              <a:t>الجبيل ورأس الخير وينبع وجازان في تطبيق واحد</a:t>
            </a:r>
            <a:endParaRPr lang="ar-SA"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par>
                          <p:cTn id="25" fill="hold">
                            <p:stCondLst>
                              <p:cond delay="700"/>
                            </p:stCondLst>
                            <p:childTnLst>
                              <p:par>
                                <p:cTn id="10" presetID="10" presetClass="entr" presetSubtype="0" fill="hold" grpId="0" nodeType="after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50"/>
                                        <p:tgtEl>
                                          <p:spTgt spid="1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45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450"/>
                                        <p:tgtEl>
                                          <p:spTgt spid="12"/>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5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50"/>
                                        <p:tgtEl>
                                          <p:spTgt spid="14"/>
                                        </p:tgtEl>
                                      </p:cBhvr>
                                    </p:animEffect>
                                  </p:childTnLst>
                                </p:cTn>
                              </p:par>
                            </p:childTnLst>
                          </p:cTn>
                        </p:par>
                        <p:par>
                          <p:cTn id="41" fill="hold">
                            <p:stCondLst>
                              <p:cond delay="1400"/>
                            </p:stCondLst>
                            <p:childTnLst>
                              <p:par>
                                <p:cTn id="26" presetID="10" presetClass="entr" presetSubtype="0" fill="hold" grpId="0" nodeType="after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450"/>
                                        <p:tgtEl>
                                          <p:spTgt spid="1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450"/>
                                        <p:tgtEl>
                                          <p:spTgt spid="1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450"/>
                                        <p:tgtEl>
                                          <p:spTgt spid="1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5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childTnLst>
                                </p:cTn>
                              </p:par>
                            </p:childTnLst>
                          </p:cTn>
                        </p:par>
                        <p:par>
                          <p:cTn id="57" fill="hold">
                            <p:stCondLst>
                              <p:cond delay="2100"/>
                            </p:stCondLst>
                            <p:childTnLst>
                              <p:par>
                                <p:cTn id="42" presetID="10" presetClass="entr" presetSubtype="0" fill="hold" grpId="0"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50"/>
                                        <p:tgtEl>
                                          <p:spTgt spid="2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450"/>
                                        <p:tgtEl>
                                          <p:spTgt spid="2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450"/>
                                        <p:tgtEl>
                                          <p:spTgt spid="2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450"/>
                                        <p:tgtEl>
                                          <p:spTgt spid="2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4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التطبيق</a:t>
            </a:r>
            <a:endParaRPr lang="ar-SA" sz="1400" dirty="0"/>
          </a:p>
        </p:txBody>
      </p:sp>
      <p:sp>
        <p:nvSpPr>
          <p:cNvPr id="4" name="Text 1"/>
          <p:cNvSpPr txBox="1"/>
          <p:nvPr/>
        </p:nvSpPr>
        <p:spPr>
          <a:xfrm>
            <a:off x="2926080" y="731520"/>
            <a:ext cx="8716975" cy="777240"/>
          </a:xfrm>
          <a:prstGeom prst="rect">
            <a:avLst/>
          </a:prstGeom>
          <a:noFill/>
          <a:ln/>
        </p:spPr>
        <p:txBody>
          <a:bodyPr wrap="square" lIns="0" tIns="0" rIns="0" bIns="0" rtlCol="0" anchor="t"/>
          <a:lstStyle/>
          <a:p>
            <a:pPr rtl="1" algn="r" indent="0" marL="0">
              <a:buNone/>
            </a:pPr>
            <a:r>
              <a:rPr lang="ar-SA" altLang="en-US" sz="3200" b="1" dirty="0">
                <a:solidFill>
                  <a:srgbClr val="052977"/>
                </a:solidFill>
                <a:latin typeface="Cairo" pitchFamily="34" charset="0"/>
                <a:ea typeface="Cairo" pitchFamily="34" charset="-122"/>
                <a:cs typeface="Cairo" pitchFamily="34" charset="-120"/>
              </a:rPr>
              <a:t>رحلة المستخدم: من الفتح إلى الإنجاز</a:t>
            </a:r>
            <a:endParaRPr lang="ar-SA" sz="32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146304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10</a:t>
            </a:r>
            <a:endParaRPr lang="ar-SA" sz="1100" dirty="0"/>
          </a:p>
        </p:txBody>
      </p:sp>
      <p:sp>
        <p:nvSpPr>
          <p:cNvPr id="8" name="anim1_154"/>
          <p:cNvSpPr/>
          <p:nvPr/>
        </p:nvSpPr>
        <p:spPr>
          <a:xfrm>
            <a:off x="2141182" y="3360420"/>
            <a:ext cx="7909331" cy="0"/>
          </a:xfrm>
          <a:prstGeom prst="line">
            <a:avLst/>
          </a:prstGeom>
          <a:noFill/>
          <a:ln w="25400">
            <a:solidFill>
              <a:srgbClr val="D6DEEE"/>
            </a:solidFill>
            <a:prstDash val="solid"/>
          </a:ln>
        </p:spPr>
      </p:sp>
      <p:sp>
        <p:nvSpPr>
          <p:cNvPr id="9" name="anim1_155"/>
          <p:cNvSpPr/>
          <p:nvPr/>
        </p:nvSpPr>
        <p:spPr>
          <a:xfrm>
            <a:off x="9479013" y="2788920"/>
            <a:ext cx="1143000" cy="1143000"/>
          </a:xfrm>
          <a:prstGeom prst="ellipse">
            <a:avLst/>
          </a:prstGeom>
          <a:solidFill>
            <a:srgbClr val="052977"/>
          </a:solidFill>
          <a:ln/>
        </p:spPr>
      </p:sp>
      <p:pic>
        <p:nvPicPr>
          <p:cNvPr id="10" name="anim1_156" descr="نافذة أفراد">    </p:cNvPr>
          <p:cNvPicPr>
            <a:picLocks noChangeAspect="1"/>
          </p:cNvPicPr>
          <p:nvPr/>
        </p:nvPicPr>
        <p:blipFill>
          <a:blip r:embed="rId3"/>
          <a:stretch>
            <a:fillRect/>
          </a:stretch>
        </p:blipFill>
        <p:spPr>
          <a:xfrm>
            <a:off x="9799053" y="3108960"/>
            <a:ext cx="502920" cy="502920"/>
          </a:xfrm>
          <a:prstGeom prst="rect">
            <a:avLst/>
          </a:prstGeom>
        </p:spPr>
      </p:pic>
      <p:sp>
        <p:nvSpPr>
          <p:cNvPr id="11" name="anim1_157"/>
          <p:cNvSpPr/>
          <p:nvPr/>
        </p:nvSpPr>
        <p:spPr>
          <a:xfrm>
            <a:off x="10237965" y="2679192"/>
            <a:ext cx="420624" cy="420624"/>
          </a:xfrm>
          <a:prstGeom prst="ellipse">
            <a:avLst/>
          </a:prstGeom>
          <a:solidFill>
            <a:srgbClr val="FFFFFF"/>
          </a:solidFill>
          <a:ln w="19050">
            <a:solidFill>
              <a:srgbClr val="052977"/>
            </a:solidFill>
            <a:prstDash val="solid"/>
          </a:ln>
        </p:spPr>
      </p:sp>
      <p:sp>
        <p:nvSpPr>
          <p:cNvPr id="12" name="anim1_158"/>
          <p:cNvSpPr txBox="1"/>
          <p:nvPr/>
        </p:nvSpPr>
        <p:spPr>
          <a:xfrm>
            <a:off x="10237965" y="2679192"/>
            <a:ext cx="420624" cy="420624"/>
          </a:xfrm>
          <a:prstGeom prst="rect">
            <a:avLst/>
          </a:prstGeom>
          <a:noFill/>
          <a:ln/>
        </p:spPr>
        <p:txBody>
          <a:bodyPr wrap="square" lIns="0" tIns="0" rIns="0" bIns="0" rtlCol="0" anchor="ctr"/>
          <a:lstStyle/>
          <a:p>
            <a:pPr rtl="1" algn="ctr" indent="0" marL="0">
              <a:buNone/>
            </a:pPr>
            <a:r>
              <a:rPr lang="ar-SA" altLang="en-US" sz="1400" b="1" dirty="0">
                <a:solidFill>
                  <a:srgbClr val="052977"/>
                </a:solidFill>
                <a:latin typeface="Cairo" pitchFamily="34" charset="0"/>
                <a:ea typeface="Cairo" pitchFamily="34" charset="-122"/>
                <a:cs typeface="Cairo" pitchFamily="34" charset="-120"/>
              </a:rPr>
              <a:t>1</a:t>
            </a:r>
            <a:endParaRPr lang="ar-SA" sz="1400" dirty="0"/>
          </a:p>
        </p:txBody>
      </p:sp>
      <p:sp>
        <p:nvSpPr>
          <p:cNvPr id="13" name="anim1_159"/>
          <p:cNvSpPr txBox="1"/>
          <p:nvPr/>
        </p:nvSpPr>
        <p:spPr>
          <a:xfrm>
            <a:off x="8823731" y="4206240"/>
            <a:ext cx="2453564" cy="457200"/>
          </a:xfrm>
          <a:prstGeom prst="rect">
            <a:avLst/>
          </a:prstGeom>
          <a:noFill/>
          <a:ln/>
        </p:spPr>
        <p:txBody>
          <a:bodyPr wrap="square" lIns="0" tIns="0" rIns="0" bIns="0" rtlCol="0" anchor="t"/>
          <a:lstStyle/>
          <a:p>
            <a:pPr rtl="1" algn="ctr" indent="0" marL="0">
              <a:buNone/>
            </a:pPr>
            <a:r>
              <a:rPr lang="ar-SA" altLang="en-US" sz="2000" b="1" dirty="0">
                <a:solidFill>
                  <a:srgbClr val="052977"/>
                </a:solidFill>
                <a:latin typeface="Cairo" pitchFamily="34" charset="0"/>
                <a:ea typeface="Cairo" pitchFamily="34" charset="-122"/>
                <a:cs typeface="Cairo" pitchFamily="34" charset="-120"/>
              </a:rPr>
              <a:t>افتح التطبيق</a:t>
            </a:r>
            <a:endParaRPr lang="ar-SA" sz="2000" dirty="0"/>
          </a:p>
        </p:txBody>
      </p:sp>
      <p:sp>
        <p:nvSpPr>
          <p:cNvPr id="14" name="anim1_160"/>
          <p:cNvSpPr txBox="1"/>
          <p:nvPr/>
        </p:nvSpPr>
        <p:spPr>
          <a:xfrm>
            <a:off x="8823731" y="4709160"/>
            <a:ext cx="2453564" cy="411480"/>
          </a:xfrm>
          <a:prstGeom prst="rect">
            <a:avLst/>
          </a:prstGeom>
          <a:noFill/>
          <a:ln/>
        </p:spPr>
        <p:txBody>
          <a:bodyPr wrap="square" lIns="0" tIns="0" rIns="0" bIns="0" rtlCol="0" anchor="t"/>
          <a:lstStyle/>
          <a:p>
            <a:pPr rtl="1" algn="ctr" indent="0" marL="0">
              <a:buNone/>
            </a:pPr>
            <a:r>
              <a:rPr lang="ar-SA" altLang="en-US" sz="1500" dirty="0">
                <a:solidFill>
                  <a:srgbClr val="5B6784"/>
                </a:solidFill>
                <a:latin typeface="Cairo" pitchFamily="34" charset="0"/>
                <a:ea typeface="Cairo" pitchFamily="34" charset="-122"/>
                <a:cs typeface="Cairo" pitchFamily="34" charset="-120"/>
              </a:rPr>
              <a:t>ابدأ من الشاشة الرئيسية</a:t>
            </a:r>
            <a:endParaRPr lang="ar-SA" sz="1500" dirty="0"/>
          </a:p>
        </p:txBody>
      </p:sp>
      <p:sp>
        <p:nvSpPr>
          <p:cNvPr id="15" name="anim2_161"/>
          <p:cNvSpPr/>
          <p:nvPr/>
        </p:nvSpPr>
        <p:spPr>
          <a:xfrm>
            <a:off x="6842569" y="2788920"/>
            <a:ext cx="1143000" cy="1143000"/>
          </a:xfrm>
          <a:prstGeom prst="ellipse">
            <a:avLst/>
          </a:prstGeom>
          <a:solidFill>
            <a:srgbClr val="052977"/>
          </a:solidFill>
          <a:ln/>
        </p:spPr>
      </p:sp>
      <p:pic>
        <p:nvPicPr>
          <p:cNvPr id="16" name="anim2_162" descr="نافذة أفراد">    </p:cNvPr>
          <p:cNvPicPr>
            <a:picLocks noChangeAspect="1"/>
          </p:cNvPicPr>
          <p:nvPr/>
        </p:nvPicPr>
        <p:blipFill>
          <a:blip r:embed="rId4"/>
          <a:stretch>
            <a:fillRect/>
          </a:stretch>
        </p:blipFill>
        <p:spPr>
          <a:xfrm>
            <a:off x="7162609" y="3108960"/>
            <a:ext cx="502920" cy="502920"/>
          </a:xfrm>
          <a:prstGeom prst="rect">
            <a:avLst/>
          </a:prstGeom>
        </p:spPr>
      </p:pic>
      <p:sp>
        <p:nvSpPr>
          <p:cNvPr id="17" name="anim2_163"/>
          <p:cNvSpPr/>
          <p:nvPr/>
        </p:nvSpPr>
        <p:spPr>
          <a:xfrm>
            <a:off x="7601521" y="2679192"/>
            <a:ext cx="420624" cy="420624"/>
          </a:xfrm>
          <a:prstGeom prst="ellipse">
            <a:avLst/>
          </a:prstGeom>
          <a:solidFill>
            <a:srgbClr val="FFFFFF"/>
          </a:solidFill>
          <a:ln w="19050">
            <a:solidFill>
              <a:srgbClr val="052977"/>
            </a:solidFill>
            <a:prstDash val="solid"/>
          </a:ln>
        </p:spPr>
      </p:sp>
      <p:sp>
        <p:nvSpPr>
          <p:cNvPr id="18" name="anim2_164"/>
          <p:cNvSpPr txBox="1"/>
          <p:nvPr/>
        </p:nvSpPr>
        <p:spPr>
          <a:xfrm>
            <a:off x="7601521" y="2679192"/>
            <a:ext cx="420624" cy="420624"/>
          </a:xfrm>
          <a:prstGeom prst="rect">
            <a:avLst/>
          </a:prstGeom>
          <a:noFill/>
          <a:ln/>
        </p:spPr>
        <p:txBody>
          <a:bodyPr wrap="square" lIns="0" tIns="0" rIns="0" bIns="0" rtlCol="0" anchor="ctr"/>
          <a:lstStyle/>
          <a:p>
            <a:pPr rtl="1" algn="ctr" indent="0" marL="0">
              <a:buNone/>
            </a:pPr>
            <a:r>
              <a:rPr lang="ar-SA" altLang="en-US" sz="1400" b="1" dirty="0">
                <a:solidFill>
                  <a:srgbClr val="052977"/>
                </a:solidFill>
                <a:latin typeface="Cairo" pitchFamily="34" charset="0"/>
                <a:ea typeface="Cairo" pitchFamily="34" charset="-122"/>
                <a:cs typeface="Cairo" pitchFamily="34" charset="-120"/>
              </a:rPr>
              <a:t>2</a:t>
            </a:r>
            <a:endParaRPr lang="ar-SA" sz="1400" dirty="0"/>
          </a:p>
        </p:txBody>
      </p:sp>
      <p:sp>
        <p:nvSpPr>
          <p:cNvPr id="19" name="anim2_165"/>
          <p:cNvSpPr txBox="1"/>
          <p:nvPr/>
        </p:nvSpPr>
        <p:spPr>
          <a:xfrm>
            <a:off x="6187288" y="4206240"/>
            <a:ext cx="2453564" cy="457200"/>
          </a:xfrm>
          <a:prstGeom prst="rect">
            <a:avLst/>
          </a:prstGeom>
          <a:noFill/>
          <a:ln/>
        </p:spPr>
        <p:txBody>
          <a:bodyPr wrap="square" lIns="0" tIns="0" rIns="0" bIns="0" rtlCol="0" anchor="t"/>
          <a:lstStyle/>
          <a:p>
            <a:pPr rtl="1" algn="ctr" indent="0" marL="0">
              <a:buNone/>
            </a:pPr>
            <a:r>
              <a:rPr lang="ar-SA" altLang="en-US" sz="2000" b="1" dirty="0">
                <a:solidFill>
                  <a:srgbClr val="052977"/>
                </a:solidFill>
                <a:latin typeface="Cairo" pitchFamily="34" charset="0"/>
                <a:ea typeface="Cairo" pitchFamily="34" charset="-122"/>
                <a:cs typeface="Cairo" pitchFamily="34" charset="-120"/>
              </a:rPr>
              <a:t>اختر الخدمة</a:t>
            </a:r>
            <a:endParaRPr lang="ar-SA" sz="2000" dirty="0"/>
          </a:p>
        </p:txBody>
      </p:sp>
      <p:sp>
        <p:nvSpPr>
          <p:cNvPr id="20" name="anim2_166"/>
          <p:cNvSpPr txBox="1"/>
          <p:nvPr/>
        </p:nvSpPr>
        <p:spPr>
          <a:xfrm>
            <a:off x="6187288" y="4709160"/>
            <a:ext cx="2453564" cy="411480"/>
          </a:xfrm>
          <a:prstGeom prst="rect">
            <a:avLst/>
          </a:prstGeom>
          <a:noFill/>
          <a:ln/>
        </p:spPr>
        <p:txBody>
          <a:bodyPr wrap="square" lIns="0" tIns="0" rIns="0" bIns="0" rtlCol="0" anchor="t"/>
          <a:lstStyle/>
          <a:p>
            <a:pPr rtl="1" algn="ctr" indent="0" marL="0">
              <a:buNone/>
            </a:pPr>
            <a:r>
              <a:rPr lang="ar-SA" altLang="en-US" sz="1500" dirty="0">
                <a:solidFill>
                  <a:srgbClr val="5B6784"/>
                </a:solidFill>
                <a:latin typeface="Cairo" pitchFamily="34" charset="0"/>
                <a:ea typeface="Cairo" pitchFamily="34" charset="-122"/>
                <a:cs typeface="Cairo" pitchFamily="34" charset="-120"/>
              </a:rPr>
              <a:t>حدّد الخدمة التي تحتاجها</a:t>
            </a:r>
            <a:endParaRPr lang="ar-SA" sz="1500" dirty="0"/>
          </a:p>
        </p:txBody>
      </p:sp>
      <p:sp>
        <p:nvSpPr>
          <p:cNvPr id="21" name="anim3_167"/>
          <p:cNvSpPr/>
          <p:nvPr/>
        </p:nvSpPr>
        <p:spPr>
          <a:xfrm>
            <a:off x="4206126" y="2788920"/>
            <a:ext cx="1143000" cy="1143000"/>
          </a:xfrm>
          <a:prstGeom prst="ellipse">
            <a:avLst/>
          </a:prstGeom>
          <a:solidFill>
            <a:srgbClr val="052977"/>
          </a:solidFill>
          <a:ln/>
        </p:spPr>
      </p:sp>
      <p:pic>
        <p:nvPicPr>
          <p:cNvPr id="22" name="anim3_168" descr="نافذة أفراد">    </p:cNvPr>
          <p:cNvPicPr>
            <a:picLocks noChangeAspect="1"/>
          </p:cNvPicPr>
          <p:nvPr/>
        </p:nvPicPr>
        <p:blipFill>
          <a:blip r:embed="rId5"/>
          <a:stretch>
            <a:fillRect/>
          </a:stretch>
        </p:blipFill>
        <p:spPr>
          <a:xfrm>
            <a:off x="4526166" y="3108960"/>
            <a:ext cx="502920" cy="502920"/>
          </a:xfrm>
          <a:prstGeom prst="rect">
            <a:avLst/>
          </a:prstGeom>
        </p:spPr>
      </p:pic>
      <p:sp>
        <p:nvSpPr>
          <p:cNvPr id="23" name="anim3_169"/>
          <p:cNvSpPr/>
          <p:nvPr/>
        </p:nvSpPr>
        <p:spPr>
          <a:xfrm>
            <a:off x="4965078" y="2679192"/>
            <a:ext cx="420624" cy="420624"/>
          </a:xfrm>
          <a:prstGeom prst="ellipse">
            <a:avLst/>
          </a:prstGeom>
          <a:solidFill>
            <a:srgbClr val="FFFFFF"/>
          </a:solidFill>
          <a:ln w="19050">
            <a:solidFill>
              <a:srgbClr val="052977"/>
            </a:solidFill>
            <a:prstDash val="solid"/>
          </a:ln>
        </p:spPr>
      </p:sp>
      <p:sp>
        <p:nvSpPr>
          <p:cNvPr id="24" name="anim3_170"/>
          <p:cNvSpPr txBox="1"/>
          <p:nvPr/>
        </p:nvSpPr>
        <p:spPr>
          <a:xfrm>
            <a:off x="4965078" y="2679192"/>
            <a:ext cx="420624" cy="420624"/>
          </a:xfrm>
          <a:prstGeom prst="rect">
            <a:avLst/>
          </a:prstGeom>
          <a:noFill/>
          <a:ln/>
        </p:spPr>
        <p:txBody>
          <a:bodyPr wrap="square" lIns="0" tIns="0" rIns="0" bIns="0" rtlCol="0" anchor="ctr"/>
          <a:lstStyle/>
          <a:p>
            <a:pPr rtl="1" algn="ctr" indent="0" marL="0">
              <a:buNone/>
            </a:pPr>
            <a:r>
              <a:rPr lang="ar-SA" altLang="en-US" sz="1400" b="1" dirty="0">
                <a:solidFill>
                  <a:srgbClr val="052977"/>
                </a:solidFill>
                <a:latin typeface="Cairo" pitchFamily="34" charset="0"/>
                <a:ea typeface="Cairo" pitchFamily="34" charset="-122"/>
                <a:cs typeface="Cairo" pitchFamily="34" charset="-120"/>
              </a:rPr>
              <a:t>3</a:t>
            </a:r>
            <a:endParaRPr lang="ar-SA" sz="1400" dirty="0"/>
          </a:p>
        </p:txBody>
      </p:sp>
      <p:sp>
        <p:nvSpPr>
          <p:cNvPr id="25" name="anim3_171"/>
          <p:cNvSpPr txBox="1"/>
          <p:nvPr/>
        </p:nvSpPr>
        <p:spPr>
          <a:xfrm>
            <a:off x="3550844" y="4206240"/>
            <a:ext cx="2453564" cy="457200"/>
          </a:xfrm>
          <a:prstGeom prst="rect">
            <a:avLst/>
          </a:prstGeom>
          <a:noFill/>
          <a:ln/>
        </p:spPr>
        <p:txBody>
          <a:bodyPr wrap="square" lIns="0" tIns="0" rIns="0" bIns="0" rtlCol="0" anchor="t"/>
          <a:lstStyle/>
          <a:p>
            <a:pPr rtl="1" algn="ctr" indent="0" marL="0">
              <a:buNone/>
            </a:pPr>
            <a:r>
              <a:rPr lang="ar-SA" altLang="en-US" sz="2000" b="1" dirty="0">
                <a:solidFill>
                  <a:srgbClr val="052977"/>
                </a:solidFill>
                <a:latin typeface="Cairo" pitchFamily="34" charset="0"/>
                <a:ea typeface="Cairo" pitchFamily="34" charset="-122"/>
                <a:cs typeface="Cairo" pitchFamily="34" charset="-120"/>
              </a:rPr>
              <a:t>أكمل الطلب</a:t>
            </a:r>
            <a:endParaRPr lang="ar-SA" sz="2000" dirty="0"/>
          </a:p>
        </p:txBody>
      </p:sp>
      <p:sp>
        <p:nvSpPr>
          <p:cNvPr id="26" name="anim3_172"/>
          <p:cNvSpPr txBox="1"/>
          <p:nvPr/>
        </p:nvSpPr>
        <p:spPr>
          <a:xfrm>
            <a:off x="3550844" y="4709160"/>
            <a:ext cx="2453564" cy="411480"/>
          </a:xfrm>
          <a:prstGeom prst="rect">
            <a:avLst/>
          </a:prstGeom>
          <a:noFill/>
          <a:ln/>
        </p:spPr>
        <p:txBody>
          <a:bodyPr wrap="square" lIns="0" tIns="0" rIns="0" bIns="0" rtlCol="0" anchor="t"/>
          <a:lstStyle/>
          <a:p>
            <a:pPr rtl="1" algn="ctr" indent="0" marL="0">
              <a:buNone/>
            </a:pPr>
            <a:r>
              <a:rPr lang="ar-SA" altLang="en-US" sz="1500" dirty="0">
                <a:solidFill>
                  <a:srgbClr val="5B6784"/>
                </a:solidFill>
                <a:latin typeface="Cairo" pitchFamily="34" charset="0"/>
                <a:ea typeface="Cairo" pitchFamily="34" charset="-122"/>
                <a:cs typeface="Cairo" pitchFamily="34" charset="-120"/>
              </a:rPr>
              <a:t>أدخل البيانات المطلوبة</a:t>
            </a:r>
            <a:endParaRPr lang="ar-SA" sz="1500" dirty="0"/>
          </a:p>
        </p:txBody>
      </p:sp>
      <p:sp>
        <p:nvSpPr>
          <p:cNvPr id="27" name="anim4_173"/>
          <p:cNvSpPr/>
          <p:nvPr/>
        </p:nvSpPr>
        <p:spPr>
          <a:xfrm>
            <a:off x="1569682" y="2788920"/>
            <a:ext cx="1143000" cy="1143000"/>
          </a:xfrm>
          <a:prstGeom prst="ellipse">
            <a:avLst/>
          </a:prstGeom>
          <a:solidFill>
            <a:srgbClr val="052977"/>
          </a:solidFill>
          <a:ln/>
        </p:spPr>
      </p:sp>
      <p:pic>
        <p:nvPicPr>
          <p:cNvPr id="28" name="anim4_174" descr="نافذة أفراد">    </p:cNvPr>
          <p:cNvPicPr>
            <a:picLocks noChangeAspect="1"/>
          </p:cNvPicPr>
          <p:nvPr/>
        </p:nvPicPr>
        <p:blipFill>
          <a:blip r:embed="rId6"/>
          <a:stretch>
            <a:fillRect/>
          </a:stretch>
        </p:blipFill>
        <p:spPr>
          <a:xfrm>
            <a:off x="1889722" y="3108960"/>
            <a:ext cx="502920" cy="502920"/>
          </a:xfrm>
          <a:prstGeom prst="rect">
            <a:avLst/>
          </a:prstGeom>
        </p:spPr>
      </p:pic>
      <p:sp>
        <p:nvSpPr>
          <p:cNvPr id="29" name="anim4_175"/>
          <p:cNvSpPr/>
          <p:nvPr/>
        </p:nvSpPr>
        <p:spPr>
          <a:xfrm>
            <a:off x="2328634" y="2679192"/>
            <a:ext cx="420624" cy="420624"/>
          </a:xfrm>
          <a:prstGeom prst="ellipse">
            <a:avLst/>
          </a:prstGeom>
          <a:solidFill>
            <a:srgbClr val="FFFFFF"/>
          </a:solidFill>
          <a:ln w="19050">
            <a:solidFill>
              <a:srgbClr val="052977"/>
            </a:solidFill>
            <a:prstDash val="solid"/>
          </a:ln>
        </p:spPr>
      </p:sp>
      <p:sp>
        <p:nvSpPr>
          <p:cNvPr id="30" name="anim4_176"/>
          <p:cNvSpPr txBox="1"/>
          <p:nvPr/>
        </p:nvSpPr>
        <p:spPr>
          <a:xfrm>
            <a:off x="2328634" y="2679192"/>
            <a:ext cx="420624" cy="420624"/>
          </a:xfrm>
          <a:prstGeom prst="rect">
            <a:avLst/>
          </a:prstGeom>
          <a:noFill/>
          <a:ln/>
        </p:spPr>
        <p:txBody>
          <a:bodyPr wrap="square" lIns="0" tIns="0" rIns="0" bIns="0" rtlCol="0" anchor="ctr"/>
          <a:lstStyle/>
          <a:p>
            <a:pPr rtl="1" algn="ctr" indent="0" marL="0">
              <a:buNone/>
            </a:pPr>
            <a:r>
              <a:rPr lang="ar-SA" altLang="en-US" sz="1400" b="1" dirty="0">
                <a:solidFill>
                  <a:srgbClr val="052977"/>
                </a:solidFill>
                <a:latin typeface="Cairo" pitchFamily="34" charset="0"/>
                <a:ea typeface="Cairo" pitchFamily="34" charset="-122"/>
                <a:cs typeface="Cairo" pitchFamily="34" charset="-120"/>
              </a:rPr>
              <a:t>4</a:t>
            </a:r>
            <a:endParaRPr lang="ar-SA" sz="1400" dirty="0"/>
          </a:p>
        </p:txBody>
      </p:sp>
      <p:sp>
        <p:nvSpPr>
          <p:cNvPr id="31" name="anim4_177"/>
          <p:cNvSpPr txBox="1"/>
          <p:nvPr/>
        </p:nvSpPr>
        <p:spPr>
          <a:xfrm>
            <a:off x="914400" y="4206240"/>
            <a:ext cx="2453564" cy="457200"/>
          </a:xfrm>
          <a:prstGeom prst="rect">
            <a:avLst/>
          </a:prstGeom>
          <a:noFill/>
          <a:ln/>
        </p:spPr>
        <p:txBody>
          <a:bodyPr wrap="square" lIns="0" tIns="0" rIns="0" bIns="0" rtlCol="0" anchor="t"/>
          <a:lstStyle/>
          <a:p>
            <a:pPr rtl="1" algn="ctr" indent="0" marL="0">
              <a:buNone/>
            </a:pPr>
            <a:r>
              <a:rPr lang="ar-SA" altLang="en-US" sz="2000" b="1" dirty="0">
                <a:solidFill>
                  <a:srgbClr val="052977"/>
                </a:solidFill>
                <a:latin typeface="Cairo" pitchFamily="34" charset="0"/>
                <a:ea typeface="Cairo" pitchFamily="34" charset="-122"/>
                <a:cs typeface="Cairo" pitchFamily="34" charset="-120"/>
              </a:rPr>
              <a:t>أنجز الخدمة</a:t>
            </a:r>
            <a:endParaRPr lang="ar-SA" sz="2000" dirty="0"/>
          </a:p>
        </p:txBody>
      </p:sp>
      <p:sp>
        <p:nvSpPr>
          <p:cNvPr id="32" name="anim4_178"/>
          <p:cNvSpPr txBox="1"/>
          <p:nvPr/>
        </p:nvSpPr>
        <p:spPr>
          <a:xfrm>
            <a:off x="914400" y="4709160"/>
            <a:ext cx="2453564" cy="411480"/>
          </a:xfrm>
          <a:prstGeom prst="rect">
            <a:avLst/>
          </a:prstGeom>
          <a:noFill/>
          <a:ln/>
        </p:spPr>
        <p:txBody>
          <a:bodyPr wrap="square" lIns="0" tIns="0" rIns="0" bIns="0" rtlCol="0" anchor="t"/>
          <a:lstStyle/>
          <a:p>
            <a:pPr rtl="1" algn="ctr" indent="0" marL="0">
              <a:buNone/>
            </a:pPr>
            <a:r>
              <a:rPr lang="ar-SA" altLang="en-US" sz="1500" dirty="0">
                <a:solidFill>
                  <a:srgbClr val="5B6784"/>
                </a:solidFill>
                <a:latin typeface="Cairo" pitchFamily="34" charset="0"/>
                <a:ea typeface="Cairo" pitchFamily="34" charset="-122"/>
                <a:cs typeface="Cairo" pitchFamily="34" charset="-120"/>
              </a:rPr>
              <a:t>من التطبيق نفسه</a:t>
            </a:r>
            <a:endParaRPr lang="ar-SA"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2" fill="hold">
                      <p:stCondLst>
                        <p:cond delay="indefinite"/>
                        <p:cond evt="onBegin" delay="0">
                          <p:tn val="2"/>
                        </p:cond>
                      </p:stCondLst>
                      <p:childTnLst>
                        <p:par>
                          <p:cTn id="24"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5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450"/>
                                        <p:tgtEl>
                                          <p:spTgt spid="1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5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50"/>
                                        <p:tgtEl>
                                          <p:spTgt spid="14"/>
                                        </p:tgtEl>
                                      </p:cBhvr>
                                    </p:animEffect>
                                  </p:childTnLst>
                                </p:cTn>
                              </p:par>
                            </p:childTnLst>
                          </p:cTn>
                        </p:par>
                        <p:par>
                          <p:cTn id="43" fill="hold">
                            <p:stCondLst>
                              <p:cond delay="700"/>
                            </p:stCondLst>
                            <p:childTnLst>
                              <p:par>
                                <p:cTn id="25" presetID="10" presetClass="entr" presetSubtype="0" fill="hold" grpId="0" nodeType="after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50"/>
                                        <p:tgtEl>
                                          <p:spTgt spid="1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450"/>
                                        <p:tgtEl>
                                          <p:spTgt spid="1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450"/>
                                        <p:tgtEl>
                                          <p:spTgt spid="1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450"/>
                                        <p:tgtEl>
                                          <p:spTgt spid="20"/>
                                        </p:tgtEl>
                                      </p:cBhvr>
                                    </p:animEffect>
                                  </p:childTnLst>
                                </p:cTn>
                              </p:par>
                            </p:childTnLst>
                          </p:cTn>
                        </p:par>
                        <p:par>
                          <p:cTn id="62" fill="hold">
                            <p:stCondLst>
                              <p:cond delay="1400"/>
                            </p:stCondLst>
                            <p:childTnLst>
                              <p:par>
                                <p:cTn id="44" presetID="10" presetClass="entr" presetSubtype="0" fill="hold" grpId="0" nodeType="after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450"/>
                                        <p:tgtEl>
                                          <p:spTgt spid="21"/>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450"/>
                                        <p:tgtEl>
                                          <p:spTgt spid="2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fade">
                                      <p:cBhvr>
                                        <p:cTn id="52" dur="450"/>
                                        <p:tgtEl>
                                          <p:spTgt spid="23"/>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450"/>
                                        <p:tgtEl>
                                          <p:spTgt spid="24"/>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5"/>
                                        </p:tgtEl>
                                        <p:attrNameLst>
                                          <p:attrName>style.visibility</p:attrName>
                                        </p:attrNameLst>
                                      </p:cBhvr>
                                      <p:to>
                                        <p:strVal val="visible"/>
                                      </p:to>
                                    </p:set>
                                    <p:animEffect transition="in" filter="fade">
                                      <p:cBhvr>
                                        <p:cTn id="58" dur="450"/>
                                        <p:tgtEl>
                                          <p:spTgt spid="25"/>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6"/>
                                        </p:tgtEl>
                                        <p:attrNameLst>
                                          <p:attrName>style.visibility</p:attrName>
                                        </p:attrNameLst>
                                      </p:cBhvr>
                                      <p:to>
                                        <p:strVal val="visible"/>
                                      </p:to>
                                    </p:set>
                                    <p:animEffect transition="in" filter="fade">
                                      <p:cBhvr>
                                        <p:cTn id="61" dur="450"/>
                                        <p:tgtEl>
                                          <p:spTgt spid="26"/>
                                        </p:tgtEl>
                                      </p:cBhvr>
                                    </p:animEffect>
                                  </p:childTnLst>
                                </p:cTn>
                              </p:par>
                            </p:childTnLst>
                          </p:cTn>
                        </p:par>
                        <p:par>
                          <p:cTn id="81" fill="hold">
                            <p:stCondLst>
                              <p:cond delay="2100"/>
                            </p:stCondLst>
                            <p:childTnLst>
                              <p:par>
                                <p:cTn id="63" presetID="10" presetClass="entr" presetSubtype="0" fill="hold" grpId="0" nodeType="after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450"/>
                                        <p:tgtEl>
                                          <p:spTgt spid="27"/>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450"/>
                                        <p:tgtEl>
                                          <p:spTgt spid="28"/>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450"/>
                                        <p:tgtEl>
                                          <p:spTgt spid="29"/>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0"/>
                                        </p:tgtEl>
                                        <p:attrNameLst>
                                          <p:attrName>style.visibility</p:attrName>
                                        </p:attrNameLst>
                                      </p:cBhvr>
                                      <p:to>
                                        <p:strVal val="visible"/>
                                      </p:to>
                                    </p:set>
                                    <p:animEffect transition="in" filter="fade">
                                      <p:cBhvr>
                                        <p:cTn id="74" dur="450"/>
                                        <p:tgtEl>
                                          <p:spTgt spid="30"/>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450"/>
                                        <p:tgtEl>
                                          <p:spTgt spid="31"/>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2"/>
                                        </p:tgtEl>
                                        <p:attrNameLst>
                                          <p:attrName>style.visibility</p:attrName>
                                        </p:attrNameLst>
                                      </p:cBhvr>
                                      <p:to>
                                        <p:strVal val="visible"/>
                                      </p:to>
                                    </p:set>
                                    <p:animEffect transition="in" filter="fade">
                                      <p:cBhvr>
                                        <p:cTn id="80" dur="45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2" grpId="0" animBg="1"/>
      <p:bldP spid="13" grpId="0" animBg="1"/>
      <p:bldP spid="14" grpId="0" animBg="1"/>
      <p:bldP spid="15" grpId="0" animBg="1"/>
      <p:bldP spid="17" grpId="0" animBg="1"/>
      <p:bldP spid="18" grpId="0" animBg="1"/>
      <p:bldP spid="19" grpId="0" animBg="1"/>
      <p:bldP spid="20" grpId="0" animBg="1"/>
      <p:bldP spid="21" grpId="0" animBg="1"/>
      <p:bldP spid="23" grpId="0" animBg="1"/>
      <p:bldP spid="24" grpId="0" animBg="1"/>
      <p:bldP spid="25" grpId="0" animBg="1"/>
      <p:bldP spid="26" grpId="0" animBg="1"/>
      <p:bldP spid="27" grpId="0" animBg="1"/>
      <p:bldP spid="29" grpId="0" animBg="1"/>
      <p:bldP spid="30" grpId="0" animBg="1"/>
      <p:bldP spid="31" grpId="0" animBg="1"/>
      <p:bldP spid="3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المستقبل</a:t>
            </a:r>
            <a:endParaRPr lang="ar-SA" sz="1400" dirty="0"/>
          </a:p>
        </p:txBody>
      </p:sp>
      <p:sp>
        <p:nvSpPr>
          <p:cNvPr id="4" name="Text 1"/>
          <p:cNvSpPr txBox="1"/>
          <p:nvPr/>
        </p:nvSpPr>
        <p:spPr>
          <a:xfrm>
            <a:off x="2926080" y="731520"/>
            <a:ext cx="8716975" cy="777240"/>
          </a:xfrm>
          <a:prstGeom prst="rect">
            <a:avLst/>
          </a:prstGeom>
          <a:noFill/>
          <a:ln/>
        </p:spPr>
        <p:txBody>
          <a:bodyPr wrap="square" lIns="0" tIns="0" rIns="0" bIns="0" rtlCol="0" anchor="t"/>
          <a:lstStyle/>
          <a:p>
            <a:pPr rtl="1" algn="r" indent="0" marL="0">
              <a:buNone/>
            </a:pPr>
            <a:r>
              <a:rPr lang="ar-SA" altLang="en-US" sz="3200" b="1" dirty="0">
                <a:solidFill>
                  <a:srgbClr val="052977"/>
                </a:solidFill>
                <a:latin typeface="Cairo" pitchFamily="34" charset="0"/>
                <a:ea typeface="Cairo" pitchFamily="34" charset="-122"/>
                <a:cs typeface="Cairo" pitchFamily="34" charset="-120"/>
              </a:rPr>
              <a:t>خارطة الطريق</a:t>
            </a:r>
            <a:endParaRPr lang="ar-SA" sz="32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146304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11</a:t>
            </a:r>
            <a:endParaRPr lang="ar-SA" sz="1100" dirty="0"/>
          </a:p>
        </p:txBody>
      </p:sp>
      <p:sp>
        <p:nvSpPr>
          <p:cNvPr id="8" name="anim2_179"/>
          <p:cNvSpPr/>
          <p:nvPr/>
        </p:nvSpPr>
        <p:spPr>
          <a:xfrm flipH="1">
            <a:off x="5715000" y="3566160"/>
            <a:ext cx="761695" cy="0"/>
          </a:xfrm>
          <a:prstGeom prst="line">
            <a:avLst/>
          </a:prstGeom>
          <a:noFill/>
          <a:ln w="25400">
            <a:solidFill>
              <a:srgbClr val="5B6784"/>
            </a:solidFill>
            <a:prstDash val="solid"/>
            <a:tailEnd type="triangle"/>
          </a:ln>
        </p:spPr>
      </p:sp>
      <p:sp>
        <p:nvSpPr>
          <p:cNvPr id="9" name="anim1_180"/>
          <p:cNvSpPr/>
          <p:nvPr/>
        </p:nvSpPr>
        <p:spPr>
          <a:xfrm>
            <a:off x="6705295" y="1920240"/>
            <a:ext cx="4572000" cy="3291840"/>
          </a:xfrm>
          <a:prstGeom prst="roundRect">
            <a:avLst>
              <a:gd name="adj" fmla="val 5556"/>
            </a:avLst>
          </a:prstGeom>
          <a:solidFill>
            <a:srgbClr val="EEF2FA"/>
          </a:solidFill>
          <a:ln/>
        </p:spPr>
      </p:sp>
      <p:sp>
        <p:nvSpPr>
          <p:cNvPr id="10" name="anim1_181"/>
          <p:cNvSpPr/>
          <p:nvPr/>
        </p:nvSpPr>
        <p:spPr>
          <a:xfrm>
            <a:off x="9997135" y="2286000"/>
            <a:ext cx="914400" cy="914400"/>
          </a:xfrm>
          <a:prstGeom prst="ellipse">
            <a:avLst/>
          </a:prstGeom>
          <a:solidFill>
            <a:srgbClr val="052977"/>
          </a:solidFill>
          <a:ln/>
        </p:spPr>
      </p:sp>
      <p:pic>
        <p:nvPicPr>
          <p:cNvPr id="11" name="anim1_182" descr="نافذة أفراد">    </p:cNvPr>
          <p:cNvPicPr>
            <a:picLocks noChangeAspect="1"/>
          </p:cNvPicPr>
          <p:nvPr/>
        </p:nvPicPr>
        <p:blipFill>
          <a:blip r:embed="rId3"/>
          <a:stretch>
            <a:fillRect/>
          </a:stretch>
        </p:blipFill>
        <p:spPr>
          <a:xfrm>
            <a:off x="10244023" y="2532888"/>
            <a:ext cx="420624" cy="420624"/>
          </a:xfrm>
          <a:prstGeom prst="rect">
            <a:avLst/>
          </a:prstGeom>
        </p:spPr>
      </p:pic>
      <p:sp>
        <p:nvSpPr>
          <p:cNvPr id="12" name="anim1_183"/>
          <p:cNvSpPr txBox="1"/>
          <p:nvPr/>
        </p:nvSpPr>
        <p:spPr>
          <a:xfrm>
            <a:off x="7071055" y="2331720"/>
            <a:ext cx="2743200"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المرحلة الأولى</a:t>
            </a:r>
            <a:endParaRPr lang="ar-SA" sz="1400" dirty="0"/>
          </a:p>
        </p:txBody>
      </p:sp>
      <p:sp>
        <p:nvSpPr>
          <p:cNvPr id="13" name="anim1_184"/>
          <p:cNvSpPr txBox="1"/>
          <p:nvPr/>
        </p:nvSpPr>
        <p:spPr>
          <a:xfrm>
            <a:off x="7071055" y="3383280"/>
            <a:ext cx="3840480" cy="640080"/>
          </a:xfrm>
          <a:prstGeom prst="rect">
            <a:avLst/>
          </a:prstGeom>
          <a:noFill/>
          <a:ln/>
        </p:spPr>
        <p:txBody>
          <a:bodyPr wrap="square" lIns="0" tIns="0" rIns="0" bIns="0" rtlCol="0" anchor="t"/>
          <a:lstStyle/>
          <a:p>
            <a:pPr rtl="1" algn="r" indent="0" marL="0">
              <a:buNone/>
            </a:pPr>
            <a:r>
              <a:rPr lang="ar-SA" altLang="en-US" sz="3000" b="1" dirty="0">
                <a:solidFill>
                  <a:srgbClr val="052977"/>
                </a:solidFill>
                <a:latin typeface="Cairo" pitchFamily="34" charset="0"/>
                <a:ea typeface="Cairo" pitchFamily="34" charset="-122"/>
                <a:cs typeface="Cairo" pitchFamily="34" charset="-120"/>
              </a:rPr>
              <a:t>نافذة أفراد</a:t>
            </a:r>
            <a:endParaRPr lang="ar-SA" sz="3000" dirty="0"/>
          </a:p>
        </p:txBody>
      </p:sp>
      <p:sp>
        <p:nvSpPr>
          <p:cNvPr id="14" name="anim1_185"/>
          <p:cNvSpPr txBox="1"/>
          <p:nvPr/>
        </p:nvSpPr>
        <p:spPr>
          <a:xfrm>
            <a:off x="7071055" y="4023360"/>
            <a:ext cx="3840480" cy="411480"/>
          </a:xfrm>
          <a:prstGeom prst="rect">
            <a:avLst/>
          </a:prstGeom>
          <a:noFill/>
          <a:ln/>
        </p:spPr>
        <p:txBody>
          <a:bodyPr wrap="square" lIns="0" tIns="0" rIns="0" bIns="0" rtlCol="0" anchor="t"/>
          <a:lstStyle/>
          <a:p>
            <a:pPr rtl="1" algn="r" indent="0" marL="0">
              <a:buNone/>
            </a:pPr>
            <a:r>
              <a:rPr lang="ar-SA" altLang="en-US" sz="1600" dirty="0">
                <a:solidFill>
                  <a:srgbClr val="1A2340"/>
                </a:solidFill>
                <a:latin typeface="Cairo" pitchFamily="34" charset="0"/>
                <a:ea typeface="Cairo" pitchFamily="34" charset="-122"/>
                <a:cs typeface="Cairo" pitchFamily="34" charset="-120"/>
              </a:rPr>
              <a:t>للسكان والزوار</a:t>
            </a:r>
            <a:endParaRPr lang="ar-SA" sz="1600" dirty="0"/>
          </a:p>
        </p:txBody>
      </p:sp>
      <p:sp>
        <p:nvSpPr>
          <p:cNvPr id="15" name="anim1_186"/>
          <p:cNvSpPr/>
          <p:nvPr/>
        </p:nvSpPr>
        <p:spPr>
          <a:xfrm>
            <a:off x="9174175" y="4480560"/>
            <a:ext cx="1737360" cy="457200"/>
          </a:xfrm>
          <a:prstGeom prst="roundRect">
            <a:avLst>
              <a:gd name="adj" fmla="val 50000"/>
            </a:avLst>
          </a:prstGeom>
          <a:solidFill>
            <a:srgbClr val="052977"/>
          </a:solidFill>
          <a:ln/>
        </p:spPr>
      </p:sp>
      <p:sp>
        <p:nvSpPr>
          <p:cNvPr id="16" name="anim1_187"/>
          <p:cNvSpPr txBox="1"/>
          <p:nvPr/>
        </p:nvSpPr>
        <p:spPr>
          <a:xfrm>
            <a:off x="9174175" y="4480560"/>
            <a:ext cx="1737360" cy="457200"/>
          </a:xfrm>
          <a:prstGeom prst="rect">
            <a:avLst/>
          </a:prstGeom>
          <a:noFill/>
          <a:ln/>
        </p:spPr>
        <p:txBody>
          <a:bodyPr wrap="square" lIns="0" tIns="0" rIns="0" bIns="0" rtlCol="0" anchor="ctr"/>
          <a:lstStyle/>
          <a:p>
            <a:pPr rtl="1" algn="ctr" indent="0" marL="0">
              <a:buNone/>
            </a:pPr>
            <a:r>
              <a:rPr lang="ar-SA" altLang="en-US" sz="1400" b="1" dirty="0">
                <a:solidFill>
                  <a:srgbClr val="FFFFFF"/>
                </a:solidFill>
                <a:latin typeface="Cairo" pitchFamily="34" charset="0"/>
                <a:ea typeface="Cairo" pitchFamily="34" charset="-122"/>
                <a:cs typeface="Cairo" pitchFamily="34" charset="-120"/>
              </a:rPr>
              <a:t>الإطلاق الحالي</a:t>
            </a:r>
            <a:endParaRPr lang="ar-SA" sz="1400" dirty="0"/>
          </a:p>
        </p:txBody>
      </p:sp>
      <p:sp>
        <p:nvSpPr>
          <p:cNvPr id="17" name="anim3_188"/>
          <p:cNvSpPr/>
          <p:nvPr/>
        </p:nvSpPr>
        <p:spPr>
          <a:xfrm>
            <a:off x="914400" y="1920240"/>
            <a:ext cx="4572000" cy="3291840"/>
          </a:xfrm>
          <a:prstGeom prst="roundRect">
            <a:avLst>
              <a:gd name="adj" fmla="val 5556"/>
            </a:avLst>
          </a:prstGeom>
          <a:solidFill>
            <a:srgbClr val="E7F5F0"/>
          </a:solidFill>
          <a:ln/>
        </p:spPr>
      </p:sp>
      <p:sp>
        <p:nvSpPr>
          <p:cNvPr id="18" name="anim3_189"/>
          <p:cNvSpPr/>
          <p:nvPr/>
        </p:nvSpPr>
        <p:spPr>
          <a:xfrm>
            <a:off x="4206240" y="2286000"/>
            <a:ext cx="914400" cy="914400"/>
          </a:xfrm>
          <a:prstGeom prst="ellipse">
            <a:avLst/>
          </a:prstGeom>
          <a:solidFill>
            <a:srgbClr val="0B9D76"/>
          </a:solidFill>
          <a:ln/>
        </p:spPr>
      </p:sp>
      <p:pic>
        <p:nvPicPr>
          <p:cNvPr id="19" name="anim3_190" descr="نافذة أفراد">    </p:cNvPr>
          <p:cNvPicPr>
            <a:picLocks noChangeAspect="1"/>
          </p:cNvPicPr>
          <p:nvPr/>
        </p:nvPicPr>
        <p:blipFill>
          <a:blip r:embed="rId4"/>
          <a:stretch>
            <a:fillRect/>
          </a:stretch>
        </p:blipFill>
        <p:spPr>
          <a:xfrm>
            <a:off x="4453128" y="2532888"/>
            <a:ext cx="420624" cy="420624"/>
          </a:xfrm>
          <a:prstGeom prst="rect">
            <a:avLst/>
          </a:prstGeom>
        </p:spPr>
      </p:pic>
      <p:sp>
        <p:nvSpPr>
          <p:cNvPr id="20" name="anim3_191"/>
          <p:cNvSpPr txBox="1"/>
          <p:nvPr/>
        </p:nvSpPr>
        <p:spPr>
          <a:xfrm>
            <a:off x="1280160" y="2331720"/>
            <a:ext cx="2743200"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المرحلة التالية</a:t>
            </a:r>
            <a:endParaRPr lang="ar-SA" sz="1400" dirty="0"/>
          </a:p>
        </p:txBody>
      </p:sp>
      <p:sp>
        <p:nvSpPr>
          <p:cNvPr id="21" name="anim3_192"/>
          <p:cNvSpPr txBox="1"/>
          <p:nvPr/>
        </p:nvSpPr>
        <p:spPr>
          <a:xfrm>
            <a:off x="1280160" y="3383280"/>
            <a:ext cx="3840480" cy="640080"/>
          </a:xfrm>
          <a:prstGeom prst="rect">
            <a:avLst/>
          </a:prstGeom>
          <a:noFill/>
          <a:ln/>
        </p:spPr>
        <p:txBody>
          <a:bodyPr wrap="square" lIns="0" tIns="0" rIns="0" bIns="0" rtlCol="0" anchor="t"/>
          <a:lstStyle/>
          <a:p>
            <a:pPr rtl="1" algn="r" indent="0" marL="0">
              <a:buNone/>
            </a:pPr>
            <a:r>
              <a:rPr lang="ar-SA" altLang="en-US" sz="3000" b="1" dirty="0">
                <a:solidFill>
                  <a:srgbClr val="0B9D76"/>
                </a:solidFill>
                <a:latin typeface="Cairo" pitchFamily="34" charset="0"/>
                <a:ea typeface="Cairo" pitchFamily="34" charset="-122"/>
                <a:cs typeface="Cairo" pitchFamily="34" charset="-120"/>
              </a:rPr>
              <a:t>نافذة أعمال</a:t>
            </a:r>
            <a:endParaRPr lang="ar-SA" sz="3000" dirty="0"/>
          </a:p>
        </p:txBody>
      </p:sp>
      <p:sp>
        <p:nvSpPr>
          <p:cNvPr id="22" name="anim3_193"/>
          <p:cNvSpPr txBox="1"/>
          <p:nvPr/>
        </p:nvSpPr>
        <p:spPr>
          <a:xfrm>
            <a:off x="1280160" y="4023360"/>
            <a:ext cx="3840480" cy="411480"/>
          </a:xfrm>
          <a:prstGeom prst="rect">
            <a:avLst/>
          </a:prstGeom>
          <a:noFill/>
          <a:ln/>
        </p:spPr>
        <p:txBody>
          <a:bodyPr wrap="square" lIns="0" tIns="0" rIns="0" bIns="0" rtlCol="0" anchor="t"/>
          <a:lstStyle/>
          <a:p>
            <a:pPr rtl="1" algn="r" indent="0" marL="0">
              <a:buNone/>
            </a:pPr>
            <a:r>
              <a:rPr lang="ar-SA" altLang="en-US" sz="1600" dirty="0">
                <a:solidFill>
                  <a:srgbClr val="1A2340"/>
                </a:solidFill>
                <a:latin typeface="Cairo" pitchFamily="34" charset="0"/>
                <a:ea typeface="Cairo" pitchFamily="34" charset="-122"/>
                <a:cs typeface="Cairo" pitchFamily="34" charset="-120"/>
              </a:rPr>
              <a:t>لأصحاب الأعمال</a:t>
            </a:r>
            <a:endParaRPr lang="ar-SA" sz="1600" dirty="0"/>
          </a:p>
        </p:txBody>
      </p:sp>
      <p:sp>
        <p:nvSpPr>
          <p:cNvPr id="23" name="anim3_194"/>
          <p:cNvSpPr/>
          <p:nvPr/>
        </p:nvSpPr>
        <p:spPr>
          <a:xfrm>
            <a:off x="3383280" y="4480560"/>
            <a:ext cx="1737360" cy="457200"/>
          </a:xfrm>
          <a:prstGeom prst="roundRect">
            <a:avLst>
              <a:gd name="adj" fmla="val 50000"/>
            </a:avLst>
          </a:prstGeom>
          <a:solidFill>
            <a:srgbClr val="0B9D76"/>
          </a:solidFill>
          <a:ln/>
        </p:spPr>
      </p:sp>
      <p:sp>
        <p:nvSpPr>
          <p:cNvPr id="24" name="anim3_195"/>
          <p:cNvSpPr txBox="1"/>
          <p:nvPr/>
        </p:nvSpPr>
        <p:spPr>
          <a:xfrm>
            <a:off x="3383280" y="4480560"/>
            <a:ext cx="1737360" cy="457200"/>
          </a:xfrm>
          <a:prstGeom prst="rect">
            <a:avLst/>
          </a:prstGeom>
          <a:noFill/>
          <a:ln/>
        </p:spPr>
        <p:txBody>
          <a:bodyPr wrap="square" lIns="0" tIns="0" rIns="0" bIns="0" rtlCol="0" anchor="ctr"/>
          <a:lstStyle/>
          <a:p>
            <a:pPr rtl="1" algn="ctr" indent="0" marL="0">
              <a:buNone/>
            </a:pPr>
            <a:r>
              <a:rPr lang="ar-SA" altLang="en-US" sz="1400" b="1" dirty="0">
                <a:solidFill>
                  <a:srgbClr val="FFFFFF"/>
                </a:solidFill>
                <a:latin typeface="Cairo" pitchFamily="34" charset="0"/>
                <a:ea typeface="Cairo" pitchFamily="34" charset="-122"/>
                <a:cs typeface="Cairo" pitchFamily="34" charset="-120"/>
              </a:rPr>
              <a:t>قادمة</a:t>
            </a:r>
            <a:endParaRPr lang="ar-SA"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cond evt="onBegin" delay="0">
                          <p:tn val="2"/>
                        </p:cond>
                      </p:stCondLst>
                      <p:childTnLst>
                        <p:par>
                          <p:cTn id="27"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450"/>
                                        <p:tgtEl>
                                          <p:spTgt spid="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45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50"/>
                                        <p:tgtEl>
                                          <p:spTgt spid="1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450"/>
                                        <p:tgtEl>
                                          <p:spTgt spid="1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450"/>
                                        <p:tgtEl>
                                          <p:spTgt spid="1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450"/>
                                        <p:tgtEl>
                                          <p:spTgt spid="1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450"/>
                                        <p:tgtEl>
                                          <p:spTgt spid="1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450"/>
                                        <p:tgtEl>
                                          <p:spTgt spid="16"/>
                                        </p:tgtEl>
                                      </p:cBhvr>
                                    </p:animEffect>
                                  </p:childTnLst>
                                </p:cTn>
                              </p:par>
                            </p:childTnLst>
                          </p:cTn>
                        </p:par>
                        <p:par>
                          <p:cTn id="31" fill="hold">
                            <p:stCondLst>
                              <p:cond delay="700"/>
                            </p:stCondLst>
                            <p:childTnLst>
                              <p:par>
                                <p:cTn id="28" presetID="10" presetClass="entr" presetSubtype="0" fill="hold" grpId="0" nodeType="after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450"/>
                                        <p:tgtEl>
                                          <p:spTgt spid="8"/>
                                        </p:tgtEl>
                                      </p:cBhvr>
                                    </p:animEffect>
                                  </p:childTnLst>
                                </p:cTn>
                              </p:par>
                            </p:childTnLst>
                          </p:cTn>
                        </p:par>
                        <p:par>
                          <p:cTn id="56" fill="hold">
                            <p:stCondLst>
                              <p:cond delay="1400"/>
                            </p:stCondLst>
                            <p:childTnLst>
                              <p:par>
                                <p:cTn id="32" presetID="10" presetClass="entr" presetSubtype="0" fill="hold" grpId="0" nodeType="after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450"/>
                                        <p:tgtEl>
                                          <p:spTgt spid="1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5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50"/>
                                        <p:tgtEl>
                                          <p:spTgt spid="2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450"/>
                                        <p:tgtEl>
                                          <p:spTgt spid="21"/>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450"/>
                                        <p:tgtEl>
                                          <p:spTgt spid="2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fade">
                                      <p:cBhvr>
                                        <p:cTn id="52" dur="450"/>
                                        <p:tgtEl>
                                          <p:spTgt spid="23"/>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4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P spid="14" grpId="0" animBg="1"/>
      <p:bldP spid="15" grpId="0" animBg="1"/>
      <p:bldP spid="16" grpId="0" animBg="1"/>
      <p:bldP spid="17" grpId="0" animBg="1"/>
      <p:bldP spid="18" grpId="0" animBg="1"/>
      <p:bldP spid="20" grpId="0" animBg="1"/>
      <p:bldP spid="21" grpId="0" animBg="1"/>
      <p:bldP spid="22" grpId="0" animBg="1"/>
      <p:bldP spid="23" grpId="0" animBg="1"/>
      <p:bldP spid="2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0B9D76"/>
                </a:solidFill>
                <a:latin typeface="Cairo" pitchFamily="34" charset="0"/>
                <a:ea typeface="Cairo" pitchFamily="34" charset="-122"/>
                <a:cs typeface="Cairo" pitchFamily="34" charset="-120"/>
              </a:rPr>
              <a:t>نافذة أعمال</a:t>
            </a:r>
            <a:endParaRPr lang="ar-SA" sz="1400" dirty="0"/>
          </a:p>
        </p:txBody>
      </p:sp>
      <p:sp>
        <p:nvSpPr>
          <p:cNvPr id="4" name="Text 1"/>
          <p:cNvSpPr txBox="1"/>
          <p:nvPr/>
        </p:nvSpPr>
        <p:spPr>
          <a:xfrm>
            <a:off x="2926080" y="731520"/>
            <a:ext cx="8716975" cy="777240"/>
          </a:xfrm>
          <a:prstGeom prst="rect">
            <a:avLst/>
          </a:prstGeom>
          <a:noFill/>
          <a:ln/>
        </p:spPr>
        <p:txBody>
          <a:bodyPr wrap="square" lIns="0" tIns="0" rIns="0" bIns="0" rtlCol="0" anchor="t"/>
          <a:lstStyle/>
          <a:p>
            <a:pPr rtl="1" algn="r" indent="0" marL="0">
              <a:buNone/>
            </a:pPr>
            <a:r>
              <a:rPr lang="ar-SA" altLang="en-US" sz="3200" b="1" dirty="0">
                <a:solidFill>
                  <a:srgbClr val="0B9D76"/>
                </a:solidFill>
                <a:latin typeface="Cairo" pitchFamily="34" charset="0"/>
                <a:ea typeface="Cairo" pitchFamily="34" charset="-122"/>
                <a:cs typeface="Cairo" pitchFamily="34" charset="-120"/>
              </a:rPr>
              <a:t>نافذة أعمال: الخدمات القادمة</a:t>
            </a:r>
            <a:endParaRPr lang="ar-SA" sz="32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146304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12</a:t>
            </a:r>
            <a:endParaRPr lang="ar-SA" sz="1100" dirty="0"/>
          </a:p>
        </p:txBody>
      </p:sp>
      <p:sp>
        <p:nvSpPr>
          <p:cNvPr id="8" name="anim1_196"/>
          <p:cNvSpPr/>
          <p:nvPr/>
        </p:nvSpPr>
        <p:spPr>
          <a:xfrm>
            <a:off x="8214055" y="1874520"/>
            <a:ext cx="3429000" cy="3246120"/>
          </a:xfrm>
          <a:prstGeom prst="roundRect">
            <a:avLst>
              <a:gd name="adj" fmla="val 5634"/>
            </a:avLst>
          </a:prstGeom>
          <a:solidFill>
            <a:srgbClr val="FFFFFF"/>
          </a:solidFill>
          <a:ln w="15875">
            <a:solidFill>
              <a:srgbClr val="0B9D76"/>
            </a:solidFill>
            <a:prstDash val="solid"/>
          </a:ln>
        </p:spPr>
      </p:sp>
      <p:sp>
        <p:nvSpPr>
          <p:cNvPr id="9" name="anim1_197"/>
          <p:cNvSpPr/>
          <p:nvPr/>
        </p:nvSpPr>
        <p:spPr>
          <a:xfrm>
            <a:off x="9379915" y="2331720"/>
            <a:ext cx="1097280" cy="1097280"/>
          </a:xfrm>
          <a:prstGeom prst="ellipse">
            <a:avLst/>
          </a:prstGeom>
          <a:solidFill>
            <a:srgbClr val="E7F5F0"/>
          </a:solidFill>
          <a:ln/>
        </p:spPr>
      </p:sp>
      <p:pic>
        <p:nvPicPr>
          <p:cNvPr id="10" name="anim1_198" descr="نافذة أفراد">    </p:cNvPr>
          <p:cNvPicPr>
            <a:picLocks noChangeAspect="1"/>
          </p:cNvPicPr>
          <p:nvPr/>
        </p:nvPicPr>
        <p:blipFill>
          <a:blip r:embed="rId3"/>
          <a:stretch>
            <a:fillRect/>
          </a:stretch>
        </p:blipFill>
        <p:spPr>
          <a:xfrm>
            <a:off x="9687154" y="2638958"/>
            <a:ext cx="482803" cy="482803"/>
          </a:xfrm>
          <a:prstGeom prst="rect">
            <a:avLst/>
          </a:prstGeom>
        </p:spPr>
      </p:pic>
      <p:sp>
        <p:nvSpPr>
          <p:cNvPr id="11" name="anim1_199"/>
          <p:cNvSpPr txBox="1"/>
          <p:nvPr/>
        </p:nvSpPr>
        <p:spPr>
          <a:xfrm>
            <a:off x="8488375" y="3703320"/>
            <a:ext cx="2880360" cy="548640"/>
          </a:xfrm>
          <a:prstGeom prst="rect">
            <a:avLst/>
          </a:prstGeom>
          <a:noFill/>
          <a:ln/>
        </p:spPr>
        <p:txBody>
          <a:bodyPr wrap="square" lIns="0" tIns="0" rIns="0" bIns="0" rtlCol="0" anchor="t"/>
          <a:lstStyle/>
          <a:p>
            <a:pPr rtl="1" algn="ctr" indent="0" marL="0">
              <a:buNone/>
            </a:pPr>
            <a:r>
              <a:rPr lang="ar-SA" altLang="en-US" sz="2200" b="1" dirty="0">
                <a:solidFill>
                  <a:srgbClr val="0B9D76"/>
                </a:solidFill>
                <a:latin typeface="Cairo" pitchFamily="34" charset="0"/>
                <a:ea typeface="Cairo" pitchFamily="34" charset="-122"/>
                <a:cs typeface="Cairo" pitchFamily="34" charset="-120"/>
              </a:rPr>
              <a:t>خدمات المنشآت</a:t>
            </a:r>
            <a:endParaRPr lang="ar-SA" sz="2200" dirty="0"/>
          </a:p>
        </p:txBody>
      </p:sp>
      <p:sp>
        <p:nvSpPr>
          <p:cNvPr id="12" name="anim1_200"/>
          <p:cNvSpPr txBox="1"/>
          <p:nvPr/>
        </p:nvSpPr>
        <p:spPr>
          <a:xfrm>
            <a:off x="8488375" y="4343400"/>
            <a:ext cx="2880360" cy="731520"/>
          </a:xfrm>
          <a:prstGeom prst="rect">
            <a:avLst/>
          </a:prstGeom>
          <a:noFill/>
          <a:ln/>
        </p:spPr>
        <p:txBody>
          <a:bodyPr wrap="square" lIns="0" tIns="0" rIns="0" bIns="0" rtlCol="0" anchor="t"/>
          <a:lstStyle/>
          <a:p>
            <a:pPr rtl="1" algn="ctr" indent="0" marL="0">
              <a:buNone/>
            </a:pPr>
            <a:r>
              <a:rPr lang="ar-SA" altLang="en-US" sz="1500" dirty="0">
                <a:solidFill>
                  <a:srgbClr val="1A2340"/>
                </a:solidFill>
                <a:latin typeface="Cairo" pitchFamily="34" charset="0"/>
                <a:ea typeface="Cairo" pitchFamily="34" charset="-122"/>
                <a:cs typeface="Cairo" pitchFamily="34" charset="-120"/>
              </a:rPr>
              <a:t>خدمات المدينة لأصحاب الأعمال من نافذة واحدة</a:t>
            </a:r>
            <a:endParaRPr lang="ar-SA" sz="1500" dirty="0"/>
          </a:p>
        </p:txBody>
      </p:sp>
      <p:sp>
        <p:nvSpPr>
          <p:cNvPr id="13" name="anim2_201"/>
          <p:cNvSpPr/>
          <p:nvPr/>
        </p:nvSpPr>
        <p:spPr>
          <a:xfrm>
            <a:off x="4382719" y="1874520"/>
            <a:ext cx="3429000" cy="3246120"/>
          </a:xfrm>
          <a:prstGeom prst="roundRect">
            <a:avLst>
              <a:gd name="adj" fmla="val 5634"/>
            </a:avLst>
          </a:prstGeom>
          <a:solidFill>
            <a:srgbClr val="FFFFFF"/>
          </a:solidFill>
          <a:ln w="15875">
            <a:solidFill>
              <a:srgbClr val="0B9D76"/>
            </a:solidFill>
            <a:prstDash val="solid"/>
          </a:ln>
        </p:spPr>
      </p:sp>
      <p:sp>
        <p:nvSpPr>
          <p:cNvPr id="14" name="anim2_202"/>
          <p:cNvSpPr/>
          <p:nvPr/>
        </p:nvSpPr>
        <p:spPr>
          <a:xfrm>
            <a:off x="5548579" y="2331720"/>
            <a:ext cx="1097280" cy="1097280"/>
          </a:xfrm>
          <a:prstGeom prst="ellipse">
            <a:avLst/>
          </a:prstGeom>
          <a:solidFill>
            <a:srgbClr val="E7F5F0"/>
          </a:solidFill>
          <a:ln/>
        </p:spPr>
      </p:sp>
      <p:pic>
        <p:nvPicPr>
          <p:cNvPr id="15" name="anim2_203" descr="نافذة أفراد">    </p:cNvPr>
          <p:cNvPicPr>
            <a:picLocks noChangeAspect="1"/>
          </p:cNvPicPr>
          <p:nvPr/>
        </p:nvPicPr>
        <p:blipFill>
          <a:blip r:embed="rId4"/>
          <a:stretch>
            <a:fillRect/>
          </a:stretch>
        </p:blipFill>
        <p:spPr>
          <a:xfrm>
            <a:off x="5855818" y="2638958"/>
            <a:ext cx="482803" cy="482803"/>
          </a:xfrm>
          <a:prstGeom prst="rect">
            <a:avLst/>
          </a:prstGeom>
        </p:spPr>
      </p:pic>
      <p:sp>
        <p:nvSpPr>
          <p:cNvPr id="16" name="anim2_204"/>
          <p:cNvSpPr txBox="1"/>
          <p:nvPr/>
        </p:nvSpPr>
        <p:spPr>
          <a:xfrm>
            <a:off x="4657039" y="3703320"/>
            <a:ext cx="2880360" cy="548640"/>
          </a:xfrm>
          <a:prstGeom prst="rect">
            <a:avLst/>
          </a:prstGeom>
          <a:noFill/>
          <a:ln/>
        </p:spPr>
        <p:txBody>
          <a:bodyPr wrap="square" lIns="0" tIns="0" rIns="0" bIns="0" rtlCol="0" anchor="t"/>
          <a:lstStyle/>
          <a:p>
            <a:pPr rtl="1" algn="ctr" indent="0" marL="0">
              <a:buNone/>
            </a:pPr>
            <a:r>
              <a:rPr lang="ar-SA" altLang="en-US" sz="2200" b="1" dirty="0">
                <a:solidFill>
                  <a:srgbClr val="0B9D76"/>
                </a:solidFill>
                <a:latin typeface="Cairo" pitchFamily="34" charset="0"/>
                <a:ea typeface="Cairo" pitchFamily="34" charset="-122"/>
                <a:cs typeface="Cairo" pitchFamily="34" charset="-120"/>
              </a:rPr>
              <a:t>فرص الأعمال</a:t>
            </a:r>
            <a:endParaRPr lang="ar-SA" sz="2200" dirty="0"/>
          </a:p>
        </p:txBody>
      </p:sp>
      <p:sp>
        <p:nvSpPr>
          <p:cNvPr id="17" name="anim2_205"/>
          <p:cNvSpPr txBox="1"/>
          <p:nvPr/>
        </p:nvSpPr>
        <p:spPr>
          <a:xfrm>
            <a:off x="4657039" y="4343400"/>
            <a:ext cx="2880360" cy="731520"/>
          </a:xfrm>
          <a:prstGeom prst="rect">
            <a:avLst/>
          </a:prstGeom>
          <a:noFill/>
          <a:ln/>
        </p:spPr>
        <p:txBody>
          <a:bodyPr wrap="square" lIns="0" tIns="0" rIns="0" bIns="0" rtlCol="0" anchor="t"/>
          <a:lstStyle/>
          <a:p>
            <a:pPr rtl="1" algn="ctr" indent="0" marL="0">
              <a:buNone/>
            </a:pPr>
            <a:r>
              <a:rPr lang="ar-SA" altLang="en-US" sz="1500" dirty="0">
                <a:solidFill>
                  <a:srgbClr val="1A2340"/>
                </a:solidFill>
                <a:latin typeface="Cairo" pitchFamily="34" charset="0"/>
                <a:ea typeface="Cairo" pitchFamily="34" charset="-122"/>
                <a:cs typeface="Cairo" pitchFamily="34" charset="-120"/>
              </a:rPr>
              <a:t>الاطلاع على الفرص في المدن الأربع</a:t>
            </a:r>
            <a:endParaRPr lang="ar-SA" sz="1500" dirty="0"/>
          </a:p>
        </p:txBody>
      </p:sp>
      <p:sp>
        <p:nvSpPr>
          <p:cNvPr id="18" name="anim3_206"/>
          <p:cNvSpPr/>
          <p:nvPr/>
        </p:nvSpPr>
        <p:spPr>
          <a:xfrm>
            <a:off x="551383" y="1874520"/>
            <a:ext cx="3429000" cy="3246120"/>
          </a:xfrm>
          <a:prstGeom prst="roundRect">
            <a:avLst>
              <a:gd name="adj" fmla="val 5634"/>
            </a:avLst>
          </a:prstGeom>
          <a:solidFill>
            <a:srgbClr val="FFFFFF"/>
          </a:solidFill>
          <a:ln w="15875">
            <a:solidFill>
              <a:srgbClr val="0B9D76"/>
            </a:solidFill>
            <a:prstDash val="solid"/>
          </a:ln>
        </p:spPr>
      </p:sp>
      <p:sp>
        <p:nvSpPr>
          <p:cNvPr id="19" name="anim3_207"/>
          <p:cNvSpPr/>
          <p:nvPr/>
        </p:nvSpPr>
        <p:spPr>
          <a:xfrm>
            <a:off x="1717243" y="2331720"/>
            <a:ext cx="1097280" cy="1097280"/>
          </a:xfrm>
          <a:prstGeom prst="ellipse">
            <a:avLst/>
          </a:prstGeom>
          <a:solidFill>
            <a:srgbClr val="E7F5F0"/>
          </a:solidFill>
          <a:ln/>
        </p:spPr>
      </p:sp>
      <p:pic>
        <p:nvPicPr>
          <p:cNvPr id="20" name="anim3_208" descr="نافذة أفراد">    </p:cNvPr>
          <p:cNvPicPr>
            <a:picLocks noChangeAspect="1"/>
          </p:cNvPicPr>
          <p:nvPr/>
        </p:nvPicPr>
        <p:blipFill>
          <a:blip r:embed="rId5"/>
          <a:stretch>
            <a:fillRect/>
          </a:stretch>
        </p:blipFill>
        <p:spPr>
          <a:xfrm>
            <a:off x="2024482" y="2638958"/>
            <a:ext cx="482803" cy="482803"/>
          </a:xfrm>
          <a:prstGeom prst="rect">
            <a:avLst/>
          </a:prstGeom>
        </p:spPr>
      </p:pic>
      <p:sp>
        <p:nvSpPr>
          <p:cNvPr id="21" name="anim3_209"/>
          <p:cNvSpPr txBox="1"/>
          <p:nvPr/>
        </p:nvSpPr>
        <p:spPr>
          <a:xfrm>
            <a:off x="825703" y="3703320"/>
            <a:ext cx="2880360" cy="548640"/>
          </a:xfrm>
          <a:prstGeom prst="rect">
            <a:avLst/>
          </a:prstGeom>
          <a:noFill/>
          <a:ln/>
        </p:spPr>
        <p:txBody>
          <a:bodyPr wrap="square" lIns="0" tIns="0" rIns="0" bIns="0" rtlCol="0" anchor="t"/>
          <a:lstStyle/>
          <a:p>
            <a:pPr rtl="1" algn="ctr" indent="0" marL="0">
              <a:buNone/>
            </a:pPr>
            <a:r>
              <a:rPr lang="ar-SA" altLang="en-US" sz="2200" b="1" dirty="0">
                <a:solidFill>
                  <a:srgbClr val="0B9D76"/>
                </a:solidFill>
                <a:latin typeface="Cairo" pitchFamily="34" charset="0"/>
                <a:ea typeface="Cairo" pitchFamily="34" charset="-122"/>
                <a:cs typeface="Cairo" pitchFamily="34" charset="-120"/>
              </a:rPr>
              <a:t>فعاليات الأعمال</a:t>
            </a:r>
            <a:endParaRPr lang="ar-SA" sz="2200" dirty="0"/>
          </a:p>
        </p:txBody>
      </p:sp>
      <p:sp>
        <p:nvSpPr>
          <p:cNvPr id="22" name="anim3_210"/>
          <p:cNvSpPr txBox="1"/>
          <p:nvPr/>
        </p:nvSpPr>
        <p:spPr>
          <a:xfrm>
            <a:off x="825703" y="4343400"/>
            <a:ext cx="2880360" cy="731520"/>
          </a:xfrm>
          <a:prstGeom prst="rect">
            <a:avLst/>
          </a:prstGeom>
          <a:noFill/>
          <a:ln/>
        </p:spPr>
        <p:txBody>
          <a:bodyPr wrap="square" lIns="0" tIns="0" rIns="0" bIns="0" rtlCol="0" anchor="t"/>
          <a:lstStyle/>
          <a:p>
            <a:pPr rtl="1" algn="ctr" indent="0" marL="0">
              <a:buNone/>
            </a:pPr>
            <a:r>
              <a:rPr lang="ar-SA" altLang="en-US" sz="1500" dirty="0">
                <a:solidFill>
                  <a:srgbClr val="1A2340"/>
                </a:solidFill>
                <a:latin typeface="Cairo" pitchFamily="34" charset="0"/>
                <a:ea typeface="Cairo" pitchFamily="34" charset="-122"/>
                <a:cs typeface="Cairo" pitchFamily="34" charset="-120"/>
              </a:rPr>
              <a:t>متابعة فعاليات الأعمال في المدينة</a:t>
            </a:r>
            <a:endParaRPr lang="ar-SA"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18"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5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450"/>
                                        <p:tgtEl>
                                          <p:spTgt spid="1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childTnLst>
                          </p:cTn>
                        </p:par>
                        <p:par>
                          <p:cTn id="34" fill="hold">
                            <p:stCondLst>
                              <p:cond delay="700"/>
                            </p:stCondLst>
                            <p:childTnLst>
                              <p:par>
                                <p:cTn id="19" presetID="10" presetClass="entr" presetSubtype="0" fill="hold" grpId="0" nodeType="after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5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5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50"/>
                                        <p:tgtEl>
                                          <p:spTgt spid="17"/>
                                        </p:tgtEl>
                                      </p:cBhvr>
                                    </p:animEffect>
                                  </p:childTnLst>
                                </p:cTn>
                              </p:par>
                            </p:childTnLst>
                          </p:cTn>
                        </p:par>
                        <p:par>
                          <p:cTn id="50" fill="hold">
                            <p:stCondLst>
                              <p:cond delay="1400"/>
                            </p:stCondLst>
                            <p:childTnLst>
                              <p:par>
                                <p:cTn id="35" presetID="10" presetClass="entr" presetSubtype="0" fill="hold" grpId="0" nodeType="after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5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50"/>
                                        <p:tgtEl>
                                          <p:spTgt spid="2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450"/>
                                        <p:tgtEl>
                                          <p:spTgt spid="21"/>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2" grpId="0" animBg="1"/>
      <p:bldP spid="13" grpId="0" animBg="1"/>
      <p:bldP spid="14" grpId="0" animBg="1"/>
      <p:bldP spid="16" grpId="0" animBg="1"/>
      <p:bldP spid="17" grpId="0" animBg="1"/>
      <p:bldP spid="18" grpId="0" animBg="1"/>
      <p:bldP spid="19" grpId="0" animBg="1"/>
      <p:bldP spid="21" grpId="0" animBg="1"/>
      <p:bldP spid="2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0B9D76"/>
                </a:solidFill>
                <a:latin typeface="Cairo" pitchFamily="34" charset="0"/>
                <a:ea typeface="Cairo" pitchFamily="34" charset="-122"/>
                <a:cs typeface="Cairo" pitchFamily="34" charset="-120"/>
              </a:rPr>
              <a:t>نافذة أعمال</a:t>
            </a:r>
            <a:endParaRPr lang="ar-SA" sz="1400" dirty="0"/>
          </a:p>
        </p:txBody>
      </p:sp>
      <p:sp>
        <p:nvSpPr>
          <p:cNvPr id="4" name="Text 1"/>
          <p:cNvSpPr txBox="1"/>
          <p:nvPr/>
        </p:nvSpPr>
        <p:spPr>
          <a:xfrm>
            <a:off x="2926080" y="731520"/>
            <a:ext cx="8716975" cy="777240"/>
          </a:xfrm>
          <a:prstGeom prst="rect">
            <a:avLst/>
          </a:prstGeom>
          <a:noFill/>
          <a:ln/>
        </p:spPr>
        <p:txBody>
          <a:bodyPr wrap="square" lIns="0" tIns="0" rIns="0" bIns="0" rtlCol="0" anchor="t"/>
          <a:lstStyle/>
          <a:p>
            <a:pPr rtl="1" algn="r" indent="0" marL="0">
              <a:buNone/>
            </a:pPr>
            <a:r>
              <a:rPr lang="ar-SA" altLang="en-US" sz="3200" b="1" dirty="0">
                <a:solidFill>
                  <a:srgbClr val="0B9D76"/>
                </a:solidFill>
                <a:latin typeface="Cairo" pitchFamily="34" charset="0"/>
                <a:ea typeface="Cairo" pitchFamily="34" charset="-122"/>
                <a:cs typeface="Cairo" pitchFamily="34" charset="-120"/>
              </a:rPr>
              <a:t>ماذا تقدم نافذة أعمال لأصحاب الأعمال؟</a:t>
            </a:r>
            <a:endParaRPr lang="ar-SA" sz="32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146304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13</a:t>
            </a:r>
            <a:endParaRPr lang="ar-SA" sz="1100" dirty="0"/>
          </a:p>
        </p:txBody>
      </p:sp>
      <p:sp>
        <p:nvSpPr>
          <p:cNvPr id="8" name="anim1_211"/>
          <p:cNvSpPr/>
          <p:nvPr/>
        </p:nvSpPr>
        <p:spPr>
          <a:xfrm>
            <a:off x="6293815" y="1783080"/>
            <a:ext cx="5349240" cy="1691640"/>
          </a:xfrm>
          <a:prstGeom prst="roundRect">
            <a:avLst>
              <a:gd name="adj" fmla="val 9730"/>
            </a:avLst>
          </a:prstGeom>
          <a:solidFill>
            <a:srgbClr val="E7F5F0"/>
          </a:solidFill>
          <a:ln/>
        </p:spPr>
      </p:sp>
      <p:sp>
        <p:nvSpPr>
          <p:cNvPr id="9" name="anim1_212"/>
          <p:cNvSpPr/>
          <p:nvPr/>
        </p:nvSpPr>
        <p:spPr>
          <a:xfrm>
            <a:off x="10408615" y="2171700"/>
            <a:ext cx="914400" cy="914400"/>
          </a:xfrm>
          <a:prstGeom prst="ellipse">
            <a:avLst/>
          </a:prstGeom>
          <a:solidFill>
            <a:srgbClr val="0B9D76"/>
          </a:solidFill>
          <a:ln/>
        </p:spPr>
      </p:sp>
      <p:pic>
        <p:nvPicPr>
          <p:cNvPr id="10" name="anim1_213" descr="نافذة أفراد">    </p:cNvPr>
          <p:cNvPicPr>
            <a:picLocks noChangeAspect="1"/>
          </p:cNvPicPr>
          <p:nvPr/>
        </p:nvPicPr>
        <p:blipFill>
          <a:blip r:embed="rId3"/>
          <a:stretch>
            <a:fillRect/>
          </a:stretch>
        </p:blipFill>
        <p:spPr>
          <a:xfrm>
            <a:off x="10655503" y="2418588"/>
            <a:ext cx="420624" cy="420624"/>
          </a:xfrm>
          <a:prstGeom prst="rect">
            <a:avLst/>
          </a:prstGeom>
        </p:spPr>
      </p:pic>
      <p:sp>
        <p:nvSpPr>
          <p:cNvPr id="11" name="anim1_214"/>
          <p:cNvSpPr txBox="1"/>
          <p:nvPr/>
        </p:nvSpPr>
        <p:spPr>
          <a:xfrm>
            <a:off x="6613855" y="2167128"/>
            <a:ext cx="3657600" cy="457200"/>
          </a:xfrm>
          <a:prstGeom prst="rect">
            <a:avLst/>
          </a:prstGeom>
          <a:noFill/>
          <a:ln/>
        </p:spPr>
        <p:txBody>
          <a:bodyPr wrap="square" lIns="0" tIns="0" rIns="0" bIns="0" rtlCol="0" anchor="t"/>
          <a:lstStyle/>
          <a:p>
            <a:pPr rtl="1" algn="r" indent="0" marL="0">
              <a:buNone/>
            </a:pPr>
            <a:r>
              <a:rPr lang="ar-SA" altLang="en-US" sz="2100" b="1" dirty="0">
                <a:solidFill>
                  <a:srgbClr val="0B9D76"/>
                </a:solidFill>
                <a:latin typeface="Cairo" pitchFamily="34" charset="0"/>
                <a:ea typeface="Cairo" pitchFamily="34" charset="-122"/>
                <a:cs typeface="Cairo" pitchFamily="34" charset="-120"/>
              </a:rPr>
              <a:t>نافذة واحدة</a:t>
            </a:r>
            <a:endParaRPr lang="ar-SA" sz="2100" dirty="0"/>
          </a:p>
        </p:txBody>
      </p:sp>
      <p:sp>
        <p:nvSpPr>
          <p:cNvPr id="12" name="anim1_215"/>
          <p:cNvSpPr txBox="1"/>
          <p:nvPr/>
        </p:nvSpPr>
        <p:spPr>
          <a:xfrm>
            <a:off x="6613855" y="2651760"/>
            <a:ext cx="3657600" cy="411480"/>
          </a:xfrm>
          <a:prstGeom prst="rect">
            <a:avLst/>
          </a:prstGeom>
          <a:noFill/>
          <a:ln/>
        </p:spPr>
        <p:txBody>
          <a:bodyPr wrap="square" lIns="0" tIns="0" rIns="0" bIns="0" rtlCol="0" anchor="t"/>
          <a:lstStyle/>
          <a:p>
            <a:pPr rtl="1" algn="r" indent="0" marL="0">
              <a:buNone/>
            </a:pPr>
            <a:r>
              <a:rPr lang="ar-SA" altLang="en-US" sz="1500" dirty="0">
                <a:solidFill>
                  <a:srgbClr val="1A2340"/>
                </a:solidFill>
                <a:latin typeface="Cairo" pitchFamily="34" charset="0"/>
                <a:ea typeface="Cairo" pitchFamily="34" charset="-122"/>
                <a:cs typeface="Cairo" pitchFamily="34" charset="-120"/>
              </a:rPr>
              <a:t>بدل التنقل بين قنوات متعددة</a:t>
            </a:r>
            <a:endParaRPr lang="ar-SA" sz="1500" dirty="0"/>
          </a:p>
        </p:txBody>
      </p:sp>
      <p:sp>
        <p:nvSpPr>
          <p:cNvPr id="13" name="anim2_216"/>
          <p:cNvSpPr/>
          <p:nvPr/>
        </p:nvSpPr>
        <p:spPr>
          <a:xfrm>
            <a:off x="551383" y="1783080"/>
            <a:ext cx="5349240" cy="1691640"/>
          </a:xfrm>
          <a:prstGeom prst="roundRect">
            <a:avLst>
              <a:gd name="adj" fmla="val 9730"/>
            </a:avLst>
          </a:prstGeom>
          <a:solidFill>
            <a:srgbClr val="E7F5F0"/>
          </a:solidFill>
          <a:ln/>
        </p:spPr>
      </p:sp>
      <p:sp>
        <p:nvSpPr>
          <p:cNvPr id="14" name="anim2_217"/>
          <p:cNvSpPr/>
          <p:nvPr/>
        </p:nvSpPr>
        <p:spPr>
          <a:xfrm>
            <a:off x="4666183" y="2171700"/>
            <a:ext cx="914400" cy="914400"/>
          </a:xfrm>
          <a:prstGeom prst="ellipse">
            <a:avLst/>
          </a:prstGeom>
          <a:solidFill>
            <a:srgbClr val="0B9D76"/>
          </a:solidFill>
          <a:ln/>
        </p:spPr>
      </p:sp>
      <p:pic>
        <p:nvPicPr>
          <p:cNvPr id="15" name="anim2_218" descr="نافذة أفراد">    </p:cNvPr>
          <p:cNvPicPr>
            <a:picLocks noChangeAspect="1"/>
          </p:cNvPicPr>
          <p:nvPr/>
        </p:nvPicPr>
        <p:blipFill>
          <a:blip r:embed="rId4"/>
          <a:stretch>
            <a:fillRect/>
          </a:stretch>
        </p:blipFill>
        <p:spPr>
          <a:xfrm>
            <a:off x="4913071" y="2418588"/>
            <a:ext cx="420624" cy="420624"/>
          </a:xfrm>
          <a:prstGeom prst="rect">
            <a:avLst/>
          </a:prstGeom>
        </p:spPr>
      </p:pic>
      <p:sp>
        <p:nvSpPr>
          <p:cNvPr id="16" name="anim2_219"/>
          <p:cNvSpPr txBox="1"/>
          <p:nvPr/>
        </p:nvSpPr>
        <p:spPr>
          <a:xfrm>
            <a:off x="871423" y="2167128"/>
            <a:ext cx="3657600" cy="457200"/>
          </a:xfrm>
          <a:prstGeom prst="rect">
            <a:avLst/>
          </a:prstGeom>
          <a:noFill/>
          <a:ln/>
        </p:spPr>
        <p:txBody>
          <a:bodyPr wrap="square" lIns="0" tIns="0" rIns="0" bIns="0" rtlCol="0" anchor="t"/>
          <a:lstStyle/>
          <a:p>
            <a:pPr rtl="1" algn="r" indent="0" marL="0">
              <a:buNone/>
            </a:pPr>
            <a:r>
              <a:rPr lang="ar-SA" altLang="en-US" sz="2100" b="1" dirty="0">
                <a:solidFill>
                  <a:srgbClr val="0B9D76"/>
                </a:solidFill>
                <a:latin typeface="Cairo" pitchFamily="34" charset="0"/>
                <a:ea typeface="Cairo" pitchFamily="34" charset="-122"/>
                <a:cs typeface="Cairo" pitchFamily="34" charset="-120"/>
              </a:rPr>
              <a:t>وقت أقل</a:t>
            </a:r>
            <a:endParaRPr lang="ar-SA" sz="2100" dirty="0"/>
          </a:p>
        </p:txBody>
      </p:sp>
      <p:sp>
        <p:nvSpPr>
          <p:cNvPr id="17" name="anim2_220"/>
          <p:cNvSpPr txBox="1"/>
          <p:nvPr/>
        </p:nvSpPr>
        <p:spPr>
          <a:xfrm>
            <a:off x="871423" y="2651760"/>
            <a:ext cx="3657600" cy="411480"/>
          </a:xfrm>
          <a:prstGeom prst="rect">
            <a:avLst/>
          </a:prstGeom>
          <a:noFill/>
          <a:ln/>
        </p:spPr>
        <p:txBody>
          <a:bodyPr wrap="square" lIns="0" tIns="0" rIns="0" bIns="0" rtlCol="0" anchor="t"/>
          <a:lstStyle/>
          <a:p>
            <a:pPr rtl="1" algn="r" indent="0" marL="0">
              <a:buNone/>
            </a:pPr>
            <a:r>
              <a:rPr lang="ar-SA" altLang="en-US" sz="1500" dirty="0">
                <a:solidFill>
                  <a:srgbClr val="1A2340"/>
                </a:solidFill>
                <a:latin typeface="Cairo" pitchFamily="34" charset="0"/>
                <a:ea typeface="Cairo" pitchFamily="34" charset="-122"/>
                <a:cs typeface="Cairo" pitchFamily="34" charset="-120"/>
              </a:rPr>
              <a:t>وصول أسرع إلى الخدمات</a:t>
            </a:r>
            <a:endParaRPr lang="ar-SA" sz="1500" dirty="0"/>
          </a:p>
        </p:txBody>
      </p:sp>
      <p:sp>
        <p:nvSpPr>
          <p:cNvPr id="18" name="anim3_221"/>
          <p:cNvSpPr/>
          <p:nvPr/>
        </p:nvSpPr>
        <p:spPr>
          <a:xfrm>
            <a:off x="6293815" y="3794760"/>
            <a:ext cx="5349240" cy="1691640"/>
          </a:xfrm>
          <a:prstGeom prst="roundRect">
            <a:avLst>
              <a:gd name="adj" fmla="val 9730"/>
            </a:avLst>
          </a:prstGeom>
          <a:solidFill>
            <a:srgbClr val="E7F5F0"/>
          </a:solidFill>
          <a:ln/>
        </p:spPr>
      </p:sp>
      <p:sp>
        <p:nvSpPr>
          <p:cNvPr id="19" name="anim3_222"/>
          <p:cNvSpPr/>
          <p:nvPr/>
        </p:nvSpPr>
        <p:spPr>
          <a:xfrm>
            <a:off x="10408615" y="4183380"/>
            <a:ext cx="914400" cy="914400"/>
          </a:xfrm>
          <a:prstGeom prst="ellipse">
            <a:avLst/>
          </a:prstGeom>
          <a:solidFill>
            <a:srgbClr val="0B9D76"/>
          </a:solidFill>
          <a:ln/>
        </p:spPr>
      </p:sp>
      <p:pic>
        <p:nvPicPr>
          <p:cNvPr id="20" name="anim3_223" descr="نافذة أفراد">    </p:cNvPr>
          <p:cNvPicPr>
            <a:picLocks noChangeAspect="1"/>
          </p:cNvPicPr>
          <p:nvPr/>
        </p:nvPicPr>
        <p:blipFill>
          <a:blip r:embed="rId5"/>
          <a:stretch>
            <a:fillRect/>
          </a:stretch>
        </p:blipFill>
        <p:spPr>
          <a:xfrm>
            <a:off x="10655503" y="4430268"/>
            <a:ext cx="420624" cy="420624"/>
          </a:xfrm>
          <a:prstGeom prst="rect">
            <a:avLst/>
          </a:prstGeom>
        </p:spPr>
      </p:pic>
      <p:sp>
        <p:nvSpPr>
          <p:cNvPr id="21" name="anim3_224"/>
          <p:cNvSpPr txBox="1"/>
          <p:nvPr/>
        </p:nvSpPr>
        <p:spPr>
          <a:xfrm>
            <a:off x="6613855" y="4178808"/>
            <a:ext cx="3657600" cy="457200"/>
          </a:xfrm>
          <a:prstGeom prst="rect">
            <a:avLst/>
          </a:prstGeom>
          <a:noFill/>
          <a:ln/>
        </p:spPr>
        <p:txBody>
          <a:bodyPr wrap="square" lIns="0" tIns="0" rIns="0" bIns="0" rtlCol="0" anchor="t"/>
          <a:lstStyle/>
          <a:p>
            <a:pPr rtl="1" algn="r" indent="0" marL="0">
              <a:buNone/>
            </a:pPr>
            <a:r>
              <a:rPr lang="ar-SA" altLang="en-US" sz="2100" b="1" dirty="0">
                <a:solidFill>
                  <a:srgbClr val="0B9D76"/>
                </a:solidFill>
                <a:latin typeface="Cairo" pitchFamily="34" charset="0"/>
                <a:ea typeface="Cairo" pitchFamily="34" charset="-122"/>
                <a:cs typeface="Cairo" pitchFamily="34" charset="-120"/>
              </a:rPr>
              <a:t>رؤية أوضح</a:t>
            </a:r>
            <a:endParaRPr lang="ar-SA" sz="2100" dirty="0"/>
          </a:p>
        </p:txBody>
      </p:sp>
      <p:sp>
        <p:nvSpPr>
          <p:cNvPr id="22" name="anim3_225"/>
          <p:cNvSpPr txBox="1"/>
          <p:nvPr/>
        </p:nvSpPr>
        <p:spPr>
          <a:xfrm>
            <a:off x="6613855" y="4663440"/>
            <a:ext cx="3657600" cy="411480"/>
          </a:xfrm>
          <a:prstGeom prst="rect">
            <a:avLst/>
          </a:prstGeom>
          <a:noFill/>
          <a:ln/>
        </p:spPr>
        <p:txBody>
          <a:bodyPr wrap="square" lIns="0" tIns="0" rIns="0" bIns="0" rtlCol="0" anchor="t"/>
          <a:lstStyle/>
          <a:p>
            <a:pPr rtl="1" algn="r" indent="0" marL="0">
              <a:buNone/>
            </a:pPr>
            <a:r>
              <a:rPr lang="ar-SA" altLang="en-US" sz="1500" dirty="0">
                <a:solidFill>
                  <a:srgbClr val="1A2340"/>
                </a:solidFill>
                <a:latin typeface="Cairo" pitchFamily="34" charset="0"/>
                <a:ea typeface="Cairo" pitchFamily="34" charset="-122"/>
                <a:cs typeface="Cairo" pitchFamily="34" charset="-120"/>
              </a:rPr>
              <a:t>اطلاع على الفرص في المدن الأربع</a:t>
            </a:r>
            <a:endParaRPr lang="ar-SA" sz="1500" dirty="0"/>
          </a:p>
        </p:txBody>
      </p:sp>
      <p:sp>
        <p:nvSpPr>
          <p:cNvPr id="23" name="anim4_226"/>
          <p:cNvSpPr/>
          <p:nvPr/>
        </p:nvSpPr>
        <p:spPr>
          <a:xfrm>
            <a:off x="551383" y="3794760"/>
            <a:ext cx="5349240" cy="1691640"/>
          </a:xfrm>
          <a:prstGeom prst="roundRect">
            <a:avLst>
              <a:gd name="adj" fmla="val 9730"/>
            </a:avLst>
          </a:prstGeom>
          <a:solidFill>
            <a:srgbClr val="E7F5F0"/>
          </a:solidFill>
          <a:ln/>
        </p:spPr>
      </p:sp>
      <p:sp>
        <p:nvSpPr>
          <p:cNvPr id="24" name="anim4_227"/>
          <p:cNvSpPr/>
          <p:nvPr/>
        </p:nvSpPr>
        <p:spPr>
          <a:xfrm>
            <a:off x="4666183" y="4183380"/>
            <a:ext cx="914400" cy="914400"/>
          </a:xfrm>
          <a:prstGeom prst="ellipse">
            <a:avLst/>
          </a:prstGeom>
          <a:solidFill>
            <a:srgbClr val="0B9D76"/>
          </a:solidFill>
          <a:ln/>
        </p:spPr>
      </p:sp>
      <p:pic>
        <p:nvPicPr>
          <p:cNvPr id="25" name="anim4_228" descr="نافذة أفراد">    </p:cNvPr>
          <p:cNvPicPr>
            <a:picLocks noChangeAspect="1"/>
          </p:cNvPicPr>
          <p:nvPr/>
        </p:nvPicPr>
        <p:blipFill>
          <a:blip r:embed="rId6"/>
          <a:stretch>
            <a:fillRect/>
          </a:stretch>
        </p:blipFill>
        <p:spPr>
          <a:xfrm>
            <a:off x="4913071" y="4430268"/>
            <a:ext cx="420624" cy="420624"/>
          </a:xfrm>
          <a:prstGeom prst="rect">
            <a:avLst/>
          </a:prstGeom>
        </p:spPr>
      </p:pic>
      <p:sp>
        <p:nvSpPr>
          <p:cNvPr id="26" name="anim4_229"/>
          <p:cNvSpPr txBox="1"/>
          <p:nvPr/>
        </p:nvSpPr>
        <p:spPr>
          <a:xfrm>
            <a:off x="871423" y="4178808"/>
            <a:ext cx="3657600" cy="457200"/>
          </a:xfrm>
          <a:prstGeom prst="rect">
            <a:avLst/>
          </a:prstGeom>
          <a:noFill/>
          <a:ln/>
        </p:spPr>
        <p:txBody>
          <a:bodyPr wrap="square" lIns="0" tIns="0" rIns="0" bIns="0" rtlCol="0" anchor="t"/>
          <a:lstStyle/>
          <a:p>
            <a:pPr rtl="1" algn="r" indent="0" marL="0">
              <a:buNone/>
            </a:pPr>
            <a:r>
              <a:rPr lang="ar-SA" altLang="en-US" sz="2100" b="1" dirty="0">
                <a:solidFill>
                  <a:srgbClr val="0B9D76"/>
                </a:solidFill>
                <a:latin typeface="Cairo" pitchFamily="34" charset="0"/>
                <a:ea typeface="Cairo" pitchFamily="34" charset="-122"/>
                <a:cs typeface="Cairo" pitchFamily="34" charset="-120"/>
              </a:rPr>
              <a:t>تجربة متصلة</a:t>
            </a:r>
            <a:endParaRPr lang="ar-SA" sz="2100" dirty="0"/>
          </a:p>
        </p:txBody>
      </p:sp>
      <p:sp>
        <p:nvSpPr>
          <p:cNvPr id="27" name="anim4_230"/>
          <p:cNvSpPr txBox="1"/>
          <p:nvPr/>
        </p:nvSpPr>
        <p:spPr>
          <a:xfrm>
            <a:off x="871423" y="4663440"/>
            <a:ext cx="3657600" cy="411480"/>
          </a:xfrm>
          <a:prstGeom prst="rect">
            <a:avLst/>
          </a:prstGeom>
          <a:noFill/>
          <a:ln/>
        </p:spPr>
        <p:txBody>
          <a:bodyPr wrap="square" lIns="0" tIns="0" rIns="0" bIns="0" rtlCol="0" anchor="t"/>
          <a:lstStyle/>
          <a:p>
            <a:pPr rtl="1" algn="r" indent="0" marL="0">
              <a:buNone/>
            </a:pPr>
            <a:r>
              <a:rPr lang="ar-SA" altLang="en-US" sz="1500" dirty="0">
                <a:solidFill>
                  <a:srgbClr val="1A2340"/>
                </a:solidFill>
                <a:latin typeface="Cairo" pitchFamily="34" charset="0"/>
                <a:ea typeface="Cairo" pitchFamily="34" charset="-122"/>
                <a:cs typeface="Cairo" pitchFamily="34" charset="-120"/>
              </a:rPr>
              <a:t>هوية وتجربة موحدة مع نافذة أفراد</a:t>
            </a:r>
            <a:endParaRPr lang="ar-SA"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7" fill="hold">
                      <p:stCondLst>
                        <p:cond delay="indefinite"/>
                        <p:cond evt="onBegin" delay="0">
                          <p:tn val="2"/>
                        </p:cond>
                      </p:stCondLst>
                      <p:childTnLst>
                        <p:par>
                          <p:cTn id="18"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5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450"/>
                                        <p:tgtEl>
                                          <p:spTgt spid="1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childTnLst>
                          </p:cTn>
                        </p:par>
                        <p:par>
                          <p:cTn id="34" fill="hold">
                            <p:stCondLst>
                              <p:cond delay="700"/>
                            </p:stCondLst>
                            <p:childTnLst>
                              <p:par>
                                <p:cTn id="19" presetID="10" presetClass="entr" presetSubtype="0" fill="hold" grpId="0" nodeType="after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5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5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50"/>
                                        <p:tgtEl>
                                          <p:spTgt spid="17"/>
                                        </p:tgtEl>
                                      </p:cBhvr>
                                    </p:animEffect>
                                  </p:childTnLst>
                                </p:cTn>
                              </p:par>
                            </p:childTnLst>
                          </p:cTn>
                        </p:par>
                        <p:par>
                          <p:cTn id="50" fill="hold">
                            <p:stCondLst>
                              <p:cond delay="1400"/>
                            </p:stCondLst>
                            <p:childTnLst>
                              <p:par>
                                <p:cTn id="35" presetID="10" presetClass="entr" presetSubtype="0" fill="hold" grpId="0" nodeType="after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5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50"/>
                                        <p:tgtEl>
                                          <p:spTgt spid="2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450"/>
                                        <p:tgtEl>
                                          <p:spTgt spid="21"/>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450"/>
                                        <p:tgtEl>
                                          <p:spTgt spid="22"/>
                                        </p:tgtEl>
                                      </p:cBhvr>
                                    </p:animEffect>
                                  </p:childTnLst>
                                </p:cTn>
                              </p:par>
                            </p:childTnLst>
                          </p:cTn>
                        </p:par>
                        <p:par>
                          <p:cTn id="66" fill="hold">
                            <p:stCondLst>
                              <p:cond delay="2100"/>
                            </p:stCondLst>
                            <p:childTnLst>
                              <p:par>
                                <p:cTn id="51" presetID="10" presetClass="entr" presetSubtype="0" fill="hold" grpId="0" nodeType="afterEffect">
                                  <p:stCondLst>
                                    <p:cond delay="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450"/>
                                        <p:tgtEl>
                                          <p:spTgt spid="2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450"/>
                                        <p:tgtEl>
                                          <p:spTgt spid="2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450"/>
                                        <p:tgtEl>
                                          <p:spTgt spid="2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450"/>
                                        <p:tgtEl>
                                          <p:spTgt spid="26"/>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2" grpId="0" animBg="1"/>
      <p:bldP spid="13" grpId="0" animBg="1"/>
      <p:bldP spid="14" grpId="0" animBg="1"/>
      <p:bldP spid="16" grpId="0" animBg="1"/>
      <p:bldP spid="17" grpId="0" animBg="1"/>
      <p:bldP spid="18" grpId="0" animBg="1"/>
      <p:bldP spid="19" grpId="0" animBg="1"/>
      <p:bldP spid="21" grpId="0" animBg="1"/>
      <p:bldP spid="22" grpId="0" animBg="1"/>
      <p:bldP spid="23" grpId="0" animBg="1"/>
      <p:bldP spid="24" grpId="0" animBg="1"/>
      <p:bldP spid="26" grpId="0" animBg="1"/>
      <p:bldP spid="2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8503920" y="-2103120"/>
            <a:ext cx="5486400" cy="5536276"/>
          </a:xfrm>
          <a:prstGeom prst="rect">
            <a:avLst/>
          </a:prstGeom>
        </p:spPr>
      </p:pic>
      <p:pic>
        <p:nvPicPr>
          <p:cNvPr id="3" name="Image 1" descr="زخرفة شعار نافذة">    </p:cNvPr>
          <p:cNvPicPr>
            <a:picLocks noChangeAspect="1"/>
          </p:cNvPicPr>
          <p:nvPr/>
        </p:nvPicPr>
        <p:blipFill>
          <a:blip r:embed="rId2">
            <a:alphaModFix amt="6000"/>
          </a:blip>
          <a:stretch>
            <a:fillRect/>
          </a:stretch>
        </p:blipFill>
        <p:spPr>
          <a:xfrm>
            <a:off x="-2011680" y="3931920"/>
            <a:ext cx="4937760" cy="4982649"/>
          </a:xfrm>
          <a:prstGeom prst="rect">
            <a:avLst/>
          </a:prstGeom>
        </p:spPr>
      </p:pic>
      <p:pic>
        <p:nvPicPr>
          <p:cNvPr id="4" name="anim1_231" descr="نافذة أفراد">    </p:cNvPr>
          <p:cNvPicPr>
            <a:picLocks noChangeAspect="1"/>
          </p:cNvPicPr>
          <p:nvPr/>
        </p:nvPicPr>
        <p:blipFill>
          <a:blip r:embed="rId3"/>
          <a:stretch>
            <a:fillRect/>
          </a:stretch>
        </p:blipFill>
        <p:spPr>
          <a:xfrm>
            <a:off x="10088575" y="1005840"/>
            <a:ext cx="1188720" cy="1199527"/>
          </a:xfrm>
          <a:prstGeom prst="rect">
            <a:avLst/>
          </a:prstGeom>
        </p:spPr>
      </p:pic>
      <p:sp>
        <p:nvSpPr>
          <p:cNvPr id="5" name="anim2_232"/>
          <p:cNvSpPr txBox="1"/>
          <p:nvPr/>
        </p:nvSpPr>
        <p:spPr>
          <a:xfrm>
            <a:off x="4572000" y="2514600"/>
            <a:ext cx="6705295" cy="822960"/>
          </a:xfrm>
          <a:prstGeom prst="rect">
            <a:avLst/>
          </a:prstGeom>
          <a:noFill/>
          <a:ln/>
        </p:spPr>
        <p:txBody>
          <a:bodyPr wrap="square" lIns="0" tIns="0" rIns="0" bIns="0" rtlCol="0" anchor="t"/>
          <a:lstStyle/>
          <a:p>
            <a:pPr rtl="1" algn="r" indent="0" marL="0">
              <a:buNone/>
            </a:pPr>
            <a:r>
              <a:rPr lang="ar-SA" altLang="en-US" sz="3600" b="1" dirty="0">
                <a:solidFill>
                  <a:srgbClr val="052977"/>
                </a:solidFill>
                <a:latin typeface="Cairo" pitchFamily="34" charset="0"/>
                <a:ea typeface="Cairo" pitchFamily="34" charset="-122"/>
                <a:cs typeface="Cairo" pitchFamily="34" charset="-120"/>
              </a:rPr>
              <a:t>نافذة أفراد: نافذتكم إلى المدينة</a:t>
            </a:r>
            <a:endParaRPr lang="ar-SA" sz="3600" dirty="0"/>
          </a:p>
        </p:txBody>
      </p:sp>
      <p:sp>
        <p:nvSpPr>
          <p:cNvPr id="6" name="anim3_233"/>
          <p:cNvSpPr txBox="1"/>
          <p:nvPr/>
        </p:nvSpPr>
        <p:spPr>
          <a:xfrm>
            <a:off x="4572000" y="3383280"/>
            <a:ext cx="6705295" cy="822960"/>
          </a:xfrm>
          <a:prstGeom prst="rect">
            <a:avLst/>
          </a:prstGeom>
          <a:noFill/>
          <a:ln/>
        </p:spPr>
        <p:txBody>
          <a:bodyPr wrap="square" lIns="0" tIns="0" rIns="0" bIns="0" rtlCol="0" anchor="t"/>
          <a:lstStyle/>
          <a:p>
            <a:pPr rtl="1" algn="r" indent="0" marL="0">
              <a:buNone/>
            </a:pPr>
            <a:r>
              <a:rPr lang="ar-SA" altLang="en-US" sz="2000" dirty="0">
                <a:solidFill>
                  <a:srgbClr val="1A2340"/>
                </a:solidFill>
                <a:latin typeface="Cairo" pitchFamily="34" charset="0"/>
                <a:ea typeface="Cairo" pitchFamily="34" charset="-122"/>
                <a:cs typeface="Cairo" pitchFamily="34" charset="-120"/>
              </a:rPr>
              <a:t>نعلن اليوم تدشين التطبيق للسكان والزوار.</a:t>
            </a:r>
            <a:endParaRPr lang="ar-SA" sz="2000" dirty="0"/>
          </a:p>
        </p:txBody>
      </p:sp>
      <p:sp>
        <p:nvSpPr>
          <p:cNvPr id="7" name="anim3_234"/>
          <p:cNvSpPr txBox="1"/>
          <p:nvPr/>
        </p:nvSpPr>
        <p:spPr>
          <a:xfrm>
            <a:off x="4572000" y="4343400"/>
            <a:ext cx="6705295" cy="548640"/>
          </a:xfrm>
          <a:prstGeom prst="rect">
            <a:avLst/>
          </a:prstGeom>
          <a:noFill/>
          <a:ln/>
        </p:spPr>
        <p:txBody>
          <a:bodyPr wrap="square" lIns="0" tIns="0" rIns="0" bIns="0" rtlCol="0" anchor="t"/>
          <a:lstStyle/>
          <a:p>
            <a:pPr rtl="1" algn="r" indent="0" marL="0">
              <a:buNone/>
            </a:pPr>
            <a:r>
              <a:rPr lang="ar-SA" altLang="en-US" sz="2200" b="1" dirty="0">
                <a:solidFill>
                  <a:srgbClr val="5B6784"/>
                </a:solidFill>
                <a:latin typeface="Cairo" pitchFamily="34" charset="0"/>
                <a:ea typeface="Cairo" pitchFamily="34" charset="-122"/>
                <a:cs typeface="Cairo" pitchFamily="34" charset="-120"/>
              </a:rPr>
              <a:t>شكرًا لكم</a:t>
            </a:r>
            <a:endParaRPr lang="ar-SA" sz="2200" dirty="0"/>
          </a:p>
        </p:txBody>
      </p:sp>
      <p:sp>
        <p:nvSpPr>
          <p:cNvPr id="8" name="anim2_235"/>
          <p:cNvSpPr/>
          <p:nvPr/>
        </p:nvSpPr>
        <p:spPr>
          <a:xfrm>
            <a:off x="1097280" y="1417320"/>
            <a:ext cx="2743200" cy="2743200"/>
          </a:xfrm>
          <a:prstGeom prst="roundRect">
            <a:avLst>
              <a:gd name="adj" fmla="val 6667"/>
            </a:avLst>
          </a:prstGeom>
          <a:solidFill>
            <a:srgbClr val="FFFFFF"/>
          </a:solidFill>
          <a:ln w="19050">
            <a:solidFill>
              <a:srgbClr val="052977"/>
            </a:solidFill>
            <a:prstDash val="solid"/>
          </a:ln>
        </p:spPr>
      </p:sp>
      <p:pic>
        <p:nvPicPr>
          <p:cNvPr id="9" name="anim2_236" descr="نافذة أفراد">    </p:cNvPr>
          <p:cNvPicPr>
            <a:picLocks noChangeAspect="1"/>
          </p:cNvPicPr>
          <p:nvPr/>
        </p:nvPicPr>
        <p:blipFill>
          <a:blip r:embed="rId4"/>
          <a:stretch>
            <a:fillRect/>
          </a:stretch>
        </p:blipFill>
        <p:spPr>
          <a:xfrm>
            <a:off x="1600200" y="1920240"/>
            <a:ext cx="1737360" cy="1737360"/>
          </a:xfrm>
          <a:prstGeom prst="rect">
            <a:avLst/>
          </a:prstGeom>
        </p:spPr>
      </p:pic>
      <p:sp>
        <p:nvSpPr>
          <p:cNvPr id="10" name="anim2_237"/>
          <p:cNvSpPr txBox="1"/>
          <p:nvPr/>
        </p:nvSpPr>
        <p:spPr>
          <a:xfrm>
            <a:off x="822960" y="4343400"/>
            <a:ext cx="3291840" cy="411480"/>
          </a:xfrm>
          <a:prstGeom prst="rect">
            <a:avLst/>
          </a:prstGeom>
          <a:noFill/>
          <a:ln/>
        </p:spPr>
        <p:txBody>
          <a:bodyPr wrap="square" lIns="0" tIns="0" rIns="0" bIns="0" rtlCol="0" anchor="t"/>
          <a:lstStyle/>
          <a:p>
            <a:pPr rtl="1" algn="ctr" indent="0" marL="0">
              <a:buNone/>
            </a:pPr>
            <a:r>
              <a:rPr lang="ar-SA" altLang="en-US" sz="1500" b="1" dirty="0">
                <a:solidFill>
                  <a:srgbClr val="052977"/>
                </a:solidFill>
                <a:latin typeface="Cairo" pitchFamily="34" charset="0"/>
                <a:ea typeface="Cairo" pitchFamily="34" charset="-122"/>
                <a:cs typeface="Cairo" pitchFamily="34" charset="-120"/>
              </a:rPr>
              <a:t>امسح الرمز لتحميل التطبيق</a:t>
            </a:r>
            <a:endParaRPr lang="ar-SA" sz="1500" dirty="0"/>
          </a:p>
        </p:txBody>
      </p:sp>
      <p:pic>
        <p:nvPicPr>
          <p:cNvPr id="11" name="anim4_238" descr="شعار رقيم للحلول الذكية">    </p:cNvPr>
          <p:cNvPicPr>
            <a:picLocks noChangeAspect="1"/>
          </p:cNvPicPr>
          <p:nvPr/>
        </p:nvPicPr>
        <p:blipFill>
          <a:blip r:embed="rId5"/>
          <a:stretch>
            <a:fillRect/>
          </a:stretch>
        </p:blipFill>
        <p:spPr>
          <a:xfrm>
            <a:off x="5627741" y="5257800"/>
            <a:ext cx="936213" cy="640080"/>
          </a:xfrm>
          <a:prstGeom prst="rect">
            <a:avLst/>
          </a:prstGeom>
        </p:spPr>
      </p:pic>
      <p:sp>
        <p:nvSpPr>
          <p:cNvPr id="12" name="anim4_239"/>
          <p:cNvSpPr txBox="1"/>
          <p:nvPr/>
        </p:nvSpPr>
        <p:spPr>
          <a:xfrm>
            <a:off x="2743200" y="5989320"/>
            <a:ext cx="6705295" cy="365760"/>
          </a:xfrm>
          <a:prstGeom prst="rect">
            <a:avLst/>
          </a:prstGeom>
          <a:noFill/>
          <a:ln/>
        </p:spPr>
        <p:txBody>
          <a:bodyPr wrap="square" lIns="0" tIns="0" rIns="0" bIns="0" rtlCol="0" anchor="ctr"/>
          <a:lstStyle/>
          <a:p>
            <a:pPr rtl="1" algn="ctr" indent="0" marL="0">
              <a:buNone/>
            </a:pPr>
            <a:r>
              <a:rPr lang="ar-SA" altLang="en-US" sz="1400" dirty="0">
                <a:solidFill>
                  <a:srgbClr val="5B6784"/>
                </a:solidFill>
                <a:latin typeface="Cairo" pitchFamily="34" charset="0"/>
                <a:ea typeface="Cairo" pitchFamily="34" charset="-122"/>
                <a:cs typeface="Cairo" pitchFamily="34" charset="-120"/>
              </a:rPr>
              <a:t>تطوير شركة رقيم للحلول الذكية</a:t>
            </a:r>
            <a:endParaRPr lang="ar-SA"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4"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9" fill="hold">
                            <p:stCondLst>
                              <p:cond delay="7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childTnLst>
                          </p:cTn>
                        </p:par>
                        <p:par>
                          <p:cTn id="26" fill="hold">
                            <p:stCondLst>
                              <p:cond delay="1400"/>
                            </p:stCondLst>
                            <p:childTnLst>
                              <p:par>
                                <p:cTn id="20"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50"/>
                                        <p:tgtEl>
                                          <p:spTgt spid="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450"/>
                                        <p:tgtEl>
                                          <p:spTgt spid="7"/>
                                        </p:tgtEl>
                                      </p:cBhvr>
                                    </p:animEffect>
                                  </p:childTnLst>
                                </p:cTn>
                              </p:par>
                            </p:childTnLst>
                          </p:cTn>
                        </p:par>
                        <p:par>
                          <p:cTn id="33" fill="hold">
                            <p:stCondLst>
                              <p:cond delay="2100"/>
                            </p:stCondLst>
                            <p:childTnLst>
                              <p:par>
                                <p:cTn id="27" presetID="10" presetClass="entr" presetSubtype="0" fill="hold" grpId="0" nodeType="after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10" grpId="0" animBg="1"/>
      <p:bldP spid="12"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ir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ir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شركة رقيم للحلول الذكية</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نافذة أفراد</dc:title>
  <dc:subject>PptxGenJS Presentation</dc:subject>
  <dc:creator>PptxGenJS</dc:creator>
  <cp:lastModifiedBy>PptxGenJS</cp:lastModifiedBy>
  <cp:revision>1</cp:revision>
  <dcterms:created xsi:type="dcterms:W3CDTF">2026-09-29T21:53:11Z</dcterms:created>
  <dcterms:modified xsi:type="dcterms:W3CDTF">2026-09-29T21:53:11Z</dcterms:modified>
</cp:coreProperties>
</file>