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نرحب بكم في حفل تدشين تطبيق نافذة أفراد. التطبيق نافذة رقمية واحدة يصل منها السكان والزوار إلى خدمات المدينة وأماكنها وفعالياتها. وهو ثمرة عمل مشترك بين الهيئة الملكية للجبيل وينبع، وشركة جبين، وشركة رقيم للحلول الذكية التي طوّرت التطبيق.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اسم نافذة يعبّر عن الفكرة ببساطة: نافذة واحدة يطل منها السكان والزوار على المدينة. من خلالها يصلون إلى الخدمات والأماكن والفعاليات دون تنقل بين قنوات متعددة.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استلهمنا الشعار من الطابع المعماري للمدن الأربع وفق دليل العمارة السعودية. أخذنا من كل مدينة عنصرًا يعبّر عنها: البتلات الأربع من الجبيل، والتكوينات المدببة من رأس الخير، والنمط الزهري من ينبع، والأشكال الماسية من جازان.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 نضع الزخارف الأربع جنبًا إلى جنب، بل بسّطنا عناصرها ودمجناها في نمط واحد جديد. في المركز مُعيّن مفتوح يمثل النافذة، وحوله أربعة اتجاهات تجتمع فيها المدن الأربع. التناسق الهندسي يعبّر عن التكامل وسهولة الوصول.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اخترنا الألوان من شعار الهيئة الملكية للجبيل وينبع لتبقى الهوية امتدادًا لهوية الهيئة. الأزرق الداكن لنافذة أفراد ويعبّر عن الثقة، والأخضر مخصص لنافذة 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نافذة أفراد تطبيق واحد يجمع ما تحتاجه عن المدينة: خدماتها وأماكنها وفعالياتها. صُمّم للسكان والزوار معًا، ليكتشفوا المدينة ويصلوا إلى خدماتها بسهولة.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اليوم تتوزع معلومات المدينة على قنوات متعددة، ويحتاج المستخدم وقتًا ليعرف أين يجد ما يريد. نافذة تجمع ذلك في مكان واحد. قبل أن ننتقل: كم تطبيقًا أو موقعًا تحتاجون اليوم لتعرفوا فعاليات مدينتكم وتصلوا إلى خدماتها؟ (امنح الحضور لحظة للإجابة).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القسم الأول من الخدمات يساعدك على اكتشاف المدينة. تجد فيه أماكن المدينة وفعالياتها وتجاربها في مكان واحد، سواء كنت من السكان أو من الزوار.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القسم الثاني يوصلك إلى خدمات المدينة وفرصها مباشرة من التطبيق. والتطبيق واحد للمدن الأربع: الجبيل ورأس الخير وينبع وجازان.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مثال مبسط لرحلة المستخدم. يفتح التطبيق، ويختار الخدمة التي يحتاجها، ويكمل الطلب، وينجز الخدمة دون أن يغادر التطبيق.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نطلق اليوم المرحلة الأولى: نافذة أفراد للسكان والزوار. المرحلة التالية هي نافذة أعمال، وهي موجهة لأصحاب الأعمال.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المرحلة التالية هي نافذة أعمال. ستجمع لأصحاب الأعمال خدمات المدينة وفرصها وفعالياتها في مكان واحد، بالفكرة نفسها التي بُنيت عليها نافذة أفراد.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لأصحاب الأعمال، الفائدة الأولى هي نافذة واحدة بدل التنقل بين قنوات متعددة. وهذا يعني وقتًا أقل، ورؤية أوضح للفرص، وتجربة متصلة مع نافذة أفراد.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بهذا نعلن تدشين تطبيق نافذة أفراد. يمكنكم تحميله الآن بمسح الرمز على الشاشة. نشكر الهيئة الملكية للجبيل وينبع وشركة جبين على دعمهما، والتطبيق من تطوير شركة رقيم للحلول الذكية.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2.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8778240" y="-2011680"/>
            <a:ext cx="5120640" cy="5167191"/>
          </a:xfrm>
          <a:prstGeom prst="rect">
            <a:avLst/>
          </a:prstGeom>
        </p:spPr>
      </p:pic>
      <p:pic>
        <p:nvPicPr>
          <p:cNvPr id="3" name="Image 1" descr="زخرفة شعار نافذة">    </p:cNvPr>
          <p:cNvPicPr>
            <a:picLocks noChangeAspect="1"/>
          </p:cNvPicPr>
          <p:nvPr/>
        </p:nvPicPr>
        <p:blipFill>
          <a:blip r:embed="rId2">
            <a:alphaModFix amt="6000"/>
          </a:blip>
          <a:stretch>
            <a:fillRect/>
          </a:stretch>
        </p:blipFill>
        <p:spPr>
          <a:xfrm>
            <a:off x="-2194560" y="3840480"/>
            <a:ext cx="5120640" cy="5167191"/>
          </a:xfrm>
          <a:prstGeom prst="rect">
            <a:avLst/>
          </a:prstGeom>
        </p:spPr>
      </p:pic>
      <p:pic>
        <p:nvPicPr>
          <p:cNvPr id="4" name="anim1_0" descr="نافذة أفراد">    </p:cNvPr>
          <p:cNvPicPr>
            <a:picLocks noChangeAspect="1"/>
          </p:cNvPicPr>
          <p:nvPr/>
        </p:nvPicPr>
        <p:blipFill>
          <a:blip r:embed="rId3"/>
          <a:stretch>
            <a:fillRect/>
          </a:stretch>
        </p:blipFill>
        <p:spPr>
          <a:xfrm>
            <a:off x="5090008" y="640080"/>
            <a:ext cx="2011680" cy="2029968"/>
          </a:xfrm>
          <a:prstGeom prst="rect">
            <a:avLst/>
          </a:prstGeom>
        </p:spPr>
      </p:pic>
      <p:sp>
        <p:nvSpPr>
          <p:cNvPr id="5" name="anim2_1"/>
          <p:cNvSpPr txBox="1"/>
          <p:nvPr/>
        </p:nvSpPr>
        <p:spPr>
          <a:xfrm>
            <a:off x="1828800" y="2788920"/>
            <a:ext cx="8534095" cy="1005840"/>
          </a:xfrm>
          <a:prstGeom prst="rect">
            <a:avLst/>
          </a:prstGeom>
          <a:noFill/>
          <a:ln/>
        </p:spPr>
        <p:txBody>
          <a:bodyPr wrap="square" lIns="0" tIns="0" rIns="0" bIns="0" rtlCol="0" anchor="ctr"/>
          <a:lstStyle/>
          <a:p>
            <a:pPr rtl="1" algn="ctr" indent="0" marL="0">
              <a:buNone/>
            </a:pPr>
            <a:r>
              <a:rPr lang="ar-SA" altLang="en-US" sz="5400" b="1" dirty="0">
                <a:solidFill>
                  <a:srgbClr val="052977"/>
                </a:solidFill>
                <a:latin typeface="Cairo" pitchFamily="34" charset="0"/>
                <a:ea typeface="Cairo" pitchFamily="34" charset="-122"/>
                <a:cs typeface="Cairo" pitchFamily="34" charset="-120"/>
              </a:rPr>
              <a:t>نافذة أفراد</a:t>
            </a:r>
            <a:endParaRPr lang="ar-SA" sz="5400" dirty="0"/>
          </a:p>
        </p:txBody>
      </p:sp>
      <p:sp>
        <p:nvSpPr>
          <p:cNvPr id="6" name="anim3_2"/>
          <p:cNvSpPr txBox="1"/>
          <p:nvPr/>
        </p:nvSpPr>
        <p:spPr>
          <a:xfrm>
            <a:off x="1828800" y="3794760"/>
            <a:ext cx="8534095" cy="548640"/>
          </a:xfrm>
          <a:prstGeom prst="rect">
            <a:avLst/>
          </a:prstGeom>
          <a:noFill/>
          <a:ln/>
        </p:spPr>
        <p:txBody>
          <a:bodyPr wrap="square" lIns="0" tIns="0" rIns="0" bIns="0" rtlCol="0" anchor="ctr"/>
          <a:lstStyle/>
          <a:p>
            <a:pPr rtl="1" algn="ctr" indent="0" marL="0">
              <a:buNone/>
            </a:pPr>
            <a:r>
              <a:rPr lang="ar-SA" altLang="en-US" sz="2000" dirty="0">
                <a:solidFill>
                  <a:srgbClr val="5B6784"/>
                </a:solidFill>
                <a:latin typeface="Cairo" pitchFamily="34" charset="0"/>
                <a:ea typeface="Cairo" pitchFamily="34" charset="-122"/>
                <a:cs typeface="Cairo" pitchFamily="34" charset="-120"/>
              </a:rPr>
              <a:t>نافذة رقمية واحدة إلى خدمات المدينة وأماكنها وفعالياتها</a:t>
            </a:r>
            <a:endParaRPr lang="ar-SA" sz="2000" dirty="0"/>
          </a:p>
        </p:txBody>
      </p:sp>
      <p:sp>
        <p:nvSpPr>
          <p:cNvPr id="7" name="anim4_3"/>
          <p:cNvSpPr/>
          <p:nvPr/>
        </p:nvSpPr>
        <p:spPr>
          <a:xfrm>
            <a:off x="7787488" y="5257800"/>
            <a:ext cx="2743200" cy="777240"/>
          </a:xfrm>
          <a:prstGeom prst="roundRect">
            <a:avLst>
              <a:gd name="adj" fmla="val 14118"/>
            </a:avLst>
          </a:prstGeom>
          <a:solidFill>
            <a:srgbClr val="FFFFFF"/>
          </a:solidFill>
          <a:ln w="12700">
            <a:solidFill>
              <a:srgbClr val="D6DEEE"/>
            </a:solidFill>
            <a:prstDash val="solid"/>
          </a:ln>
        </p:spPr>
      </p:sp>
      <p:sp>
        <p:nvSpPr>
          <p:cNvPr id="8" name="anim4_4"/>
          <p:cNvSpPr txBox="1"/>
          <p:nvPr/>
        </p:nvSpPr>
        <p:spPr>
          <a:xfrm>
            <a:off x="7878928" y="5257800"/>
            <a:ext cx="2560320" cy="777240"/>
          </a:xfrm>
          <a:prstGeom prst="rect">
            <a:avLst/>
          </a:prstGeom>
          <a:noFill/>
          <a:ln/>
        </p:spPr>
        <p:txBody>
          <a:bodyPr wrap="square" lIns="0" tIns="0" rIns="0" bIns="0" rtlCol="0" anchor="ctr"/>
          <a:lstStyle/>
          <a:p>
            <a:pPr rtl="1" algn="ctr" indent="0" marL="0">
              <a:buNone/>
            </a:pPr>
            <a:r>
              <a:rPr lang="ar-SA" altLang="en-US" sz="1400" b="1" dirty="0">
                <a:solidFill>
                  <a:srgbClr val="052977"/>
                </a:solidFill>
                <a:latin typeface="Cairo" pitchFamily="34" charset="0"/>
                <a:ea typeface="Cairo" pitchFamily="34" charset="-122"/>
                <a:cs typeface="Cairo" pitchFamily="34" charset="-120"/>
              </a:rPr>
              <a:t>الهيئة الملكية للجبيل وينبع</a:t>
            </a:r>
            <a:endParaRPr lang="ar-SA" sz="1400" dirty="0"/>
          </a:p>
        </p:txBody>
      </p:sp>
      <p:sp>
        <p:nvSpPr>
          <p:cNvPr id="9" name="anim4_5"/>
          <p:cNvSpPr/>
          <p:nvPr/>
        </p:nvSpPr>
        <p:spPr>
          <a:xfrm>
            <a:off x="4724248" y="5257800"/>
            <a:ext cx="2743200" cy="777240"/>
          </a:xfrm>
          <a:prstGeom prst="roundRect">
            <a:avLst>
              <a:gd name="adj" fmla="val 14118"/>
            </a:avLst>
          </a:prstGeom>
          <a:solidFill>
            <a:srgbClr val="FFFFFF"/>
          </a:solidFill>
          <a:ln w="12700">
            <a:solidFill>
              <a:srgbClr val="D6DEEE"/>
            </a:solidFill>
            <a:prstDash val="solid"/>
          </a:ln>
        </p:spPr>
      </p:sp>
      <p:sp>
        <p:nvSpPr>
          <p:cNvPr id="10" name="anim4_6"/>
          <p:cNvSpPr txBox="1"/>
          <p:nvPr/>
        </p:nvSpPr>
        <p:spPr>
          <a:xfrm>
            <a:off x="4815688" y="5257800"/>
            <a:ext cx="2560320" cy="777240"/>
          </a:xfrm>
          <a:prstGeom prst="rect">
            <a:avLst/>
          </a:prstGeom>
          <a:noFill/>
          <a:ln/>
        </p:spPr>
        <p:txBody>
          <a:bodyPr wrap="square" lIns="0" tIns="0" rIns="0" bIns="0" rtlCol="0" anchor="ctr"/>
          <a:lstStyle/>
          <a:p>
            <a:pPr rtl="1" algn="ctr" indent="0" marL="0">
              <a:buNone/>
            </a:pPr>
            <a:r>
              <a:rPr lang="ar-SA" altLang="en-US" sz="1400" b="1" dirty="0">
                <a:solidFill>
                  <a:srgbClr val="052977"/>
                </a:solidFill>
                <a:latin typeface="Cairo" pitchFamily="34" charset="0"/>
                <a:ea typeface="Cairo" pitchFamily="34" charset="-122"/>
                <a:cs typeface="Cairo" pitchFamily="34" charset="-120"/>
              </a:rPr>
              <a:t>جبين</a:t>
            </a:r>
            <a:endParaRPr lang="ar-SA" sz="1400" dirty="0"/>
          </a:p>
        </p:txBody>
      </p:sp>
      <p:sp>
        <p:nvSpPr>
          <p:cNvPr id="11" name="anim4_7"/>
          <p:cNvSpPr/>
          <p:nvPr/>
        </p:nvSpPr>
        <p:spPr>
          <a:xfrm>
            <a:off x="1661008" y="5257800"/>
            <a:ext cx="2743200" cy="777240"/>
          </a:xfrm>
          <a:prstGeom prst="roundRect">
            <a:avLst>
              <a:gd name="adj" fmla="val 14118"/>
            </a:avLst>
          </a:prstGeom>
          <a:solidFill>
            <a:srgbClr val="FFFFFF"/>
          </a:solidFill>
          <a:ln w="12700">
            <a:solidFill>
              <a:srgbClr val="D6DEEE"/>
            </a:solidFill>
            <a:prstDash val="solid"/>
          </a:ln>
        </p:spPr>
      </p:sp>
      <p:sp>
        <p:nvSpPr>
          <p:cNvPr id="12" name="anim4_8"/>
          <p:cNvSpPr txBox="1"/>
          <p:nvPr/>
        </p:nvSpPr>
        <p:spPr>
          <a:xfrm>
            <a:off x="1752448" y="5257800"/>
            <a:ext cx="2560320" cy="777240"/>
          </a:xfrm>
          <a:prstGeom prst="rect">
            <a:avLst/>
          </a:prstGeom>
          <a:noFill/>
          <a:ln/>
        </p:spPr>
        <p:txBody>
          <a:bodyPr wrap="square" lIns="0" tIns="0" rIns="0" bIns="0" rtlCol="0" anchor="ctr"/>
          <a:lstStyle/>
          <a:p>
            <a:pPr rtl="1" algn="ctr" indent="0" marL="0">
              <a:buNone/>
            </a:pPr>
            <a:r>
              <a:rPr lang="ar-SA" altLang="en-US" sz="1400" b="1" dirty="0">
                <a:solidFill>
                  <a:srgbClr val="052977"/>
                </a:solidFill>
                <a:latin typeface="Cairo" pitchFamily="34" charset="0"/>
                <a:ea typeface="Cairo" pitchFamily="34" charset="-122"/>
                <a:cs typeface="Cairo" pitchFamily="34" charset="-120"/>
              </a:rPr>
              <a:t>رقيم للحلول الذكية</a:t>
            </a:r>
            <a:endParaRPr lang="ar-SA"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4"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0" fill="hold">
                            <p:stCondLst>
                              <p:cond delay="7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childTnLst>
                          </p:cTn>
                        </p:par>
                        <p:par>
                          <p:cTn id="14" fill="hold">
                            <p:stCondLst>
                              <p:cond delay="14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par>
                          <p:cTn id="33" fill="hold">
                            <p:stCondLst>
                              <p:cond delay="21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الهوية</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فكرة الشعار</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2</a:t>
            </a:r>
            <a:endParaRPr lang="ar-SA" sz="1100" dirty="0"/>
          </a:p>
        </p:txBody>
      </p:sp>
      <p:sp>
        <p:nvSpPr>
          <p:cNvPr id="8" name="anim1_9"/>
          <p:cNvSpPr/>
          <p:nvPr/>
        </p:nvSpPr>
        <p:spPr>
          <a:xfrm>
            <a:off x="822960" y="1691640"/>
            <a:ext cx="4023360" cy="4023360"/>
          </a:xfrm>
          <a:prstGeom prst="ellipse">
            <a:avLst/>
          </a:prstGeom>
          <a:solidFill>
            <a:srgbClr val="EEF2FA"/>
          </a:solidFill>
          <a:ln/>
        </p:spPr>
      </p:sp>
      <p:pic>
        <p:nvPicPr>
          <p:cNvPr id="9" name="anim1_10" descr="نافذة أفراد">    </p:cNvPr>
          <p:cNvPicPr>
            <a:picLocks noChangeAspect="1"/>
          </p:cNvPicPr>
          <p:nvPr/>
        </p:nvPicPr>
        <p:blipFill>
          <a:blip r:embed="rId3"/>
          <a:stretch>
            <a:fillRect/>
          </a:stretch>
        </p:blipFill>
        <p:spPr>
          <a:xfrm>
            <a:off x="1508760" y="2350008"/>
            <a:ext cx="2651760" cy="2675867"/>
          </a:xfrm>
          <a:prstGeom prst="rect">
            <a:avLst/>
          </a:prstGeom>
        </p:spPr>
      </p:pic>
      <p:sp>
        <p:nvSpPr>
          <p:cNvPr id="10" name="anim2_11"/>
          <p:cNvSpPr txBox="1"/>
          <p:nvPr/>
        </p:nvSpPr>
        <p:spPr>
          <a:xfrm>
            <a:off x="5669280" y="1783080"/>
            <a:ext cx="5973775" cy="868680"/>
          </a:xfrm>
          <a:prstGeom prst="rect">
            <a:avLst/>
          </a:prstGeom>
          <a:noFill/>
          <a:ln/>
        </p:spPr>
        <p:txBody>
          <a:bodyPr wrap="square" lIns="0" tIns="0" rIns="0" bIns="0" rtlCol="0" anchor="t"/>
          <a:lstStyle/>
          <a:p>
            <a:pPr rtl="1" algn="r" indent="0" marL="0">
              <a:buNone/>
            </a:pPr>
            <a:r>
              <a:rPr lang="ar-SA" altLang="en-US" sz="2200" b="1" dirty="0">
                <a:solidFill>
                  <a:srgbClr val="052977"/>
                </a:solidFill>
                <a:latin typeface="Cairo" pitchFamily="34" charset="0"/>
                <a:ea typeface="Cairo" pitchFamily="34" charset="-122"/>
                <a:cs typeface="Cairo" pitchFamily="34" charset="-120"/>
              </a:rPr>
              <a:t>نافذة واحدة يكتشف منها السكان والزوار المدينة</a:t>
            </a:r>
            <a:endParaRPr lang="ar-SA" sz="2200" dirty="0"/>
          </a:p>
        </p:txBody>
      </p:sp>
      <p:sp>
        <p:nvSpPr>
          <p:cNvPr id="11" name="anim3_12"/>
          <p:cNvSpPr/>
          <p:nvPr/>
        </p:nvSpPr>
        <p:spPr>
          <a:xfrm>
            <a:off x="10911535" y="2880360"/>
            <a:ext cx="731520" cy="731520"/>
          </a:xfrm>
          <a:prstGeom prst="ellipse">
            <a:avLst/>
          </a:prstGeom>
          <a:solidFill>
            <a:srgbClr val="EEF2FA"/>
          </a:solidFill>
          <a:ln/>
        </p:spPr>
      </p:sp>
      <p:pic>
        <p:nvPicPr>
          <p:cNvPr id="12" name="anim3_13" descr="نافذة أفراد">    </p:cNvPr>
          <p:cNvPicPr>
            <a:picLocks noChangeAspect="1"/>
          </p:cNvPicPr>
          <p:nvPr/>
        </p:nvPicPr>
        <p:blipFill>
          <a:blip r:embed="rId4"/>
          <a:stretch>
            <a:fillRect/>
          </a:stretch>
        </p:blipFill>
        <p:spPr>
          <a:xfrm>
            <a:off x="11101730" y="3070555"/>
            <a:ext cx="351130" cy="351130"/>
          </a:xfrm>
          <a:prstGeom prst="rect">
            <a:avLst/>
          </a:prstGeom>
        </p:spPr>
      </p:pic>
      <p:sp>
        <p:nvSpPr>
          <p:cNvPr id="13" name="anim3_14"/>
          <p:cNvSpPr txBox="1"/>
          <p:nvPr/>
        </p:nvSpPr>
        <p:spPr>
          <a:xfrm>
            <a:off x="5669280" y="2862072"/>
            <a:ext cx="5013655" cy="384048"/>
          </a:xfrm>
          <a:prstGeom prst="rect">
            <a:avLst/>
          </a:prstGeom>
          <a:noFill/>
          <a:ln/>
        </p:spPr>
        <p:txBody>
          <a:bodyPr wrap="square" lIns="0" tIns="0" rIns="0" bIns="0" rtlCol="0" anchor="t"/>
          <a:lstStyle/>
          <a:p>
            <a:pPr rtl="1" algn="r" indent="0" marL="0">
              <a:buNone/>
            </a:pPr>
            <a:r>
              <a:rPr lang="ar-SA" altLang="en-US" sz="1800" b="1" dirty="0">
                <a:solidFill>
                  <a:srgbClr val="1A2340"/>
                </a:solidFill>
                <a:latin typeface="Cairo" pitchFamily="34" charset="0"/>
                <a:ea typeface="Cairo" pitchFamily="34" charset="-122"/>
                <a:cs typeface="Cairo" pitchFamily="34" charset="-120"/>
              </a:rPr>
              <a:t>نافذة إلى المدينة</a:t>
            </a:r>
            <a:endParaRPr lang="ar-SA" sz="1800" dirty="0"/>
          </a:p>
        </p:txBody>
      </p:sp>
      <p:sp>
        <p:nvSpPr>
          <p:cNvPr id="14" name="anim3_15"/>
          <p:cNvSpPr txBox="1"/>
          <p:nvPr/>
        </p:nvSpPr>
        <p:spPr>
          <a:xfrm>
            <a:off x="5669280" y="3246120"/>
            <a:ext cx="5013655" cy="347472"/>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المركز المفتوح بوابة إلى أماكن المدينة وفرصها</a:t>
            </a:r>
            <a:endParaRPr lang="ar-SA" sz="1400" dirty="0"/>
          </a:p>
        </p:txBody>
      </p:sp>
      <p:sp>
        <p:nvSpPr>
          <p:cNvPr id="15" name="anim4_16"/>
          <p:cNvSpPr/>
          <p:nvPr/>
        </p:nvSpPr>
        <p:spPr>
          <a:xfrm>
            <a:off x="10911535" y="3904488"/>
            <a:ext cx="731520" cy="731520"/>
          </a:xfrm>
          <a:prstGeom prst="ellipse">
            <a:avLst/>
          </a:prstGeom>
          <a:solidFill>
            <a:srgbClr val="EEF2FA"/>
          </a:solidFill>
          <a:ln/>
        </p:spPr>
      </p:sp>
      <p:pic>
        <p:nvPicPr>
          <p:cNvPr id="16" name="anim4_17" descr="نافذة أفراد">    </p:cNvPr>
          <p:cNvPicPr>
            <a:picLocks noChangeAspect="1"/>
          </p:cNvPicPr>
          <p:nvPr/>
        </p:nvPicPr>
        <p:blipFill>
          <a:blip r:embed="rId5"/>
          <a:stretch>
            <a:fillRect/>
          </a:stretch>
        </p:blipFill>
        <p:spPr>
          <a:xfrm>
            <a:off x="11101730" y="4094683"/>
            <a:ext cx="351130" cy="351130"/>
          </a:xfrm>
          <a:prstGeom prst="rect">
            <a:avLst/>
          </a:prstGeom>
        </p:spPr>
      </p:pic>
      <p:sp>
        <p:nvSpPr>
          <p:cNvPr id="17" name="anim4_18"/>
          <p:cNvSpPr txBox="1"/>
          <p:nvPr/>
        </p:nvSpPr>
        <p:spPr>
          <a:xfrm>
            <a:off x="5669280" y="3886200"/>
            <a:ext cx="5013655" cy="384048"/>
          </a:xfrm>
          <a:prstGeom prst="rect">
            <a:avLst/>
          </a:prstGeom>
          <a:noFill/>
          <a:ln/>
        </p:spPr>
        <p:txBody>
          <a:bodyPr wrap="square" lIns="0" tIns="0" rIns="0" bIns="0" rtlCol="0" anchor="t"/>
          <a:lstStyle/>
          <a:p>
            <a:pPr rtl="1" algn="r" indent="0" marL="0">
              <a:buNone/>
            </a:pPr>
            <a:r>
              <a:rPr lang="ar-SA" altLang="en-US" sz="1800" b="1" dirty="0">
                <a:solidFill>
                  <a:srgbClr val="1A2340"/>
                </a:solidFill>
                <a:latin typeface="Cairo" pitchFamily="34" charset="0"/>
                <a:ea typeface="Cairo" pitchFamily="34" charset="-122"/>
                <a:cs typeface="Cairo" pitchFamily="34" charset="-120"/>
              </a:rPr>
              <a:t>هوية تجمع المدن</a:t>
            </a:r>
            <a:endParaRPr lang="ar-SA" sz="1800" dirty="0"/>
          </a:p>
        </p:txBody>
      </p:sp>
      <p:sp>
        <p:nvSpPr>
          <p:cNvPr id="18" name="anim4_19"/>
          <p:cNvSpPr txBox="1"/>
          <p:nvPr/>
        </p:nvSpPr>
        <p:spPr>
          <a:xfrm>
            <a:off x="5669280" y="4270248"/>
            <a:ext cx="5013655" cy="347472"/>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عناصر من الجبيل ورأس الخير وينبع وجازان</a:t>
            </a:r>
            <a:endParaRPr lang="ar-SA" sz="1400" dirty="0"/>
          </a:p>
        </p:txBody>
      </p:sp>
      <p:sp>
        <p:nvSpPr>
          <p:cNvPr id="19" name="anim5_20"/>
          <p:cNvSpPr/>
          <p:nvPr/>
        </p:nvSpPr>
        <p:spPr>
          <a:xfrm>
            <a:off x="10911535" y="4928616"/>
            <a:ext cx="731520" cy="731520"/>
          </a:xfrm>
          <a:prstGeom prst="ellipse">
            <a:avLst/>
          </a:prstGeom>
          <a:solidFill>
            <a:srgbClr val="EEF2FA"/>
          </a:solidFill>
          <a:ln/>
        </p:spPr>
      </p:sp>
      <p:pic>
        <p:nvPicPr>
          <p:cNvPr id="20" name="anim5_21" descr="نافذة أفراد">    </p:cNvPr>
          <p:cNvPicPr>
            <a:picLocks noChangeAspect="1"/>
          </p:cNvPicPr>
          <p:nvPr/>
        </p:nvPicPr>
        <p:blipFill>
          <a:blip r:embed="rId6"/>
          <a:stretch>
            <a:fillRect/>
          </a:stretch>
        </p:blipFill>
        <p:spPr>
          <a:xfrm>
            <a:off x="11101730" y="5118811"/>
            <a:ext cx="351130" cy="351130"/>
          </a:xfrm>
          <a:prstGeom prst="rect">
            <a:avLst/>
          </a:prstGeom>
        </p:spPr>
      </p:pic>
      <p:sp>
        <p:nvSpPr>
          <p:cNvPr id="21" name="anim5_22"/>
          <p:cNvSpPr txBox="1"/>
          <p:nvPr/>
        </p:nvSpPr>
        <p:spPr>
          <a:xfrm>
            <a:off x="5669280" y="4910328"/>
            <a:ext cx="5013655" cy="384048"/>
          </a:xfrm>
          <a:prstGeom prst="rect">
            <a:avLst/>
          </a:prstGeom>
          <a:noFill/>
          <a:ln/>
        </p:spPr>
        <p:txBody>
          <a:bodyPr wrap="square" lIns="0" tIns="0" rIns="0" bIns="0" rtlCol="0" anchor="t"/>
          <a:lstStyle/>
          <a:p>
            <a:pPr rtl="1" algn="r" indent="0" marL="0">
              <a:buNone/>
            </a:pPr>
            <a:r>
              <a:rPr lang="ar-SA" altLang="en-US" sz="1800" b="1" dirty="0">
                <a:solidFill>
                  <a:srgbClr val="1A2340"/>
                </a:solidFill>
                <a:latin typeface="Cairo" pitchFamily="34" charset="0"/>
                <a:ea typeface="Cairo" pitchFamily="34" charset="-122"/>
                <a:cs typeface="Cairo" pitchFamily="34" charset="-120"/>
              </a:rPr>
              <a:t>خدمات وفعاليات في مكان واحد</a:t>
            </a:r>
            <a:endParaRPr lang="ar-SA" sz="1800" dirty="0"/>
          </a:p>
        </p:txBody>
      </p:sp>
      <p:sp>
        <p:nvSpPr>
          <p:cNvPr id="22" name="anim5_23"/>
          <p:cNvSpPr txBox="1"/>
          <p:nvPr/>
        </p:nvSpPr>
        <p:spPr>
          <a:xfrm>
            <a:off x="5669280" y="5294376"/>
            <a:ext cx="5013655" cy="347472"/>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وصول مباشر إلى المدينة من تطبيق واحد</a:t>
            </a:r>
            <a:endParaRPr lang="ar-SA"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3"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par>
                          <p:cTn id="13" fill="hold">
                            <p:stCondLst>
                              <p:cond delay="700"/>
                            </p:stCondLst>
                            <p:childTnLst>
                              <p:par>
                                <p:cTn id="10" presetID="10"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childTnLst>
                          </p:cTn>
                        </p:par>
                        <p:par>
                          <p:cTn id="26" fill="hold">
                            <p:stCondLst>
                              <p:cond delay="14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childTnLst>
                          </p:cTn>
                        </p:par>
                        <p:par>
                          <p:cTn id="39" fill="hold">
                            <p:stCondLst>
                              <p:cond delay="2100"/>
                            </p:stCondLst>
                            <p:childTnLst>
                              <p:par>
                                <p:cTn id="27" presetID="10"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5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childTnLst>
                          </p:cTn>
                        </p:par>
                        <p:par>
                          <p:cTn id="52" fill="hold">
                            <p:stCondLst>
                              <p:cond delay="2800"/>
                            </p:stCondLst>
                            <p:childTnLst>
                              <p:par>
                                <p:cTn id="40" presetID="10" presetClass="entr" presetSubtype="0" fill="hold" grpId="0" nodeType="after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45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5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الهوية</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المدن الأربع: من كل مدينة عنصر</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3</a:t>
            </a:r>
            <a:endParaRPr lang="ar-SA" sz="1100" dirty="0"/>
          </a:p>
        </p:txBody>
      </p:sp>
      <p:sp>
        <p:nvSpPr>
          <p:cNvPr id="8" name="anim1_24"/>
          <p:cNvSpPr/>
          <p:nvPr/>
        </p:nvSpPr>
        <p:spPr>
          <a:xfrm>
            <a:off x="9082735" y="1783080"/>
            <a:ext cx="2560320" cy="3840480"/>
          </a:xfrm>
          <a:prstGeom prst="roundRect">
            <a:avLst>
              <a:gd name="adj" fmla="val 6429"/>
            </a:avLst>
          </a:prstGeom>
          <a:solidFill>
            <a:srgbClr val="EEF2FA"/>
          </a:solidFill>
          <a:ln/>
        </p:spPr>
      </p:sp>
      <p:sp>
        <p:nvSpPr>
          <p:cNvPr id="9" name="anim1_25"/>
          <p:cNvSpPr/>
          <p:nvPr/>
        </p:nvSpPr>
        <p:spPr>
          <a:xfrm>
            <a:off x="9585655" y="2103120"/>
            <a:ext cx="1554480" cy="1554480"/>
          </a:xfrm>
          <a:prstGeom prst="ellipse">
            <a:avLst/>
          </a:prstGeom>
          <a:solidFill>
            <a:srgbClr val="FFFFFF"/>
          </a:solidFill>
          <a:ln/>
        </p:spPr>
      </p:sp>
      <p:pic>
        <p:nvPicPr>
          <p:cNvPr id="10" name="anim1_26" descr="نافذة أفراد">    </p:cNvPr>
          <p:cNvPicPr>
            <a:picLocks noChangeAspect="1"/>
          </p:cNvPicPr>
          <p:nvPr/>
        </p:nvPicPr>
        <p:blipFill>
          <a:blip r:embed="rId3"/>
          <a:stretch>
            <a:fillRect/>
          </a:stretch>
        </p:blipFill>
        <p:spPr>
          <a:xfrm>
            <a:off x="9882835" y="2403522"/>
            <a:ext cx="960120" cy="953676"/>
          </a:xfrm>
          <a:prstGeom prst="rect">
            <a:avLst/>
          </a:prstGeom>
        </p:spPr>
      </p:pic>
      <p:sp>
        <p:nvSpPr>
          <p:cNvPr id="11" name="anim1_27"/>
          <p:cNvSpPr txBox="1"/>
          <p:nvPr/>
        </p:nvSpPr>
        <p:spPr>
          <a:xfrm>
            <a:off x="9265615" y="3794760"/>
            <a:ext cx="2194560" cy="502920"/>
          </a:xfrm>
          <a:prstGeom prst="rect">
            <a:avLst/>
          </a:prstGeom>
          <a:noFill/>
          <a:ln/>
        </p:spPr>
        <p:txBody>
          <a:bodyPr wrap="square" lIns="0" tIns="0" rIns="0" bIns="0" rtlCol="0" anchor="t"/>
          <a:lstStyle/>
          <a:p>
            <a:pPr rtl="1" algn="ctr" indent="0" marL="0">
              <a:buNone/>
            </a:pPr>
            <a:r>
              <a:rPr lang="ar-SA" altLang="en-US" sz="2200" b="1" dirty="0">
                <a:solidFill>
                  <a:srgbClr val="052977"/>
                </a:solidFill>
                <a:latin typeface="Cairo" pitchFamily="34" charset="0"/>
                <a:ea typeface="Cairo" pitchFamily="34" charset="-122"/>
                <a:cs typeface="Cairo" pitchFamily="34" charset="-120"/>
              </a:rPr>
              <a:t>الجبيل</a:t>
            </a:r>
            <a:endParaRPr lang="ar-SA" sz="2200" dirty="0"/>
          </a:p>
        </p:txBody>
      </p:sp>
      <p:sp>
        <p:nvSpPr>
          <p:cNvPr id="12" name="anim1_28"/>
          <p:cNvSpPr txBox="1"/>
          <p:nvPr/>
        </p:nvSpPr>
        <p:spPr>
          <a:xfrm>
            <a:off x="9265615" y="4297680"/>
            <a:ext cx="2194560" cy="320040"/>
          </a:xfrm>
          <a:prstGeom prst="rect">
            <a:avLst/>
          </a:prstGeom>
          <a:noFill/>
          <a:ln/>
        </p:spPr>
        <p:txBody>
          <a:bodyPr wrap="square" lIns="0" tIns="0" rIns="0" bIns="0" rtlCol="0" anchor="t"/>
          <a:lstStyle/>
          <a:p>
            <a:pPr rtl="1" algn="ctr" indent="0" marL="0">
              <a:buNone/>
            </a:pPr>
            <a:r>
              <a:rPr lang="ar-SA" altLang="en-US" sz="1200" dirty="0">
                <a:solidFill>
                  <a:srgbClr val="5B6784"/>
                </a:solidFill>
                <a:latin typeface="Cairo" pitchFamily="34" charset="0"/>
                <a:ea typeface="Cairo" pitchFamily="34" charset="-122"/>
                <a:cs typeface="Cairo" pitchFamily="34" charset="-120"/>
              </a:rPr>
              <a:t>الساحل الشرقي</a:t>
            </a:r>
            <a:endParaRPr lang="ar-SA" sz="1200" dirty="0"/>
          </a:p>
        </p:txBody>
      </p:sp>
      <p:sp>
        <p:nvSpPr>
          <p:cNvPr id="13" name="anim1_29"/>
          <p:cNvSpPr txBox="1"/>
          <p:nvPr/>
        </p:nvSpPr>
        <p:spPr>
          <a:xfrm>
            <a:off x="9311335" y="4663440"/>
            <a:ext cx="2103120" cy="777240"/>
          </a:xfrm>
          <a:prstGeom prst="rect">
            <a:avLst/>
          </a:prstGeom>
          <a:noFill/>
          <a:ln/>
        </p:spPr>
        <p:txBody>
          <a:bodyPr wrap="square" lIns="0" tIns="0" rIns="0" bIns="0" rtlCol="0" anchor="t"/>
          <a:lstStyle/>
          <a:p>
            <a:pPr rtl="1" algn="ctr" indent="0" marL="0">
              <a:buNone/>
            </a:pPr>
            <a:r>
              <a:rPr lang="ar-SA" altLang="en-US" sz="1400" dirty="0">
                <a:solidFill>
                  <a:srgbClr val="1A2340"/>
                </a:solidFill>
                <a:latin typeface="Cairo" pitchFamily="34" charset="0"/>
                <a:ea typeface="Cairo" pitchFamily="34" charset="-122"/>
                <a:cs typeface="Cairo" pitchFamily="34" charset="-120"/>
              </a:rPr>
              <a:t>شكل هندسي متوازن</a:t>
            </a:r>
            <a:endParaRPr lang="ar-SA" sz="1400" dirty="0"/>
          </a:p>
          <a:p>
            <a:pPr rtl="1" algn="ctr" indent="0" marL="0">
              <a:buNone/>
            </a:pPr>
            <a:r>
              <a:rPr lang="ar-SA" altLang="en-US" sz="1400" dirty="0">
                <a:solidFill>
                  <a:srgbClr val="1A2340"/>
                </a:solidFill>
                <a:latin typeface="Cairo" pitchFamily="34" charset="0"/>
                <a:ea typeface="Cairo" pitchFamily="34" charset="-122"/>
                <a:cs typeface="Cairo" pitchFamily="34" charset="-120"/>
              </a:rPr>
              <a:t>بأربع بتلات</a:t>
            </a:r>
            <a:endParaRPr lang="ar-SA" sz="1400" dirty="0"/>
          </a:p>
        </p:txBody>
      </p:sp>
      <p:sp>
        <p:nvSpPr>
          <p:cNvPr id="14" name="anim2_30"/>
          <p:cNvSpPr/>
          <p:nvPr/>
        </p:nvSpPr>
        <p:spPr>
          <a:xfrm>
            <a:off x="6248095" y="1783080"/>
            <a:ext cx="2560320" cy="3840480"/>
          </a:xfrm>
          <a:prstGeom prst="roundRect">
            <a:avLst>
              <a:gd name="adj" fmla="val 6429"/>
            </a:avLst>
          </a:prstGeom>
          <a:solidFill>
            <a:srgbClr val="EEF2FA"/>
          </a:solidFill>
          <a:ln/>
        </p:spPr>
      </p:sp>
      <p:sp>
        <p:nvSpPr>
          <p:cNvPr id="15" name="anim2_31"/>
          <p:cNvSpPr/>
          <p:nvPr/>
        </p:nvSpPr>
        <p:spPr>
          <a:xfrm>
            <a:off x="6751015" y="2103120"/>
            <a:ext cx="1554480" cy="1554480"/>
          </a:xfrm>
          <a:prstGeom prst="ellipse">
            <a:avLst/>
          </a:prstGeom>
          <a:solidFill>
            <a:srgbClr val="FFFFFF"/>
          </a:solidFill>
          <a:ln/>
        </p:spPr>
      </p:sp>
      <p:pic>
        <p:nvPicPr>
          <p:cNvPr id="16" name="anim2_32" descr="نافذة أفراد">    </p:cNvPr>
          <p:cNvPicPr>
            <a:picLocks noChangeAspect="1"/>
          </p:cNvPicPr>
          <p:nvPr/>
        </p:nvPicPr>
        <p:blipFill>
          <a:blip r:embed="rId4"/>
          <a:stretch>
            <a:fillRect/>
          </a:stretch>
        </p:blipFill>
        <p:spPr>
          <a:xfrm>
            <a:off x="7048195" y="2559562"/>
            <a:ext cx="960120" cy="641597"/>
          </a:xfrm>
          <a:prstGeom prst="rect">
            <a:avLst/>
          </a:prstGeom>
        </p:spPr>
      </p:pic>
      <p:sp>
        <p:nvSpPr>
          <p:cNvPr id="17" name="anim2_33"/>
          <p:cNvSpPr txBox="1"/>
          <p:nvPr/>
        </p:nvSpPr>
        <p:spPr>
          <a:xfrm>
            <a:off x="6430975" y="3794760"/>
            <a:ext cx="2194560" cy="502920"/>
          </a:xfrm>
          <a:prstGeom prst="rect">
            <a:avLst/>
          </a:prstGeom>
          <a:noFill/>
          <a:ln/>
        </p:spPr>
        <p:txBody>
          <a:bodyPr wrap="square" lIns="0" tIns="0" rIns="0" bIns="0" rtlCol="0" anchor="t"/>
          <a:lstStyle/>
          <a:p>
            <a:pPr rtl="1" algn="ctr" indent="0" marL="0">
              <a:buNone/>
            </a:pPr>
            <a:r>
              <a:rPr lang="ar-SA" altLang="en-US" sz="2200" b="1" dirty="0">
                <a:solidFill>
                  <a:srgbClr val="052977"/>
                </a:solidFill>
                <a:latin typeface="Cairo" pitchFamily="34" charset="0"/>
                <a:ea typeface="Cairo" pitchFamily="34" charset="-122"/>
                <a:cs typeface="Cairo" pitchFamily="34" charset="-120"/>
              </a:rPr>
              <a:t>رأس الخير</a:t>
            </a:r>
            <a:endParaRPr lang="ar-SA" sz="2200" dirty="0"/>
          </a:p>
        </p:txBody>
      </p:sp>
      <p:sp>
        <p:nvSpPr>
          <p:cNvPr id="18" name="anim2_34"/>
          <p:cNvSpPr txBox="1"/>
          <p:nvPr/>
        </p:nvSpPr>
        <p:spPr>
          <a:xfrm>
            <a:off x="6430975" y="4297680"/>
            <a:ext cx="2194560" cy="320040"/>
          </a:xfrm>
          <a:prstGeom prst="rect">
            <a:avLst/>
          </a:prstGeom>
          <a:noFill/>
          <a:ln/>
        </p:spPr>
        <p:txBody>
          <a:bodyPr wrap="square" lIns="0" tIns="0" rIns="0" bIns="0" rtlCol="0" anchor="t"/>
          <a:lstStyle/>
          <a:p>
            <a:pPr rtl="1" algn="ctr" indent="0" marL="0">
              <a:buNone/>
            </a:pPr>
            <a:r>
              <a:rPr lang="ar-SA" altLang="en-US" sz="1200" dirty="0">
                <a:solidFill>
                  <a:srgbClr val="5B6784"/>
                </a:solidFill>
                <a:latin typeface="Cairo" pitchFamily="34" charset="0"/>
                <a:ea typeface="Cairo" pitchFamily="34" charset="-122"/>
                <a:cs typeface="Cairo" pitchFamily="34" charset="-120"/>
              </a:rPr>
              <a:t>الساحل الشرقي</a:t>
            </a:r>
            <a:endParaRPr lang="ar-SA" sz="1200" dirty="0"/>
          </a:p>
        </p:txBody>
      </p:sp>
      <p:sp>
        <p:nvSpPr>
          <p:cNvPr id="19" name="anim2_35"/>
          <p:cNvSpPr txBox="1"/>
          <p:nvPr/>
        </p:nvSpPr>
        <p:spPr>
          <a:xfrm>
            <a:off x="6476695" y="4663440"/>
            <a:ext cx="2103120" cy="777240"/>
          </a:xfrm>
          <a:prstGeom prst="rect">
            <a:avLst/>
          </a:prstGeom>
          <a:noFill/>
          <a:ln/>
        </p:spPr>
        <p:txBody>
          <a:bodyPr wrap="square" lIns="0" tIns="0" rIns="0" bIns="0" rtlCol="0" anchor="t"/>
          <a:lstStyle/>
          <a:p>
            <a:pPr rtl="1" algn="ctr" indent="0" marL="0">
              <a:buNone/>
            </a:pPr>
            <a:r>
              <a:rPr lang="ar-SA" altLang="en-US" sz="1400" dirty="0">
                <a:solidFill>
                  <a:srgbClr val="1A2340"/>
                </a:solidFill>
                <a:latin typeface="Cairo" pitchFamily="34" charset="0"/>
                <a:ea typeface="Cairo" pitchFamily="34" charset="-122"/>
                <a:cs typeface="Cairo" pitchFamily="34" charset="-120"/>
              </a:rPr>
              <a:t>تكوينات مدببة من الأوراق</a:t>
            </a:r>
            <a:endParaRPr lang="ar-SA" sz="1400" dirty="0"/>
          </a:p>
          <a:p>
            <a:pPr rtl="1" algn="ctr" indent="0" marL="0">
              <a:buNone/>
            </a:pPr>
            <a:r>
              <a:rPr lang="ar-SA" altLang="en-US" sz="1400" dirty="0">
                <a:solidFill>
                  <a:srgbClr val="1A2340"/>
                </a:solidFill>
                <a:latin typeface="Cairo" pitchFamily="34" charset="0"/>
                <a:ea typeface="Cairo" pitchFamily="34" charset="-122"/>
                <a:cs typeface="Cairo" pitchFamily="34" charset="-120"/>
              </a:rPr>
              <a:t>والزخارف التقليدية</a:t>
            </a:r>
            <a:endParaRPr lang="ar-SA" sz="1400" dirty="0"/>
          </a:p>
        </p:txBody>
      </p:sp>
      <p:sp>
        <p:nvSpPr>
          <p:cNvPr id="20" name="anim3_36"/>
          <p:cNvSpPr/>
          <p:nvPr/>
        </p:nvSpPr>
        <p:spPr>
          <a:xfrm>
            <a:off x="3413455" y="1783080"/>
            <a:ext cx="2560320" cy="3840480"/>
          </a:xfrm>
          <a:prstGeom prst="roundRect">
            <a:avLst>
              <a:gd name="adj" fmla="val 6429"/>
            </a:avLst>
          </a:prstGeom>
          <a:solidFill>
            <a:srgbClr val="EEF2FA"/>
          </a:solidFill>
          <a:ln/>
        </p:spPr>
      </p:sp>
      <p:sp>
        <p:nvSpPr>
          <p:cNvPr id="21" name="anim3_37"/>
          <p:cNvSpPr/>
          <p:nvPr/>
        </p:nvSpPr>
        <p:spPr>
          <a:xfrm>
            <a:off x="3916375" y="2103120"/>
            <a:ext cx="1554480" cy="1554480"/>
          </a:xfrm>
          <a:prstGeom prst="ellipse">
            <a:avLst/>
          </a:prstGeom>
          <a:solidFill>
            <a:srgbClr val="FFFFFF"/>
          </a:solidFill>
          <a:ln/>
        </p:spPr>
      </p:sp>
      <p:pic>
        <p:nvPicPr>
          <p:cNvPr id="22" name="anim3_38" descr="نافذة أفراد">    </p:cNvPr>
          <p:cNvPicPr>
            <a:picLocks noChangeAspect="1"/>
          </p:cNvPicPr>
          <p:nvPr/>
        </p:nvPicPr>
        <p:blipFill>
          <a:blip r:embed="rId5"/>
          <a:stretch>
            <a:fillRect/>
          </a:stretch>
        </p:blipFill>
        <p:spPr>
          <a:xfrm>
            <a:off x="4213555" y="2400300"/>
            <a:ext cx="960120" cy="960120"/>
          </a:xfrm>
          <a:prstGeom prst="rect">
            <a:avLst/>
          </a:prstGeom>
        </p:spPr>
      </p:pic>
      <p:sp>
        <p:nvSpPr>
          <p:cNvPr id="23" name="anim3_39"/>
          <p:cNvSpPr txBox="1"/>
          <p:nvPr/>
        </p:nvSpPr>
        <p:spPr>
          <a:xfrm>
            <a:off x="3596335" y="3794760"/>
            <a:ext cx="2194560" cy="502920"/>
          </a:xfrm>
          <a:prstGeom prst="rect">
            <a:avLst/>
          </a:prstGeom>
          <a:noFill/>
          <a:ln/>
        </p:spPr>
        <p:txBody>
          <a:bodyPr wrap="square" lIns="0" tIns="0" rIns="0" bIns="0" rtlCol="0" anchor="t"/>
          <a:lstStyle/>
          <a:p>
            <a:pPr rtl="1" algn="ctr" indent="0" marL="0">
              <a:buNone/>
            </a:pPr>
            <a:r>
              <a:rPr lang="ar-SA" altLang="en-US" sz="2200" b="1" dirty="0">
                <a:solidFill>
                  <a:srgbClr val="052977"/>
                </a:solidFill>
                <a:latin typeface="Cairo" pitchFamily="34" charset="0"/>
                <a:ea typeface="Cairo" pitchFamily="34" charset="-122"/>
                <a:cs typeface="Cairo" pitchFamily="34" charset="-120"/>
              </a:rPr>
              <a:t>ينبع</a:t>
            </a:r>
            <a:endParaRPr lang="ar-SA" sz="2200" dirty="0"/>
          </a:p>
        </p:txBody>
      </p:sp>
      <p:sp>
        <p:nvSpPr>
          <p:cNvPr id="24" name="anim3_40"/>
          <p:cNvSpPr txBox="1"/>
          <p:nvPr/>
        </p:nvSpPr>
        <p:spPr>
          <a:xfrm>
            <a:off x="3596335" y="4297680"/>
            <a:ext cx="2194560" cy="320040"/>
          </a:xfrm>
          <a:prstGeom prst="rect">
            <a:avLst/>
          </a:prstGeom>
          <a:noFill/>
          <a:ln/>
        </p:spPr>
        <p:txBody>
          <a:bodyPr wrap="square" lIns="0" tIns="0" rIns="0" bIns="0" rtlCol="0" anchor="t"/>
          <a:lstStyle/>
          <a:p>
            <a:pPr rtl="1" algn="ctr" indent="0" marL="0">
              <a:buNone/>
            </a:pPr>
            <a:r>
              <a:rPr lang="ar-SA" altLang="en-US" sz="1200" dirty="0">
                <a:solidFill>
                  <a:srgbClr val="5B6784"/>
                </a:solidFill>
                <a:latin typeface="Cairo" pitchFamily="34" charset="0"/>
                <a:ea typeface="Cairo" pitchFamily="34" charset="-122"/>
                <a:cs typeface="Cairo" pitchFamily="34" charset="-120"/>
              </a:rPr>
              <a:t>الساحل الحجازي</a:t>
            </a:r>
            <a:endParaRPr lang="ar-SA" sz="1200" dirty="0"/>
          </a:p>
        </p:txBody>
      </p:sp>
      <p:sp>
        <p:nvSpPr>
          <p:cNvPr id="25" name="anim3_41"/>
          <p:cNvSpPr txBox="1"/>
          <p:nvPr/>
        </p:nvSpPr>
        <p:spPr>
          <a:xfrm>
            <a:off x="3642055" y="4663440"/>
            <a:ext cx="2103120" cy="777240"/>
          </a:xfrm>
          <a:prstGeom prst="rect">
            <a:avLst/>
          </a:prstGeom>
          <a:noFill/>
          <a:ln/>
        </p:spPr>
        <p:txBody>
          <a:bodyPr wrap="square" lIns="0" tIns="0" rIns="0" bIns="0" rtlCol="0" anchor="t"/>
          <a:lstStyle/>
          <a:p>
            <a:pPr rtl="1" algn="ctr" indent="0" marL="0">
              <a:buNone/>
            </a:pPr>
            <a:r>
              <a:rPr lang="ar-SA" altLang="en-US" sz="1400" dirty="0">
                <a:solidFill>
                  <a:srgbClr val="1A2340"/>
                </a:solidFill>
                <a:latin typeface="Cairo" pitchFamily="34" charset="0"/>
                <a:ea typeface="Cairo" pitchFamily="34" charset="-122"/>
                <a:cs typeface="Cairo" pitchFamily="34" charset="-120"/>
              </a:rPr>
              <a:t>نمط زهري هندسي متناظر</a:t>
            </a:r>
            <a:endParaRPr lang="ar-SA" sz="1400" dirty="0"/>
          </a:p>
          <a:p>
            <a:pPr rtl="1" algn="ctr" indent="0" marL="0">
              <a:buNone/>
            </a:pPr>
            <a:r>
              <a:rPr lang="ar-SA" altLang="en-US" sz="1400" dirty="0">
                <a:solidFill>
                  <a:srgbClr val="1A2340"/>
                </a:solidFill>
                <a:latin typeface="Cairo" pitchFamily="34" charset="0"/>
                <a:ea typeface="Cairo" pitchFamily="34" charset="-122"/>
                <a:cs typeface="Cairo" pitchFamily="34" charset="-120"/>
              </a:rPr>
              <a:t>يوحي بالحركة</a:t>
            </a:r>
            <a:endParaRPr lang="ar-SA" sz="1400" dirty="0"/>
          </a:p>
        </p:txBody>
      </p:sp>
      <p:sp>
        <p:nvSpPr>
          <p:cNvPr id="26" name="anim4_42"/>
          <p:cNvSpPr/>
          <p:nvPr/>
        </p:nvSpPr>
        <p:spPr>
          <a:xfrm>
            <a:off x="578815" y="1783080"/>
            <a:ext cx="2560320" cy="3840480"/>
          </a:xfrm>
          <a:prstGeom prst="roundRect">
            <a:avLst>
              <a:gd name="adj" fmla="val 6429"/>
            </a:avLst>
          </a:prstGeom>
          <a:solidFill>
            <a:srgbClr val="EEF2FA"/>
          </a:solidFill>
          <a:ln/>
        </p:spPr>
      </p:sp>
      <p:sp>
        <p:nvSpPr>
          <p:cNvPr id="27" name="anim4_43"/>
          <p:cNvSpPr/>
          <p:nvPr/>
        </p:nvSpPr>
        <p:spPr>
          <a:xfrm>
            <a:off x="1081735" y="2103120"/>
            <a:ext cx="1554480" cy="1554480"/>
          </a:xfrm>
          <a:prstGeom prst="ellipse">
            <a:avLst/>
          </a:prstGeom>
          <a:solidFill>
            <a:srgbClr val="FFFFFF"/>
          </a:solidFill>
          <a:ln/>
        </p:spPr>
      </p:sp>
      <p:pic>
        <p:nvPicPr>
          <p:cNvPr id="28" name="anim4_44" descr="نافذة أفراد">    </p:cNvPr>
          <p:cNvPicPr>
            <a:picLocks noChangeAspect="1"/>
          </p:cNvPicPr>
          <p:nvPr/>
        </p:nvPicPr>
        <p:blipFill>
          <a:blip r:embed="rId6"/>
          <a:stretch>
            <a:fillRect/>
          </a:stretch>
        </p:blipFill>
        <p:spPr>
          <a:xfrm>
            <a:off x="1378915" y="2400300"/>
            <a:ext cx="960120" cy="960120"/>
          </a:xfrm>
          <a:prstGeom prst="rect">
            <a:avLst/>
          </a:prstGeom>
        </p:spPr>
      </p:pic>
      <p:sp>
        <p:nvSpPr>
          <p:cNvPr id="29" name="anim4_45"/>
          <p:cNvSpPr txBox="1"/>
          <p:nvPr/>
        </p:nvSpPr>
        <p:spPr>
          <a:xfrm>
            <a:off x="761695" y="3794760"/>
            <a:ext cx="2194560" cy="502920"/>
          </a:xfrm>
          <a:prstGeom prst="rect">
            <a:avLst/>
          </a:prstGeom>
          <a:noFill/>
          <a:ln/>
        </p:spPr>
        <p:txBody>
          <a:bodyPr wrap="square" lIns="0" tIns="0" rIns="0" bIns="0" rtlCol="0" anchor="t"/>
          <a:lstStyle/>
          <a:p>
            <a:pPr rtl="1" algn="ctr" indent="0" marL="0">
              <a:buNone/>
            </a:pPr>
            <a:r>
              <a:rPr lang="ar-SA" altLang="en-US" sz="2200" b="1" dirty="0">
                <a:solidFill>
                  <a:srgbClr val="052977"/>
                </a:solidFill>
                <a:latin typeface="Cairo" pitchFamily="34" charset="0"/>
                <a:ea typeface="Cairo" pitchFamily="34" charset="-122"/>
                <a:cs typeface="Cairo" pitchFamily="34" charset="-120"/>
              </a:rPr>
              <a:t>جازان</a:t>
            </a:r>
            <a:endParaRPr lang="ar-SA" sz="2200" dirty="0"/>
          </a:p>
        </p:txBody>
      </p:sp>
      <p:sp>
        <p:nvSpPr>
          <p:cNvPr id="30" name="anim4_46"/>
          <p:cNvSpPr txBox="1"/>
          <p:nvPr/>
        </p:nvSpPr>
        <p:spPr>
          <a:xfrm>
            <a:off x="761695" y="4297680"/>
            <a:ext cx="2194560" cy="320040"/>
          </a:xfrm>
          <a:prstGeom prst="rect">
            <a:avLst/>
          </a:prstGeom>
          <a:noFill/>
          <a:ln/>
        </p:spPr>
        <p:txBody>
          <a:bodyPr wrap="square" lIns="0" tIns="0" rIns="0" bIns="0" rtlCol="0" anchor="t"/>
          <a:lstStyle/>
          <a:p>
            <a:pPr rtl="1" algn="ctr" indent="0" marL="0">
              <a:buNone/>
            </a:pPr>
            <a:r>
              <a:rPr lang="ar-SA" altLang="en-US" sz="1200" dirty="0">
                <a:solidFill>
                  <a:srgbClr val="5B6784"/>
                </a:solidFill>
                <a:latin typeface="Cairo" pitchFamily="34" charset="0"/>
                <a:ea typeface="Cairo" pitchFamily="34" charset="-122"/>
                <a:cs typeface="Cairo" pitchFamily="34" charset="-120"/>
              </a:rPr>
              <a:t>ساحل تهامة</a:t>
            </a:r>
            <a:endParaRPr lang="ar-SA" sz="1200" dirty="0"/>
          </a:p>
        </p:txBody>
      </p:sp>
      <p:sp>
        <p:nvSpPr>
          <p:cNvPr id="31" name="anim4_47"/>
          <p:cNvSpPr txBox="1"/>
          <p:nvPr/>
        </p:nvSpPr>
        <p:spPr>
          <a:xfrm>
            <a:off x="807415" y="4663440"/>
            <a:ext cx="2103120" cy="777240"/>
          </a:xfrm>
          <a:prstGeom prst="rect">
            <a:avLst/>
          </a:prstGeom>
          <a:noFill/>
          <a:ln/>
        </p:spPr>
        <p:txBody>
          <a:bodyPr wrap="square" lIns="0" tIns="0" rIns="0" bIns="0" rtlCol="0" anchor="t"/>
          <a:lstStyle/>
          <a:p>
            <a:pPr rtl="1" algn="ctr" indent="0" marL="0">
              <a:buNone/>
            </a:pPr>
            <a:r>
              <a:rPr lang="ar-SA" altLang="en-US" sz="1400" dirty="0">
                <a:solidFill>
                  <a:srgbClr val="1A2340"/>
                </a:solidFill>
                <a:latin typeface="Cairo" pitchFamily="34" charset="0"/>
                <a:ea typeface="Cairo" pitchFamily="34" charset="-122"/>
                <a:cs typeface="Cairo" pitchFamily="34" charset="-120"/>
              </a:rPr>
              <a:t>أشكال ماسية متداخلة</a:t>
            </a:r>
            <a:endParaRPr lang="ar-SA" sz="1400" dirty="0"/>
          </a:p>
          <a:p>
            <a:pPr rtl="1" algn="ctr" indent="0" marL="0">
              <a:buNone/>
            </a:pPr>
            <a:r>
              <a:rPr lang="ar-SA" altLang="en-US" sz="1400" dirty="0">
                <a:solidFill>
                  <a:srgbClr val="1A2340"/>
                </a:solidFill>
                <a:latin typeface="Cairo" pitchFamily="34" charset="0"/>
                <a:ea typeface="Cairo" pitchFamily="34" charset="-122"/>
                <a:cs typeface="Cairo" pitchFamily="34" charset="-120"/>
              </a:rPr>
              <a:t>وزخارف نباتية</a:t>
            </a:r>
            <a:endParaRPr lang="ar-SA" sz="1400" dirty="0"/>
          </a:p>
        </p:txBody>
      </p:sp>
      <p:sp>
        <p:nvSpPr>
          <p:cNvPr id="32" name="anim5_48"/>
          <p:cNvSpPr txBox="1"/>
          <p:nvPr/>
        </p:nvSpPr>
        <p:spPr>
          <a:xfrm>
            <a:off x="2377440" y="5760720"/>
            <a:ext cx="9265615" cy="320040"/>
          </a:xfrm>
          <a:prstGeom prst="rect">
            <a:avLst/>
          </a:prstGeom>
          <a:noFill/>
          <a:ln/>
        </p:spPr>
        <p:txBody>
          <a:bodyPr wrap="square" lIns="0" tIns="0" rIns="0" bIns="0" rtlCol="0" anchor="t"/>
          <a:lstStyle/>
          <a:p>
            <a:pPr rtl="1" algn="r" indent="0" marL="0">
              <a:buNone/>
            </a:pPr>
            <a:r>
              <a:rPr lang="ar-SA" altLang="en-US" sz="1100" dirty="0">
                <a:solidFill>
                  <a:srgbClr val="5B6784"/>
                </a:solidFill>
                <a:latin typeface="Cairo" pitchFamily="34" charset="0"/>
                <a:ea typeface="Cairo" pitchFamily="34" charset="-122"/>
                <a:cs typeface="Cairo" pitchFamily="34" charset="-120"/>
              </a:rPr>
              <a:t>المرجع المعماري: دليل العمارة السعودية (الساحل الشرقي، الساحل الحجازي، ساحل تهامة)</a:t>
            </a:r>
            <a:endParaRPr lang="ar-SA"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3" fill="hold">
                      <p:stCondLst>
                        <p:cond delay="indefinite"/>
                        <p:cond evt="onBegin" delay="0">
                          <p:tn val="2"/>
                        </p:cond>
                      </p:stCondLst>
                      <p:childTnLst>
                        <p:par>
                          <p:cTn id="2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par>
                          <p:cTn id="40" fill="hold">
                            <p:stCondLst>
                              <p:cond delay="700"/>
                            </p:stCondLst>
                            <p:childTnLst>
                              <p:par>
                                <p:cTn id="22" presetID="10"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childTnLst>
                          </p:cTn>
                        </p:par>
                        <p:par>
                          <p:cTn id="59" fill="hold">
                            <p:stCondLst>
                              <p:cond delay="1400"/>
                            </p:stCondLst>
                            <p:childTnLst>
                              <p:par>
                                <p:cTn id="41" presetID="10" presetClass="entr" presetSubtype="0"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5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5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5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50"/>
                                        <p:tgtEl>
                                          <p:spTgt spid="25"/>
                                        </p:tgtEl>
                                      </p:cBhvr>
                                    </p:animEffect>
                                  </p:childTnLst>
                                </p:cTn>
                              </p:par>
                            </p:childTnLst>
                          </p:cTn>
                        </p:par>
                        <p:par>
                          <p:cTn id="78" fill="hold">
                            <p:stCondLst>
                              <p:cond delay="2100"/>
                            </p:stCondLst>
                            <p:childTnLst>
                              <p:par>
                                <p:cTn id="60" presetID="10" presetClass="entr" presetSubtype="0" fill="hold" grpId="0" nodeType="after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50"/>
                                        <p:tgtEl>
                                          <p:spTgt spid="2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5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50"/>
                                        <p:tgtEl>
                                          <p:spTgt spid="31"/>
                                        </p:tgtEl>
                                      </p:cBhvr>
                                    </p:animEffect>
                                  </p:childTnLst>
                                </p:cTn>
                              </p:par>
                            </p:childTnLst>
                          </p:cTn>
                        </p:par>
                        <p:par>
                          <p:cTn id="82" fill="hold">
                            <p:stCondLst>
                              <p:cond delay="2800"/>
                            </p:stCondLst>
                            <p:childTnLst>
                              <p:par>
                                <p:cTn id="79" presetID="10" presetClass="entr" presetSubtype="0" fill="hold" grpId="0" nodeType="after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9" grpId="0" animBg="1"/>
      <p:bldP spid="30" grpId="0" animBg="1"/>
      <p:bldP spid="31" grpId="0" animBg="1"/>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الهوية</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من أربعة أنماط إلى نمط واحد</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4</a:t>
            </a:r>
            <a:endParaRPr lang="ar-SA" sz="1100" dirty="0"/>
          </a:p>
        </p:txBody>
      </p:sp>
      <p:sp>
        <p:nvSpPr>
          <p:cNvPr id="8" name="anim1_49"/>
          <p:cNvSpPr/>
          <p:nvPr/>
        </p:nvSpPr>
        <p:spPr>
          <a:xfrm>
            <a:off x="4640580" y="1851660"/>
            <a:ext cx="960120" cy="960120"/>
          </a:xfrm>
          <a:prstGeom prst="ellipse">
            <a:avLst/>
          </a:prstGeom>
          <a:solidFill>
            <a:srgbClr val="EEF2FA"/>
          </a:solidFill>
          <a:ln/>
        </p:spPr>
      </p:sp>
      <p:pic>
        <p:nvPicPr>
          <p:cNvPr id="9" name="anim1_50" descr="نافذة أفراد">    </p:cNvPr>
          <p:cNvPicPr>
            <a:picLocks noChangeAspect="1"/>
          </p:cNvPicPr>
          <p:nvPr/>
        </p:nvPicPr>
        <p:blipFill>
          <a:blip r:embed="rId3"/>
          <a:stretch>
            <a:fillRect/>
          </a:stretch>
        </p:blipFill>
        <p:spPr>
          <a:xfrm>
            <a:off x="4837176" y="2050158"/>
            <a:ext cx="566928" cy="563123"/>
          </a:xfrm>
          <a:prstGeom prst="rect">
            <a:avLst/>
          </a:prstGeom>
        </p:spPr>
      </p:pic>
      <p:sp>
        <p:nvSpPr>
          <p:cNvPr id="10" name="anim1_51"/>
          <p:cNvSpPr txBox="1"/>
          <p:nvPr/>
        </p:nvSpPr>
        <p:spPr>
          <a:xfrm>
            <a:off x="4389120" y="2830068"/>
            <a:ext cx="1463040" cy="292608"/>
          </a:xfrm>
          <a:prstGeom prst="rect">
            <a:avLst/>
          </a:prstGeom>
          <a:noFill/>
          <a:ln/>
        </p:spPr>
        <p:txBody>
          <a:bodyPr wrap="square" lIns="0" tIns="0" rIns="0" bIns="0" rtlCol="0" anchor="t"/>
          <a:lstStyle/>
          <a:p>
            <a:pPr rtl="1" algn="ctr" indent="0" marL="0">
              <a:buNone/>
            </a:pPr>
            <a:r>
              <a:rPr lang="ar-SA" altLang="en-US" sz="1200" b="1" dirty="0">
                <a:solidFill>
                  <a:srgbClr val="052977"/>
                </a:solidFill>
                <a:latin typeface="Cairo" pitchFamily="34" charset="0"/>
                <a:ea typeface="Cairo" pitchFamily="34" charset="-122"/>
                <a:cs typeface="Cairo" pitchFamily="34" charset="-120"/>
              </a:rPr>
              <a:t>الجبيل</a:t>
            </a:r>
            <a:endParaRPr lang="ar-SA" sz="1200" dirty="0"/>
          </a:p>
        </p:txBody>
      </p:sp>
      <p:sp>
        <p:nvSpPr>
          <p:cNvPr id="11" name="anim2_52"/>
          <p:cNvSpPr/>
          <p:nvPr/>
        </p:nvSpPr>
        <p:spPr>
          <a:xfrm flipH="1">
            <a:off x="4033418" y="2785262"/>
            <a:ext cx="487375" cy="368503"/>
          </a:xfrm>
          <a:prstGeom prst="line">
            <a:avLst/>
          </a:prstGeom>
          <a:noFill/>
          <a:ln w="15875">
            <a:solidFill>
              <a:srgbClr val="052977"/>
            </a:solidFill>
            <a:prstDash val="solid"/>
            <a:tailEnd type="triangle"/>
          </a:ln>
        </p:spPr>
      </p:sp>
      <p:sp>
        <p:nvSpPr>
          <p:cNvPr id="12" name="anim1_53"/>
          <p:cNvSpPr/>
          <p:nvPr/>
        </p:nvSpPr>
        <p:spPr>
          <a:xfrm>
            <a:off x="891540" y="1851660"/>
            <a:ext cx="960120" cy="960120"/>
          </a:xfrm>
          <a:prstGeom prst="ellipse">
            <a:avLst/>
          </a:prstGeom>
          <a:solidFill>
            <a:srgbClr val="EEF2FA"/>
          </a:solidFill>
          <a:ln/>
        </p:spPr>
      </p:sp>
      <p:pic>
        <p:nvPicPr>
          <p:cNvPr id="13" name="anim1_54" descr="نافذة أفراد">    </p:cNvPr>
          <p:cNvPicPr>
            <a:picLocks noChangeAspect="1"/>
          </p:cNvPicPr>
          <p:nvPr/>
        </p:nvPicPr>
        <p:blipFill>
          <a:blip r:embed="rId4"/>
          <a:stretch>
            <a:fillRect/>
          </a:stretch>
        </p:blipFill>
        <p:spPr>
          <a:xfrm>
            <a:off x="1088136" y="2142296"/>
            <a:ext cx="566928" cy="378848"/>
          </a:xfrm>
          <a:prstGeom prst="rect">
            <a:avLst/>
          </a:prstGeom>
        </p:spPr>
      </p:pic>
      <p:sp>
        <p:nvSpPr>
          <p:cNvPr id="14" name="anim1_55"/>
          <p:cNvSpPr txBox="1"/>
          <p:nvPr/>
        </p:nvSpPr>
        <p:spPr>
          <a:xfrm>
            <a:off x="640080" y="2830068"/>
            <a:ext cx="1463040" cy="292608"/>
          </a:xfrm>
          <a:prstGeom prst="rect">
            <a:avLst/>
          </a:prstGeom>
          <a:noFill/>
          <a:ln/>
        </p:spPr>
        <p:txBody>
          <a:bodyPr wrap="square" lIns="0" tIns="0" rIns="0" bIns="0" rtlCol="0" anchor="t"/>
          <a:lstStyle/>
          <a:p>
            <a:pPr rtl="1" algn="ctr" indent="0" marL="0">
              <a:buNone/>
            </a:pPr>
            <a:r>
              <a:rPr lang="ar-SA" altLang="en-US" sz="1200" b="1" dirty="0">
                <a:solidFill>
                  <a:srgbClr val="052977"/>
                </a:solidFill>
                <a:latin typeface="Cairo" pitchFamily="34" charset="0"/>
                <a:ea typeface="Cairo" pitchFamily="34" charset="-122"/>
                <a:cs typeface="Cairo" pitchFamily="34" charset="-120"/>
              </a:rPr>
              <a:t>رأس الخير</a:t>
            </a:r>
            <a:endParaRPr lang="ar-SA" sz="1200" dirty="0"/>
          </a:p>
        </p:txBody>
      </p:sp>
      <p:sp>
        <p:nvSpPr>
          <p:cNvPr id="15" name="anim2_56"/>
          <p:cNvSpPr/>
          <p:nvPr/>
        </p:nvSpPr>
        <p:spPr>
          <a:xfrm>
            <a:off x="1971446" y="2785262"/>
            <a:ext cx="487375" cy="368503"/>
          </a:xfrm>
          <a:prstGeom prst="line">
            <a:avLst/>
          </a:prstGeom>
          <a:noFill/>
          <a:ln w="15875">
            <a:solidFill>
              <a:srgbClr val="052977"/>
            </a:solidFill>
            <a:prstDash val="solid"/>
            <a:tailEnd type="triangle"/>
          </a:ln>
        </p:spPr>
      </p:sp>
      <p:sp>
        <p:nvSpPr>
          <p:cNvPr id="16" name="anim1_57"/>
          <p:cNvSpPr/>
          <p:nvPr/>
        </p:nvSpPr>
        <p:spPr>
          <a:xfrm>
            <a:off x="4640580" y="4503420"/>
            <a:ext cx="960120" cy="960120"/>
          </a:xfrm>
          <a:prstGeom prst="ellipse">
            <a:avLst/>
          </a:prstGeom>
          <a:solidFill>
            <a:srgbClr val="EEF2FA"/>
          </a:solidFill>
          <a:ln/>
        </p:spPr>
      </p:sp>
      <p:pic>
        <p:nvPicPr>
          <p:cNvPr id="17" name="anim1_58" descr="نافذة أفراد">    </p:cNvPr>
          <p:cNvPicPr>
            <a:picLocks noChangeAspect="1"/>
          </p:cNvPicPr>
          <p:nvPr/>
        </p:nvPicPr>
        <p:blipFill>
          <a:blip r:embed="rId5"/>
          <a:stretch>
            <a:fillRect/>
          </a:stretch>
        </p:blipFill>
        <p:spPr>
          <a:xfrm>
            <a:off x="4837176" y="4700016"/>
            <a:ext cx="566928" cy="566928"/>
          </a:xfrm>
          <a:prstGeom prst="rect">
            <a:avLst/>
          </a:prstGeom>
        </p:spPr>
      </p:pic>
      <p:sp>
        <p:nvSpPr>
          <p:cNvPr id="18" name="anim1_59"/>
          <p:cNvSpPr txBox="1"/>
          <p:nvPr/>
        </p:nvSpPr>
        <p:spPr>
          <a:xfrm>
            <a:off x="4389120" y="5481828"/>
            <a:ext cx="1463040" cy="292608"/>
          </a:xfrm>
          <a:prstGeom prst="rect">
            <a:avLst/>
          </a:prstGeom>
          <a:noFill/>
          <a:ln/>
        </p:spPr>
        <p:txBody>
          <a:bodyPr wrap="square" lIns="0" tIns="0" rIns="0" bIns="0" rtlCol="0" anchor="t"/>
          <a:lstStyle/>
          <a:p>
            <a:pPr rtl="1" algn="ctr" indent="0" marL="0">
              <a:buNone/>
            </a:pPr>
            <a:r>
              <a:rPr lang="ar-SA" altLang="en-US" sz="1200" b="1" dirty="0">
                <a:solidFill>
                  <a:srgbClr val="052977"/>
                </a:solidFill>
                <a:latin typeface="Cairo" pitchFamily="34" charset="0"/>
                <a:ea typeface="Cairo" pitchFamily="34" charset="-122"/>
                <a:cs typeface="Cairo" pitchFamily="34" charset="-120"/>
              </a:rPr>
              <a:t>ينبع</a:t>
            </a:r>
            <a:endParaRPr lang="ar-SA" sz="1200" dirty="0"/>
          </a:p>
        </p:txBody>
      </p:sp>
      <p:sp>
        <p:nvSpPr>
          <p:cNvPr id="19" name="anim2_60"/>
          <p:cNvSpPr/>
          <p:nvPr/>
        </p:nvSpPr>
        <p:spPr>
          <a:xfrm flipH="1" flipV="1">
            <a:off x="4033418" y="4267505"/>
            <a:ext cx="487375" cy="320954"/>
          </a:xfrm>
          <a:prstGeom prst="line">
            <a:avLst/>
          </a:prstGeom>
          <a:noFill/>
          <a:ln w="15875">
            <a:solidFill>
              <a:srgbClr val="052977"/>
            </a:solidFill>
            <a:prstDash val="solid"/>
            <a:tailEnd type="triangle"/>
          </a:ln>
        </p:spPr>
      </p:sp>
      <p:sp>
        <p:nvSpPr>
          <p:cNvPr id="20" name="anim1_61"/>
          <p:cNvSpPr/>
          <p:nvPr/>
        </p:nvSpPr>
        <p:spPr>
          <a:xfrm>
            <a:off x="891540" y="4503420"/>
            <a:ext cx="960120" cy="960120"/>
          </a:xfrm>
          <a:prstGeom prst="ellipse">
            <a:avLst/>
          </a:prstGeom>
          <a:solidFill>
            <a:srgbClr val="EEF2FA"/>
          </a:solidFill>
          <a:ln/>
        </p:spPr>
      </p:sp>
      <p:pic>
        <p:nvPicPr>
          <p:cNvPr id="21" name="anim1_62" descr="نافذة أفراد">    </p:cNvPr>
          <p:cNvPicPr>
            <a:picLocks noChangeAspect="1"/>
          </p:cNvPicPr>
          <p:nvPr/>
        </p:nvPicPr>
        <p:blipFill>
          <a:blip r:embed="rId6"/>
          <a:stretch>
            <a:fillRect/>
          </a:stretch>
        </p:blipFill>
        <p:spPr>
          <a:xfrm>
            <a:off x="1088136" y="4700016"/>
            <a:ext cx="566928" cy="566928"/>
          </a:xfrm>
          <a:prstGeom prst="rect">
            <a:avLst/>
          </a:prstGeom>
        </p:spPr>
      </p:pic>
      <p:sp>
        <p:nvSpPr>
          <p:cNvPr id="22" name="anim1_63"/>
          <p:cNvSpPr txBox="1"/>
          <p:nvPr/>
        </p:nvSpPr>
        <p:spPr>
          <a:xfrm>
            <a:off x="640080" y="5481828"/>
            <a:ext cx="1463040" cy="292608"/>
          </a:xfrm>
          <a:prstGeom prst="rect">
            <a:avLst/>
          </a:prstGeom>
          <a:noFill/>
          <a:ln/>
        </p:spPr>
        <p:txBody>
          <a:bodyPr wrap="square" lIns="0" tIns="0" rIns="0" bIns="0" rtlCol="0" anchor="t"/>
          <a:lstStyle/>
          <a:p>
            <a:pPr rtl="1" algn="ctr" indent="0" marL="0">
              <a:buNone/>
            </a:pPr>
            <a:r>
              <a:rPr lang="ar-SA" altLang="en-US" sz="1200" b="1" dirty="0">
                <a:solidFill>
                  <a:srgbClr val="052977"/>
                </a:solidFill>
                <a:latin typeface="Cairo" pitchFamily="34" charset="0"/>
                <a:ea typeface="Cairo" pitchFamily="34" charset="-122"/>
                <a:cs typeface="Cairo" pitchFamily="34" charset="-120"/>
              </a:rPr>
              <a:t>جازان</a:t>
            </a:r>
            <a:endParaRPr lang="ar-SA" sz="1200" dirty="0"/>
          </a:p>
        </p:txBody>
      </p:sp>
      <p:sp>
        <p:nvSpPr>
          <p:cNvPr id="23" name="anim2_64"/>
          <p:cNvSpPr/>
          <p:nvPr/>
        </p:nvSpPr>
        <p:spPr>
          <a:xfrm flipV="1">
            <a:off x="1971446" y="4267505"/>
            <a:ext cx="487375" cy="320954"/>
          </a:xfrm>
          <a:prstGeom prst="line">
            <a:avLst/>
          </a:prstGeom>
          <a:noFill/>
          <a:ln w="15875">
            <a:solidFill>
              <a:srgbClr val="052977"/>
            </a:solidFill>
            <a:prstDash val="solid"/>
            <a:tailEnd type="triangle"/>
          </a:ln>
        </p:spPr>
      </p:sp>
      <p:pic>
        <p:nvPicPr>
          <p:cNvPr id="24" name="anim3_65" descr="نافذة أفراد">    </p:cNvPr>
          <p:cNvPicPr>
            <a:picLocks noChangeAspect="1"/>
          </p:cNvPicPr>
          <p:nvPr/>
        </p:nvPicPr>
        <p:blipFill>
          <a:blip r:embed="rId7"/>
          <a:stretch>
            <a:fillRect/>
          </a:stretch>
        </p:blipFill>
        <p:spPr>
          <a:xfrm>
            <a:off x="2446020" y="2941666"/>
            <a:ext cx="1600200" cy="1614747"/>
          </a:xfrm>
          <a:prstGeom prst="rect">
            <a:avLst/>
          </a:prstGeom>
        </p:spPr>
      </p:pic>
      <p:sp>
        <p:nvSpPr>
          <p:cNvPr id="25" name="anim4_66"/>
          <p:cNvSpPr/>
          <p:nvPr/>
        </p:nvSpPr>
        <p:spPr>
          <a:xfrm>
            <a:off x="10984687" y="1783080"/>
            <a:ext cx="658368" cy="658368"/>
          </a:xfrm>
          <a:prstGeom prst="ellipse">
            <a:avLst/>
          </a:prstGeom>
          <a:solidFill>
            <a:srgbClr val="EEF2FA"/>
          </a:solidFill>
          <a:ln/>
        </p:spPr>
      </p:sp>
      <p:pic>
        <p:nvPicPr>
          <p:cNvPr id="26" name="anim4_67" descr="نافذة أفراد">    </p:cNvPr>
          <p:cNvPicPr>
            <a:picLocks noChangeAspect="1"/>
          </p:cNvPicPr>
          <p:nvPr/>
        </p:nvPicPr>
        <p:blipFill>
          <a:blip r:embed="rId8"/>
          <a:stretch>
            <a:fillRect/>
          </a:stretch>
        </p:blipFill>
        <p:spPr>
          <a:xfrm>
            <a:off x="11155863" y="1954256"/>
            <a:ext cx="316017" cy="316017"/>
          </a:xfrm>
          <a:prstGeom prst="rect">
            <a:avLst/>
          </a:prstGeom>
        </p:spPr>
      </p:pic>
      <p:sp>
        <p:nvSpPr>
          <p:cNvPr id="27" name="anim4_68"/>
          <p:cNvSpPr txBox="1"/>
          <p:nvPr/>
        </p:nvSpPr>
        <p:spPr>
          <a:xfrm>
            <a:off x="6400800" y="1746504"/>
            <a:ext cx="4373575" cy="365760"/>
          </a:xfrm>
          <a:prstGeom prst="rect">
            <a:avLst/>
          </a:prstGeom>
          <a:noFill/>
          <a:ln/>
        </p:spPr>
        <p:txBody>
          <a:bodyPr wrap="square" lIns="0" tIns="0" rIns="0" bIns="0" rtlCol="0" anchor="t"/>
          <a:lstStyle/>
          <a:p>
            <a:pPr rtl="1" algn="r" indent="0" marL="0">
              <a:buNone/>
            </a:pPr>
            <a:r>
              <a:rPr lang="ar-SA" altLang="en-US" sz="1800" b="1" dirty="0">
                <a:solidFill>
                  <a:srgbClr val="1A2340"/>
                </a:solidFill>
                <a:latin typeface="Cairo" pitchFamily="34" charset="0"/>
                <a:ea typeface="Cairo" pitchFamily="34" charset="-122"/>
                <a:cs typeface="Cairo" pitchFamily="34" charset="-120"/>
              </a:rPr>
              <a:t>الدمج</a:t>
            </a:r>
            <a:endParaRPr lang="ar-SA" sz="1800" dirty="0"/>
          </a:p>
        </p:txBody>
      </p:sp>
      <p:sp>
        <p:nvSpPr>
          <p:cNvPr id="28" name="anim4_69"/>
          <p:cNvSpPr txBox="1"/>
          <p:nvPr/>
        </p:nvSpPr>
        <p:spPr>
          <a:xfrm>
            <a:off x="6400800" y="2112264"/>
            <a:ext cx="4373575" cy="329184"/>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بسّطنا أبرز عناصر كل نمط ودمجناها في زخرفة واحدة</a:t>
            </a:r>
            <a:endParaRPr lang="ar-SA" sz="1400" dirty="0"/>
          </a:p>
        </p:txBody>
      </p:sp>
      <p:sp>
        <p:nvSpPr>
          <p:cNvPr id="29" name="anim5_70"/>
          <p:cNvSpPr/>
          <p:nvPr/>
        </p:nvSpPr>
        <p:spPr>
          <a:xfrm>
            <a:off x="10984687" y="2770632"/>
            <a:ext cx="658368" cy="658368"/>
          </a:xfrm>
          <a:prstGeom prst="ellipse">
            <a:avLst/>
          </a:prstGeom>
          <a:solidFill>
            <a:srgbClr val="EEF2FA"/>
          </a:solidFill>
          <a:ln/>
        </p:spPr>
      </p:sp>
      <p:pic>
        <p:nvPicPr>
          <p:cNvPr id="30" name="anim5_71" descr="نافذة أفراد">    </p:cNvPr>
          <p:cNvPicPr>
            <a:picLocks noChangeAspect="1"/>
          </p:cNvPicPr>
          <p:nvPr/>
        </p:nvPicPr>
        <p:blipFill>
          <a:blip r:embed="rId9"/>
          <a:stretch>
            <a:fillRect/>
          </a:stretch>
        </p:blipFill>
        <p:spPr>
          <a:xfrm>
            <a:off x="11155863" y="2941808"/>
            <a:ext cx="316017" cy="316017"/>
          </a:xfrm>
          <a:prstGeom prst="rect">
            <a:avLst/>
          </a:prstGeom>
        </p:spPr>
      </p:pic>
      <p:sp>
        <p:nvSpPr>
          <p:cNvPr id="31" name="anim5_72"/>
          <p:cNvSpPr txBox="1"/>
          <p:nvPr/>
        </p:nvSpPr>
        <p:spPr>
          <a:xfrm>
            <a:off x="6400800" y="2734056"/>
            <a:ext cx="4373575" cy="365760"/>
          </a:xfrm>
          <a:prstGeom prst="rect">
            <a:avLst/>
          </a:prstGeom>
          <a:noFill/>
          <a:ln/>
        </p:spPr>
        <p:txBody>
          <a:bodyPr wrap="square" lIns="0" tIns="0" rIns="0" bIns="0" rtlCol="0" anchor="t"/>
          <a:lstStyle/>
          <a:p>
            <a:pPr rtl="1" algn="r" indent="0" marL="0">
              <a:buNone/>
            </a:pPr>
            <a:r>
              <a:rPr lang="ar-SA" altLang="en-US" sz="1800" b="1" dirty="0">
                <a:solidFill>
                  <a:srgbClr val="1A2340"/>
                </a:solidFill>
                <a:latin typeface="Cairo" pitchFamily="34" charset="0"/>
                <a:ea typeface="Cairo" pitchFamily="34" charset="-122"/>
                <a:cs typeface="Cairo" pitchFamily="34" charset="-120"/>
              </a:rPr>
              <a:t>المركز</a:t>
            </a:r>
            <a:endParaRPr lang="ar-SA" sz="1800" dirty="0"/>
          </a:p>
        </p:txBody>
      </p:sp>
      <p:sp>
        <p:nvSpPr>
          <p:cNvPr id="32" name="anim5_73"/>
          <p:cNvSpPr txBox="1"/>
          <p:nvPr/>
        </p:nvSpPr>
        <p:spPr>
          <a:xfrm>
            <a:off x="6400800" y="3099816"/>
            <a:ext cx="4373575" cy="329184"/>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مساحة مفتوحة على شكل مُعيّن تمثل النافذة</a:t>
            </a:r>
            <a:endParaRPr lang="ar-SA" sz="1400" dirty="0"/>
          </a:p>
        </p:txBody>
      </p:sp>
      <p:sp>
        <p:nvSpPr>
          <p:cNvPr id="33" name="anim6_74"/>
          <p:cNvSpPr/>
          <p:nvPr/>
        </p:nvSpPr>
        <p:spPr>
          <a:xfrm>
            <a:off x="10984687" y="3758184"/>
            <a:ext cx="658368" cy="658368"/>
          </a:xfrm>
          <a:prstGeom prst="ellipse">
            <a:avLst/>
          </a:prstGeom>
          <a:solidFill>
            <a:srgbClr val="EEF2FA"/>
          </a:solidFill>
          <a:ln/>
        </p:spPr>
      </p:sp>
      <p:pic>
        <p:nvPicPr>
          <p:cNvPr id="34" name="anim6_75" descr="نافذة أفراد">    </p:cNvPr>
          <p:cNvPicPr>
            <a:picLocks noChangeAspect="1"/>
          </p:cNvPicPr>
          <p:nvPr/>
        </p:nvPicPr>
        <p:blipFill>
          <a:blip r:embed="rId10"/>
          <a:stretch>
            <a:fillRect/>
          </a:stretch>
        </p:blipFill>
        <p:spPr>
          <a:xfrm>
            <a:off x="11155863" y="3929360"/>
            <a:ext cx="316017" cy="316017"/>
          </a:xfrm>
          <a:prstGeom prst="rect">
            <a:avLst/>
          </a:prstGeom>
        </p:spPr>
      </p:pic>
      <p:sp>
        <p:nvSpPr>
          <p:cNvPr id="35" name="anim6_76"/>
          <p:cNvSpPr txBox="1"/>
          <p:nvPr/>
        </p:nvSpPr>
        <p:spPr>
          <a:xfrm>
            <a:off x="6400800" y="3721608"/>
            <a:ext cx="4373575" cy="365760"/>
          </a:xfrm>
          <a:prstGeom prst="rect">
            <a:avLst/>
          </a:prstGeom>
          <a:noFill/>
          <a:ln/>
        </p:spPr>
        <p:txBody>
          <a:bodyPr wrap="square" lIns="0" tIns="0" rIns="0" bIns="0" rtlCol="0" anchor="t"/>
          <a:lstStyle/>
          <a:p>
            <a:pPr rtl="1" algn="r" indent="0" marL="0">
              <a:buNone/>
            </a:pPr>
            <a:r>
              <a:rPr lang="ar-SA" altLang="en-US" sz="1800" b="1" dirty="0">
                <a:solidFill>
                  <a:srgbClr val="1A2340"/>
                </a:solidFill>
                <a:latin typeface="Cairo" pitchFamily="34" charset="0"/>
                <a:ea typeface="Cairo" pitchFamily="34" charset="-122"/>
                <a:cs typeface="Cairo" pitchFamily="34" charset="-120"/>
              </a:rPr>
              <a:t>الاتجاهات الأربعة</a:t>
            </a:r>
            <a:endParaRPr lang="ar-SA" sz="1800" dirty="0"/>
          </a:p>
        </p:txBody>
      </p:sp>
      <p:sp>
        <p:nvSpPr>
          <p:cNvPr id="36" name="anim6_77"/>
          <p:cNvSpPr txBox="1"/>
          <p:nvPr/>
        </p:nvSpPr>
        <p:spPr>
          <a:xfrm>
            <a:off x="6400800" y="4087368"/>
            <a:ext cx="4373575" cy="329184"/>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اجتماع المدن الأربع حول نافذة رقمية واحدة</a:t>
            </a:r>
            <a:endParaRPr lang="ar-SA" sz="1400" dirty="0"/>
          </a:p>
        </p:txBody>
      </p:sp>
      <p:sp>
        <p:nvSpPr>
          <p:cNvPr id="37" name="anim7_78"/>
          <p:cNvSpPr/>
          <p:nvPr/>
        </p:nvSpPr>
        <p:spPr>
          <a:xfrm>
            <a:off x="6400800" y="4846320"/>
            <a:ext cx="5242255" cy="960120"/>
          </a:xfrm>
          <a:prstGeom prst="roundRect">
            <a:avLst>
              <a:gd name="adj" fmla="val 13333"/>
            </a:avLst>
          </a:prstGeom>
          <a:solidFill>
            <a:srgbClr val="052977"/>
          </a:solidFill>
          <a:ln/>
        </p:spPr>
      </p:sp>
      <p:sp>
        <p:nvSpPr>
          <p:cNvPr id="38" name="anim7_79"/>
          <p:cNvSpPr txBox="1"/>
          <p:nvPr/>
        </p:nvSpPr>
        <p:spPr>
          <a:xfrm>
            <a:off x="6675120" y="4846320"/>
            <a:ext cx="4693615" cy="960120"/>
          </a:xfrm>
          <a:prstGeom prst="rect">
            <a:avLst/>
          </a:prstGeom>
          <a:noFill/>
          <a:ln/>
        </p:spPr>
        <p:txBody>
          <a:bodyPr wrap="square" lIns="0" tIns="0" rIns="0" bIns="0" rtlCol="0" anchor="ctr"/>
          <a:lstStyle/>
          <a:p>
            <a:pPr rtl="1" algn="r" indent="0" marL="0">
              <a:buNone/>
            </a:pPr>
            <a:r>
              <a:rPr lang="ar-SA" altLang="en-US" sz="1700" b="1" dirty="0">
                <a:solidFill>
                  <a:srgbClr val="FFFFFF"/>
                </a:solidFill>
                <a:latin typeface="Cairo" pitchFamily="34" charset="0"/>
                <a:ea typeface="Cairo" pitchFamily="34" charset="-122"/>
                <a:cs typeface="Cairo" pitchFamily="34" charset="-120"/>
              </a:rPr>
              <a:t>نمط جديد وُلد من هوية المدن الأربع، وليس تجميعًا لأربع زخارف</a:t>
            </a:r>
            <a:endParaRPr lang="ar-SA"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5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childTnLst>
                          </p:cTn>
                        </p:par>
                        <p:par>
                          <p:cTn id="52" fill="hold">
                            <p:stCondLst>
                              <p:cond delay="700"/>
                            </p:stCondLst>
                            <p:childTnLst>
                              <p:par>
                                <p:cTn id="40" presetID="10"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par>
                          <p:cTn id="56" fill="hold">
                            <p:stCondLst>
                              <p:cond delay="1400"/>
                            </p:stCondLst>
                            <p:childTnLst>
                              <p:par>
                                <p:cTn id="53" presetID="10"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50"/>
                                        <p:tgtEl>
                                          <p:spTgt spid="24"/>
                                        </p:tgtEl>
                                      </p:cBhvr>
                                    </p:animEffect>
                                  </p:childTnLst>
                                </p:cTn>
                              </p:par>
                            </p:childTnLst>
                          </p:cTn>
                        </p:par>
                        <p:par>
                          <p:cTn id="69" fill="hold">
                            <p:stCondLst>
                              <p:cond delay="2100"/>
                            </p:stCondLst>
                            <p:childTnLst>
                              <p:par>
                                <p:cTn id="57" presetID="10"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5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par>
                          <p:cTn id="82" fill="hold">
                            <p:stCondLst>
                              <p:cond delay="2800"/>
                            </p:stCondLst>
                            <p:childTnLst>
                              <p:par>
                                <p:cTn id="70" presetID="10" presetClass="entr" presetSubtype="0" fill="hold" grpId="0" nodeType="after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50"/>
                                        <p:tgtEl>
                                          <p:spTgt spid="2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45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45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450"/>
                                        <p:tgtEl>
                                          <p:spTgt spid="32"/>
                                        </p:tgtEl>
                                      </p:cBhvr>
                                    </p:animEffect>
                                  </p:childTnLst>
                                </p:cTn>
                              </p:par>
                            </p:childTnLst>
                          </p:cTn>
                        </p:par>
                        <p:par>
                          <p:cTn id="95" fill="hold">
                            <p:stCondLst>
                              <p:cond delay="3500"/>
                            </p:stCondLst>
                            <p:childTnLst>
                              <p:par>
                                <p:cTn id="83" presetID="10" presetClass="entr" presetSubtype="0" fill="hold" grpId="0" nodeType="after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50"/>
                                        <p:tgtEl>
                                          <p:spTgt spid="3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450"/>
                                        <p:tgtEl>
                                          <p:spTgt spid="3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450"/>
                                        <p:tgtEl>
                                          <p:spTgt spid="3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450"/>
                                        <p:tgtEl>
                                          <p:spTgt spid="36"/>
                                        </p:tgtEl>
                                      </p:cBhvr>
                                    </p:animEffect>
                                  </p:childTnLst>
                                </p:cTn>
                              </p:par>
                            </p:childTnLst>
                          </p:cTn>
                        </p:par>
                        <p:par>
                          <p:cTn id="102" fill="hold">
                            <p:stCondLst>
                              <p:cond delay="4200"/>
                            </p:stCondLst>
                            <p:childTnLst>
                              <p:par>
                                <p:cTn id="96" presetID="10" presetClass="entr" presetSubtype="0" fill="hold" grpId="0" nodeType="after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450"/>
                                        <p:tgtEl>
                                          <p:spTgt spid="3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5" grpId="0" animBg="1"/>
      <p:bldP spid="27" grpId="0" animBg="1"/>
      <p:bldP spid="28" grpId="0" animBg="1"/>
      <p:bldP spid="29" grpId="0" animBg="1"/>
      <p:bldP spid="31" grpId="0" animBg="1"/>
      <p:bldP spid="32" grpId="0" animBg="1"/>
      <p:bldP spid="33" grpId="0" animBg="1"/>
      <p:bldP spid="35" grpId="0" animBg="1"/>
      <p:bldP spid="36" grpId="0" animBg="1"/>
      <p:bldP spid="37" grpId="0" animBg="1"/>
      <p:bldP spid="3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الهوية</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الألوان: من شعار الهيئة</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5</a:t>
            </a:r>
            <a:endParaRPr lang="ar-SA" sz="1100" dirty="0"/>
          </a:p>
        </p:txBody>
      </p:sp>
      <p:sp>
        <p:nvSpPr>
          <p:cNvPr id="8" name="anim1_80"/>
          <p:cNvSpPr/>
          <p:nvPr/>
        </p:nvSpPr>
        <p:spPr>
          <a:xfrm>
            <a:off x="6339535" y="1783080"/>
            <a:ext cx="5303520" cy="3291840"/>
          </a:xfrm>
          <a:prstGeom prst="roundRect">
            <a:avLst>
              <a:gd name="adj" fmla="val 5556"/>
            </a:avLst>
          </a:prstGeom>
          <a:solidFill>
            <a:srgbClr val="052977"/>
          </a:solidFill>
          <a:ln/>
        </p:spPr>
      </p:sp>
      <p:pic>
        <p:nvPicPr>
          <p:cNvPr id="9" name="anim1_81" descr="نافذة أفراد">    </p:cNvPr>
          <p:cNvPicPr>
            <a:picLocks noChangeAspect="1"/>
          </p:cNvPicPr>
          <p:nvPr/>
        </p:nvPicPr>
        <p:blipFill>
          <a:blip r:embed="rId3">
            <a:alphaModFix amt="20000"/>
          </a:blip>
          <a:stretch>
            <a:fillRect/>
          </a:stretch>
        </p:blipFill>
        <p:spPr>
          <a:xfrm>
            <a:off x="6659575" y="3200400"/>
            <a:ext cx="1554480" cy="1568612"/>
          </a:xfrm>
          <a:prstGeom prst="rect">
            <a:avLst/>
          </a:prstGeom>
        </p:spPr>
      </p:pic>
      <p:sp>
        <p:nvSpPr>
          <p:cNvPr id="10" name="anim1_82"/>
          <p:cNvSpPr txBox="1"/>
          <p:nvPr/>
        </p:nvSpPr>
        <p:spPr>
          <a:xfrm>
            <a:off x="6705295" y="2148840"/>
            <a:ext cx="4572000" cy="685800"/>
          </a:xfrm>
          <a:prstGeom prst="rect">
            <a:avLst/>
          </a:prstGeom>
          <a:noFill/>
          <a:ln/>
        </p:spPr>
        <p:txBody>
          <a:bodyPr wrap="square" lIns="0" tIns="0" rIns="0" bIns="0" rtlCol="0" anchor="t"/>
          <a:lstStyle/>
          <a:p>
            <a:pPr rtl="1" algn="r" indent="0" marL="0">
              <a:buNone/>
            </a:pPr>
            <a:r>
              <a:rPr lang="ar-SA" altLang="en-US" sz="3000" b="1" dirty="0">
                <a:solidFill>
                  <a:srgbClr val="FFFFFF"/>
                </a:solidFill>
                <a:latin typeface="Cairo" pitchFamily="34" charset="0"/>
                <a:ea typeface="Cairo" pitchFamily="34" charset="-122"/>
                <a:cs typeface="Cairo" pitchFamily="34" charset="-120"/>
              </a:rPr>
              <a:t>نافذة أفراد</a:t>
            </a:r>
            <a:endParaRPr lang="ar-SA" sz="3000" dirty="0"/>
          </a:p>
        </p:txBody>
      </p:sp>
      <p:sp>
        <p:nvSpPr>
          <p:cNvPr id="11" name="anim1_83"/>
          <p:cNvSpPr txBox="1"/>
          <p:nvPr/>
        </p:nvSpPr>
        <p:spPr>
          <a:xfrm>
            <a:off x="6705295" y="2880360"/>
            <a:ext cx="4572000" cy="457200"/>
          </a:xfrm>
          <a:prstGeom prst="rect">
            <a:avLst/>
          </a:prstGeom>
          <a:noFill/>
          <a:ln/>
        </p:spPr>
        <p:txBody>
          <a:bodyPr wrap="square" lIns="0" tIns="0" rIns="0" bIns="0" rtlCol="0" anchor="t"/>
          <a:lstStyle/>
          <a:p>
            <a:pPr rtl="1" algn="r" indent="0" marL="0">
              <a:buNone/>
            </a:pPr>
            <a:r>
              <a:rPr lang="ar-SA" altLang="en-US" sz="2000" dirty="0">
                <a:solidFill>
                  <a:srgbClr val="FFFFFF"/>
                </a:solidFill>
                <a:latin typeface="Cairo" pitchFamily="34" charset="0"/>
                <a:ea typeface="Cairo" pitchFamily="34" charset="-122"/>
                <a:cs typeface="Cairo" pitchFamily="34" charset="-120"/>
              </a:rPr>
              <a:t>#052977</a:t>
            </a:r>
            <a:endParaRPr lang="ar-SA" sz="2000" dirty="0"/>
          </a:p>
        </p:txBody>
      </p:sp>
      <p:sp>
        <p:nvSpPr>
          <p:cNvPr id="12" name="anim1_84"/>
          <p:cNvSpPr txBox="1"/>
          <p:nvPr/>
        </p:nvSpPr>
        <p:spPr>
          <a:xfrm>
            <a:off x="6705295" y="3383280"/>
            <a:ext cx="4572000" cy="411480"/>
          </a:xfrm>
          <a:prstGeom prst="rect">
            <a:avLst/>
          </a:prstGeom>
          <a:noFill/>
          <a:ln/>
        </p:spPr>
        <p:txBody>
          <a:bodyPr wrap="square" lIns="0" tIns="0" rIns="0" bIns="0" rtlCol="0" anchor="t"/>
          <a:lstStyle/>
          <a:p>
            <a:pPr rtl="1" algn="r" indent="0" marL="0">
              <a:buNone/>
            </a:pPr>
            <a:r>
              <a:rPr lang="ar-SA" altLang="en-US" sz="1600" dirty="0">
                <a:solidFill>
                  <a:srgbClr val="FFFFFF"/>
                </a:solidFill>
                <a:latin typeface="Cairo" pitchFamily="34" charset="0"/>
                <a:ea typeface="Cairo" pitchFamily="34" charset="-122"/>
                <a:cs typeface="Cairo" pitchFamily="34" charset="-120"/>
              </a:rPr>
              <a:t>الثقة والطابع الرسمي</a:t>
            </a:r>
            <a:endParaRPr lang="ar-SA" sz="1600" dirty="0"/>
          </a:p>
        </p:txBody>
      </p:sp>
      <p:sp>
        <p:nvSpPr>
          <p:cNvPr id="13" name="anim2_85"/>
          <p:cNvSpPr/>
          <p:nvPr/>
        </p:nvSpPr>
        <p:spPr>
          <a:xfrm>
            <a:off x="578815" y="1783080"/>
            <a:ext cx="5303520" cy="3291840"/>
          </a:xfrm>
          <a:prstGeom prst="roundRect">
            <a:avLst>
              <a:gd name="adj" fmla="val 5556"/>
            </a:avLst>
          </a:prstGeom>
          <a:solidFill>
            <a:srgbClr val="0B9D76"/>
          </a:solidFill>
          <a:ln/>
        </p:spPr>
      </p:sp>
      <p:pic>
        <p:nvPicPr>
          <p:cNvPr id="14" name="anim2_86" descr="نافذة أفراد">    </p:cNvPr>
          <p:cNvPicPr>
            <a:picLocks noChangeAspect="1"/>
          </p:cNvPicPr>
          <p:nvPr/>
        </p:nvPicPr>
        <p:blipFill>
          <a:blip r:embed="rId4">
            <a:alphaModFix amt="20000"/>
          </a:blip>
          <a:stretch>
            <a:fillRect/>
          </a:stretch>
        </p:blipFill>
        <p:spPr>
          <a:xfrm>
            <a:off x="898855" y="3200400"/>
            <a:ext cx="1554480" cy="1568612"/>
          </a:xfrm>
          <a:prstGeom prst="rect">
            <a:avLst/>
          </a:prstGeom>
        </p:spPr>
      </p:pic>
      <p:sp>
        <p:nvSpPr>
          <p:cNvPr id="15" name="anim2_87"/>
          <p:cNvSpPr txBox="1"/>
          <p:nvPr/>
        </p:nvSpPr>
        <p:spPr>
          <a:xfrm>
            <a:off x="944575" y="2148840"/>
            <a:ext cx="4572000" cy="685800"/>
          </a:xfrm>
          <a:prstGeom prst="rect">
            <a:avLst/>
          </a:prstGeom>
          <a:noFill/>
          <a:ln/>
        </p:spPr>
        <p:txBody>
          <a:bodyPr wrap="square" lIns="0" tIns="0" rIns="0" bIns="0" rtlCol="0" anchor="t"/>
          <a:lstStyle/>
          <a:p>
            <a:pPr rtl="1" algn="r" indent="0" marL="0">
              <a:buNone/>
            </a:pPr>
            <a:r>
              <a:rPr lang="ar-SA" altLang="en-US" sz="3000" b="1" dirty="0">
                <a:solidFill>
                  <a:srgbClr val="FFFFFF"/>
                </a:solidFill>
                <a:latin typeface="Cairo" pitchFamily="34" charset="0"/>
                <a:ea typeface="Cairo" pitchFamily="34" charset="-122"/>
                <a:cs typeface="Cairo" pitchFamily="34" charset="-120"/>
              </a:rPr>
              <a:t>نافذة أعمال</a:t>
            </a:r>
            <a:endParaRPr lang="ar-SA" sz="3000" dirty="0"/>
          </a:p>
        </p:txBody>
      </p:sp>
      <p:sp>
        <p:nvSpPr>
          <p:cNvPr id="16" name="anim2_88"/>
          <p:cNvSpPr txBox="1"/>
          <p:nvPr/>
        </p:nvSpPr>
        <p:spPr>
          <a:xfrm>
            <a:off x="944575" y="2880360"/>
            <a:ext cx="4572000" cy="457200"/>
          </a:xfrm>
          <a:prstGeom prst="rect">
            <a:avLst/>
          </a:prstGeom>
          <a:noFill/>
          <a:ln/>
        </p:spPr>
        <p:txBody>
          <a:bodyPr wrap="square" lIns="0" tIns="0" rIns="0" bIns="0" rtlCol="0" anchor="t"/>
          <a:lstStyle/>
          <a:p>
            <a:pPr rtl="1" algn="r" indent="0" marL="0">
              <a:buNone/>
            </a:pPr>
            <a:r>
              <a:rPr lang="ar-SA" altLang="en-US" sz="2000" dirty="0">
                <a:solidFill>
                  <a:srgbClr val="FFFFFF"/>
                </a:solidFill>
                <a:latin typeface="Cairo" pitchFamily="34" charset="0"/>
                <a:ea typeface="Cairo" pitchFamily="34" charset="-122"/>
                <a:cs typeface="Cairo" pitchFamily="34" charset="-120"/>
              </a:rPr>
              <a:t>#0B9D76</a:t>
            </a:r>
            <a:endParaRPr lang="ar-SA" sz="2000" dirty="0"/>
          </a:p>
        </p:txBody>
      </p:sp>
      <p:sp>
        <p:nvSpPr>
          <p:cNvPr id="17" name="anim2_89"/>
          <p:cNvSpPr txBox="1"/>
          <p:nvPr/>
        </p:nvSpPr>
        <p:spPr>
          <a:xfrm>
            <a:off x="944575" y="3383280"/>
            <a:ext cx="4572000" cy="411480"/>
          </a:xfrm>
          <a:prstGeom prst="rect">
            <a:avLst/>
          </a:prstGeom>
          <a:noFill/>
          <a:ln/>
        </p:spPr>
        <p:txBody>
          <a:bodyPr wrap="square" lIns="0" tIns="0" rIns="0" bIns="0" rtlCol="0" anchor="t"/>
          <a:lstStyle/>
          <a:p>
            <a:pPr rtl="1" algn="r" indent="0" marL="0">
              <a:buNone/>
            </a:pPr>
            <a:r>
              <a:rPr lang="ar-SA" altLang="en-US" sz="1600" dirty="0">
                <a:solidFill>
                  <a:srgbClr val="FFFFFF"/>
                </a:solidFill>
                <a:latin typeface="Cairo" pitchFamily="34" charset="0"/>
                <a:ea typeface="Cairo" pitchFamily="34" charset="-122"/>
                <a:cs typeface="Cairo" pitchFamily="34" charset="-120"/>
              </a:rPr>
              <a:t>لون نسخة الأعمال</a:t>
            </a:r>
            <a:endParaRPr lang="ar-SA" sz="1600" dirty="0"/>
          </a:p>
        </p:txBody>
      </p:sp>
      <p:sp>
        <p:nvSpPr>
          <p:cNvPr id="18" name="anim3_90"/>
          <p:cNvSpPr txBox="1"/>
          <p:nvPr/>
        </p:nvSpPr>
        <p:spPr>
          <a:xfrm>
            <a:off x="548640" y="5349240"/>
            <a:ext cx="11094415" cy="411480"/>
          </a:xfrm>
          <a:prstGeom prst="rect">
            <a:avLst/>
          </a:prstGeom>
          <a:noFill/>
          <a:ln/>
        </p:spPr>
        <p:txBody>
          <a:bodyPr wrap="square" lIns="0" tIns="0" rIns="0" bIns="0" rtlCol="0" anchor="t"/>
          <a:lstStyle/>
          <a:p>
            <a:pPr rtl="1" algn="r" indent="0" marL="0">
              <a:buNone/>
            </a:pPr>
            <a:r>
              <a:rPr lang="ar-SA" altLang="en-US" sz="1500" dirty="0">
                <a:solidFill>
                  <a:srgbClr val="1A2340"/>
                </a:solidFill>
                <a:latin typeface="Cairo" pitchFamily="34" charset="0"/>
                <a:ea typeface="Cairo" pitchFamily="34" charset="-122"/>
                <a:cs typeface="Cairo" pitchFamily="34" charset="-120"/>
              </a:rPr>
              <a:t>اللونان مأخوذان من شعار الهيئة الملكية للجبيل وينبع: الأزرق لنافذة أفراد، والأخضر لنافذة أعمال</a:t>
            </a:r>
            <a:endParaRPr lang="ar-SA"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childTnLst>
                          </p:cTn>
                        </p:par>
                        <p:par>
                          <p:cTn id="34"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par>
                          <p:cTn id="38" fill="hold">
                            <p:stCondLst>
                              <p:cond delay="14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5" grpId="0" animBg="1"/>
      <p:bldP spid="16"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التطبيق</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ما هي نافذة أفراد؟</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6</a:t>
            </a:r>
            <a:endParaRPr lang="ar-SA" sz="1100" dirty="0"/>
          </a:p>
        </p:txBody>
      </p:sp>
      <p:sp>
        <p:nvSpPr>
          <p:cNvPr id="8" name="anim1_91"/>
          <p:cNvSpPr/>
          <p:nvPr/>
        </p:nvSpPr>
        <p:spPr>
          <a:xfrm>
            <a:off x="1280160" y="1920240"/>
            <a:ext cx="2743200" cy="2743200"/>
          </a:xfrm>
          <a:prstGeom prst="roundRect">
            <a:avLst>
              <a:gd name="adj" fmla="val 18333"/>
            </a:avLst>
          </a:prstGeom>
          <a:solidFill>
            <a:srgbClr val="FFFFFF"/>
          </a:solidFill>
          <a:ln w="12700">
            <a:solidFill>
              <a:srgbClr val="D6DEEE"/>
            </a:solidFill>
            <a:prstDash val="solid"/>
          </a:ln>
          <a:effectLst>
            <a:outerShdw sx="100000" sy="100000" kx="0" ky="0" algn="bl" rotWithShape="0" blurRad="228600" dist="76200" dir="5400000">
              <a:srgbClr val="052977">
                <a:alpha val="18000"/>
              </a:srgbClr>
            </a:outerShdw>
          </a:effectLst>
        </p:spPr>
      </p:sp>
      <p:pic>
        <p:nvPicPr>
          <p:cNvPr id="9" name="anim1_92" descr="نافذة أفراد">    </p:cNvPr>
          <p:cNvPicPr>
            <a:picLocks noChangeAspect="1"/>
          </p:cNvPicPr>
          <p:nvPr/>
        </p:nvPicPr>
        <p:blipFill>
          <a:blip r:embed="rId3"/>
          <a:stretch>
            <a:fillRect/>
          </a:stretch>
        </p:blipFill>
        <p:spPr>
          <a:xfrm>
            <a:off x="1783080" y="2395728"/>
            <a:ext cx="1737360" cy="1753154"/>
          </a:xfrm>
          <a:prstGeom prst="rect">
            <a:avLst/>
          </a:prstGeom>
        </p:spPr>
      </p:pic>
      <p:sp>
        <p:nvSpPr>
          <p:cNvPr id="10" name="anim1_93"/>
          <p:cNvSpPr txBox="1"/>
          <p:nvPr/>
        </p:nvSpPr>
        <p:spPr>
          <a:xfrm>
            <a:off x="1005840" y="4846320"/>
            <a:ext cx="3291840" cy="457200"/>
          </a:xfrm>
          <a:prstGeom prst="rect">
            <a:avLst/>
          </a:prstGeom>
          <a:noFill/>
          <a:ln/>
        </p:spPr>
        <p:txBody>
          <a:bodyPr wrap="square" lIns="0" tIns="0" rIns="0" bIns="0" rtlCol="0" anchor="t"/>
          <a:lstStyle/>
          <a:p>
            <a:pPr rtl="1" algn="ctr" indent="0" marL="0">
              <a:buNone/>
            </a:pPr>
            <a:r>
              <a:rPr lang="ar-SA" altLang="en-US" sz="1800" b="1" dirty="0">
                <a:solidFill>
                  <a:srgbClr val="052977"/>
                </a:solidFill>
                <a:latin typeface="Cairo" pitchFamily="34" charset="0"/>
                <a:ea typeface="Cairo" pitchFamily="34" charset="-122"/>
                <a:cs typeface="Cairo" pitchFamily="34" charset="-120"/>
              </a:rPr>
              <a:t>نافذة أفراد</a:t>
            </a:r>
            <a:endParaRPr lang="ar-SA" sz="1800" dirty="0"/>
          </a:p>
        </p:txBody>
      </p:sp>
      <p:sp>
        <p:nvSpPr>
          <p:cNvPr id="11" name="anim2_94"/>
          <p:cNvSpPr txBox="1"/>
          <p:nvPr/>
        </p:nvSpPr>
        <p:spPr>
          <a:xfrm>
            <a:off x="4572000" y="1874520"/>
            <a:ext cx="7071055" cy="1371600"/>
          </a:xfrm>
          <a:prstGeom prst="rect">
            <a:avLst/>
          </a:prstGeom>
          <a:noFill/>
          <a:ln/>
        </p:spPr>
        <p:txBody>
          <a:bodyPr wrap="square" lIns="0" tIns="0" rIns="0" bIns="0" rtlCol="0" anchor="t"/>
          <a:lstStyle/>
          <a:p>
            <a:pPr rtl="1" algn="r" indent="0" marL="0">
              <a:buNone/>
            </a:pPr>
            <a:r>
              <a:rPr lang="ar-SA" altLang="en-US" sz="2600" b="1" dirty="0">
                <a:solidFill>
                  <a:srgbClr val="052977"/>
                </a:solidFill>
                <a:latin typeface="Cairo" pitchFamily="34" charset="0"/>
                <a:ea typeface="Cairo" pitchFamily="34" charset="-122"/>
                <a:cs typeface="Cairo" pitchFamily="34" charset="-120"/>
              </a:rPr>
              <a:t>نافذة أفراد تطبيق رقمي يجمع خدمات المدينة وأماكنها وفعالياتها في مكان واحد.</a:t>
            </a:r>
            <a:endParaRPr lang="ar-SA" sz="2600" dirty="0"/>
          </a:p>
        </p:txBody>
      </p:sp>
      <p:sp>
        <p:nvSpPr>
          <p:cNvPr id="12" name="anim3_95"/>
          <p:cNvSpPr txBox="1"/>
          <p:nvPr/>
        </p:nvSpPr>
        <p:spPr>
          <a:xfrm>
            <a:off x="4572000" y="3429000"/>
            <a:ext cx="7071055" cy="914400"/>
          </a:xfrm>
          <a:prstGeom prst="rect">
            <a:avLst/>
          </a:prstGeom>
          <a:noFill/>
          <a:ln/>
        </p:spPr>
        <p:txBody>
          <a:bodyPr wrap="square" lIns="0" tIns="0" rIns="0" bIns="0" rtlCol="0" anchor="t"/>
          <a:lstStyle/>
          <a:p>
            <a:pPr rtl="1" algn="r" indent="0" marL="0">
              <a:buNone/>
            </a:pPr>
            <a:r>
              <a:rPr lang="ar-SA" altLang="en-US" sz="1800" dirty="0">
                <a:solidFill>
                  <a:srgbClr val="1A2340"/>
                </a:solidFill>
                <a:latin typeface="Cairo" pitchFamily="34" charset="0"/>
                <a:ea typeface="Cairo" pitchFamily="34" charset="-122"/>
                <a:cs typeface="Cairo" pitchFamily="34" charset="-120"/>
              </a:rPr>
              <a:t>هدفه أن يكتشف السكان والزوار المدينة، ويصلوا إلى خدماتها بسهولة.</a:t>
            </a:r>
            <a:endParaRPr lang="ar-SA" sz="1800" dirty="0"/>
          </a:p>
        </p:txBody>
      </p:sp>
      <p:sp>
        <p:nvSpPr>
          <p:cNvPr id="13" name="anim4_96"/>
          <p:cNvSpPr/>
          <p:nvPr/>
        </p:nvSpPr>
        <p:spPr>
          <a:xfrm>
            <a:off x="9905695" y="4663440"/>
            <a:ext cx="1737360" cy="566928"/>
          </a:xfrm>
          <a:prstGeom prst="roundRect">
            <a:avLst>
              <a:gd name="adj" fmla="val 50000"/>
            </a:avLst>
          </a:prstGeom>
          <a:solidFill>
            <a:srgbClr val="EEF2FA"/>
          </a:solidFill>
          <a:ln/>
        </p:spPr>
      </p:sp>
      <p:pic>
        <p:nvPicPr>
          <p:cNvPr id="14" name="anim4_97" descr="نافذة أفراد">    </p:cNvPr>
          <p:cNvPicPr>
            <a:picLocks noChangeAspect="1"/>
          </p:cNvPicPr>
          <p:nvPr/>
        </p:nvPicPr>
        <p:blipFill>
          <a:blip r:embed="rId4"/>
          <a:stretch>
            <a:fillRect/>
          </a:stretch>
        </p:blipFill>
        <p:spPr>
          <a:xfrm>
            <a:off x="11167567" y="4809744"/>
            <a:ext cx="274320" cy="274320"/>
          </a:xfrm>
          <a:prstGeom prst="rect">
            <a:avLst/>
          </a:prstGeom>
        </p:spPr>
      </p:pic>
      <p:sp>
        <p:nvSpPr>
          <p:cNvPr id="15" name="anim4_98"/>
          <p:cNvSpPr txBox="1"/>
          <p:nvPr/>
        </p:nvSpPr>
        <p:spPr>
          <a:xfrm>
            <a:off x="10042855" y="4663440"/>
            <a:ext cx="1051560" cy="566928"/>
          </a:xfrm>
          <a:prstGeom prst="rect">
            <a:avLst/>
          </a:prstGeom>
          <a:noFill/>
          <a:ln/>
        </p:spPr>
        <p:txBody>
          <a:bodyPr wrap="square" lIns="0" tIns="0" rIns="0" bIns="0" rtlCol="0" anchor="ctr"/>
          <a:lstStyle/>
          <a:p>
            <a:pPr rtl="1" algn="r" indent="0" marL="0">
              <a:buNone/>
            </a:pPr>
            <a:r>
              <a:rPr lang="ar-SA" altLang="en-US" sz="1500" b="1" dirty="0">
                <a:solidFill>
                  <a:srgbClr val="052977"/>
                </a:solidFill>
                <a:latin typeface="Cairo" pitchFamily="34" charset="0"/>
                <a:ea typeface="Cairo" pitchFamily="34" charset="-122"/>
                <a:cs typeface="Cairo" pitchFamily="34" charset="-120"/>
              </a:rPr>
              <a:t>السكان</a:t>
            </a:r>
            <a:endParaRPr lang="ar-SA" sz="1500" dirty="0"/>
          </a:p>
        </p:txBody>
      </p:sp>
      <p:sp>
        <p:nvSpPr>
          <p:cNvPr id="16" name="anim4_99"/>
          <p:cNvSpPr/>
          <p:nvPr/>
        </p:nvSpPr>
        <p:spPr>
          <a:xfrm>
            <a:off x="7939735" y="4663440"/>
            <a:ext cx="1737360" cy="566928"/>
          </a:xfrm>
          <a:prstGeom prst="roundRect">
            <a:avLst>
              <a:gd name="adj" fmla="val 50000"/>
            </a:avLst>
          </a:prstGeom>
          <a:solidFill>
            <a:srgbClr val="EEF2FA"/>
          </a:solidFill>
          <a:ln/>
        </p:spPr>
      </p:sp>
      <p:pic>
        <p:nvPicPr>
          <p:cNvPr id="17" name="anim4_100" descr="نافذة أفراد">    </p:cNvPr>
          <p:cNvPicPr>
            <a:picLocks noChangeAspect="1"/>
          </p:cNvPicPr>
          <p:nvPr/>
        </p:nvPicPr>
        <p:blipFill>
          <a:blip r:embed="rId5"/>
          <a:stretch>
            <a:fillRect/>
          </a:stretch>
        </p:blipFill>
        <p:spPr>
          <a:xfrm>
            <a:off x="9201607" y="4809744"/>
            <a:ext cx="274320" cy="274320"/>
          </a:xfrm>
          <a:prstGeom prst="rect">
            <a:avLst/>
          </a:prstGeom>
        </p:spPr>
      </p:pic>
      <p:sp>
        <p:nvSpPr>
          <p:cNvPr id="18" name="anim4_101"/>
          <p:cNvSpPr txBox="1"/>
          <p:nvPr/>
        </p:nvSpPr>
        <p:spPr>
          <a:xfrm>
            <a:off x="8076895" y="4663440"/>
            <a:ext cx="1051560" cy="566928"/>
          </a:xfrm>
          <a:prstGeom prst="rect">
            <a:avLst/>
          </a:prstGeom>
          <a:noFill/>
          <a:ln/>
        </p:spPr>
        <p:txBody>
          <a:bodyPr wrap="square" lIns="0" tIns="0" rIns="0" bIns="0" rtlCol="0" anchor="ctr"/>
          <a:lstStyle/>
          <a:p>
            <a:pPr rtl="1" algn="r" indent="0" marL="0">
              <a:buNone/>
            </a:pPr>
            <a:r>
              <a:rPr lang="ar-SA" altLang="en-US" sz="1500" b="1" dirty="0">
                <a:solidFill>
                  <a:srgbClr val="052977"/>
                </a:solidFill>
                <a:latin typeface="Cairo" pitchFamily="34" charset="0"/>
                <a:ea typeface="Cairo" pitchFamily="34" charset="-122"/>
                <a:cs typeface="Cairo" pitchFamily="34" charset="-120"/>
              </a:rPr>
              <a:t>الزوار</a:t>
            </a:r>
            <a:endParaRPr lang="ar-SA"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childTnLst>
                          </p:cTn>
                        </p:par>
                        <p:par>
                          <p:cTn id="16"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childTnLst>
                          </p:cTn>
                        </p:par>
                        <p:par>
                          <p:cTn id="20" fill="hold">
                            <p:stCondLst>
                              <p:cond delay="140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childTnLst>
                          </p:cTn>
                        </p:par>
                        <p:par>
                          <p:cTn id="39" fill="hold">
                            <p:stCondLst>
                              <p:cond delay="21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5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5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5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5" grpId="0" animBg="1"/>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التطبيق</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لماذا نافذة؟</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7</a:t>
            </a:r>
            <a:endParaRPr lang="ar-SA" sz="1100" dirty="0"/>
          </a:p>
        </p:txBody>
      </p:sp>
      <p:sp>
        <p:nvSpPr>
          <p:cNvPr id="8" name="anim1_102"/>
          <p:cNvSpPr/>
          <p:nvPr/>
        </p:nvSpPr>
        <p:spPr>
          <a:xfrm>
            <a:off x="6339535" y="1737360"/>
            <a:ext cx="5303520" cy="2788920"/>
          </a:xfrm>
          <a:prstGeom prst="roundRect">
            <a:avLst>
              <a:gd name="adj" fmla="val 5902"/>
            </a:avLst>
          </a:prstGeom>
          <a:solidFill>
            <a:srgbClr val="FFFFFF"/>
          </a:solidFill>
          <a:ln w="12700">
            <a:solidFill>
              <a:srgbClr val="D6DEEE"/>
            </a:solidFill>
            <a:prstDash val="solid"/>
          </a:ln>
        </p:spPr>
      </p:sp>
      <p:sp>
        <p:nvSpPr>
          <p:cNvPr id="9" name="anim1_103"/>
          <p:cNvSpPr txBox="1"/>
          <p:nvPr/>
        </p:nvSpPr>
        <p:spPr>
          <a:xfrm>
            <a:off x="6659575" y="1965960"/>
            <a:ext cx="4663440" cy="457200"/>
          </a:xfrm>
          <a:prstGeom prst="rect">
            <a:avLst/>
          </a:prstGeom>
          <a:noFill/>
          <a:ln/>
        </p:spPr>
        <p:txBody>
          <a:bodyPr wrap="square" lIns="0" tIns="0" rIns="0" bIns="0" rtlCol="0" anchor="t"/>
          <a:lstStyle/>
          <a:p>
            <a:pPr rtl="1" algn="r" indent="0" marL="0">
              <a:buNone/>
            </a:pPr>
            <a:r>
              <a:rPr lang="ar-SA" altLang="en-US" sz="2000" b="1" dirty="0">
                <a:solidFill>
                  <a:srgbClr val="052977"/>
                </a:solidFill>
                <a:latin typeface="Cairo" pitchFamily="34" charset="0"/>
                <a:ea typeface="Cairo" pitchFamily="34" charset="-122"/>
                <a:cs typeface="Cairo" pitchFamily="34" charset="-120"/>
              </a:rPr>
              <a:t>التحدي</a:t>
            </a:r>
            <a:endParaRPr lang="ar-SA" sz="2000" dirty="0"/>
          </a:p>
        </p:txBody>
      </p:sp>
      <p:pic>
        <p:nvPicPr>
          <p:cNvPr id="10" name="anim1_104" descr="نافذة أفراد">    </p:cNvPr>
          <p:cNvPicPr>
            <a:picLocks noChangeAspect="1"/>
          </p:cNvPicPr>
          <p:nvPr/>
        </p:nvPicPr>
        <p:blipFill>
          <a:blip r:embed="rId3"/>
          <a:stretch>
            <a:fillRect/>
          </a:stretch>
        </p:blipFill>
        <p:spPr>
          <a:xfrm>
            <a:off x="11012119" y="2660904"/>
            <a:ext cx="310896" cy="310896"/>
          </a:xfrm>
          <a:prstGeom prst="rect">
            <a:avLst/>
          </a:prstGeom>
        </p:spPr>
      </p:pic>
      <p:sp>
        <p:nvSpPr>
          <p:cNvPr id="11" name="anim1_105"/>
          <p:cNvSpPr txBox="1"/>
          <p:nvPr/>
        </p:nvSpPr>
        <p:spPr>
          <a:xfrm>
            <a:off x="6613855" y="2606040"/>
            <a:ext cx="4251960" cy="420624"/>
          </a:xfrm>
          <a:prstGeom prst="rect">
            <a:avLst/>
          </a:prstGeom>
          <a:noFill/>
          <a:ln/>
        </p:spPr>
        <p:txBody>
          <a:bodyPr wrap="square" lIns="0" tIns="0" rIns="0" bIns="0" rtlCol="0" anchor="ctr"/>
          <a:lstStyle/>
          <a:p>
            <a:pPr rtl="1" algn="r" indent="0" marL="0">
              <a:buNone/>
            </a:pPr>
            <a:r>
              <a:rPr lang="ar-SA" altLang="en-US" sz="1500" dirty="0">
                <a:solidFill>
                  <a:srgbClr val="1A2340"/>
                </a:solidFill>
                <a:latin typeface="Cairo" pitchFamily="34" charset="0"/>
                <a:ea typeface="Cairo" pitchFamily="34" charset="-122"/>
                <a:cs typeface="Cairo" pitchFamily="34" charset="-120"/>
              </a:rPr>
              <a:t>معلومات المدينة موزعة على قنوات متعددة</a:t>
            </a:r>
            <a:endParaRPr lang="ar-SA" sz="1500" dirty="0"/>
          </a:p>
        </p:txBody>
      </p:sp>
      <p:pic>
        <p:nvPicPr>
          <p:cNvPr id="12" name="anim1_106" descr="نافذة أفراد">    </p:cNvPr>
          <p:cNvPicPr>
            <a:picLocks noChangeAspect="1"/>
          </p:cNvPicPr>
          <p:nvPr/>
        </p:nvPicPr>
        <p:blipFill>
          <a:blip r:embed="rId4"/>
          <a:stretch>
            <a:fillRect/>
          </a:stretch>
        </p:blipFill>
        <p:spPr>
          <a:xfrm>
            <a:off x="11012119" y="3264408"/>
            <a:ext cx="310896" cy="310896"/>
          </a:xfrm>
          <a:prstGeom prst="rect">
            <a:avLst/>
          </a:prstGeom>
        </p:spPr>
      </p:pic>
      <p:sp>
        <p:nvSpPr>
          <p:cNvPr id="13" name="anim1_107"/>
          <p:cNvSpPr txBox="1"/>
          <p:nvPr/>
        </p:nvSpPr>
        <p:spPr>
          <a:xfrm>
            <a:off x="6613855" y="3209544"/>
            <a:ext cx="4251960" cy="420624"/>
          </a:xfrm>
          <a:prstGeom prst="rect">
            <a:avLst/>
          </a:prstGeom>
          <a:noFill/>
          <a:ln/>
        </p:spPr>
        <p:txBody>
          <a:bodyPr wrap="square" lIns="0" tIns="0" rIns="0" bIns="0" rtlCol="0" anchor="ctr"/>
          <a:lstStyle/>
          <a:p>
            <a:pPr rtl="1" algn="r" indent="0" marL="0">
              <a:buNone/>
            </a:pPr>
            <a:r>
              <a:rPr lang="ar-SA" altLang="en-US" sz="1500" dirty="0">
                <a:solidFill>
                  <a:srgbClr val="1A2340"/>
                </a:solidFill>
                <a:latin typeface="Cairo" pitchFamily="34" charset="0"/>
                <a:ea typeface="Cairo" pitchFamily="34" charset="-122"/>
                <a:cs typeface="Cairo" pitchFamily="34" charset="-120"/>
              </a:rPr>
              <a:t>البحث عن الفعاليات والأماكن يأخذ وقتًا</a:t>
            </a:r>
            <a:endParaRPr lang="ar-SA" sz="1500" dirty="0"/>
          </a:p>
        </p:txBody>
      </p:sp>
      <p:pic>
        <p:nvPicPr>
          <p:cNvPr id="14" name="anim1_108" descr="نافذة أفراد">    </p:cNvPr>
          <p:cNvPicPr>
            <a:picLocks noChangeAspect="1"/>
          </p:cNvPicPr>
          <p:nvPr/>
        </p:nvPicPr>
        <p:blipFill>
          <a:blip r:embed="rId5"/>
          <a:stretch>
            <a:fillRect/>
          </a:stretch>
        </p:blipFill>
        <p:spPr>
          <a:xfrm>
            <a:off x="11012119" y="3867912"/>
            <a:ext cx="310896" cy="310896"/>
          </a:xfrm>
          <a:prstGeom prst="rect">
            <a:avLst/>
          </a:prstGeom>
        </p:spPr>
      </p:pic>
      <p:sp>
        <p:nvSpPr>
          <p:cNvPr id="15" name="anim1_109"/>
          <p:cNvSpPr txBox="1"/>
          <p:nvPr/>
        </p:nvSpPr>
        <p:spPr>
          <a:xfrm>
            <a:off x="6613855" y="3813048"/>
            <a:ext cx="4251960" cy="420624"/>
          </a:xfrm>
          <a:prstGeom prst="rect">
            <a:avLst/>
          </a:prstGeom>
          <a:noFill/>
          <a:ln/>
        </p:spPr>
        <p:txBody>
          <a:bodyPr wrap="square" lIns="0" tIns="0" rIns="0" bIns="0" rtlCol="0" anchor="ctr"/>
          <a:lstStyle/>
          <a:p>
            <a:pPr rtl="1" algn="r" indent="0" marL="0">
              <a:buNone/>
            </a:pPr>
            <a:r>
              <a:rPr lang="ar-SA" altLang="en-US" sz="1500" dirty="0">
                <a:solidFill>
                  <a:srgbClr val="1A2340"/>
                </a:solidFill>
                <a:latin typeface="Cairo" pitchFamily="34" charset="0"/>
                <a:ea typeface="Cairo" pitchFamily="34" charset="-122"/>
                <a:cs typeface="Cairo" pitchFamily="34" charset="-120"/>
              </a:rPr>
              <a:t>الزائر لا يعرف من أين يبدأ</a:t>
            </a:r>
            <a:endParaRPr lang="ar-SA" sz="1500" dirty="0"/>
          </a:p>
        </p:txBody>
      </p:sp>
      <p:sp>
        <p:nvSpPr>
          <p:cNvPr id="16" name="anim2_110"/>
          <p:cNvSpPr/>
          <p:nvPr/>
        </p:nvSpPr>
        <p:spPr>
          <a:xfrm>
            <a:off x="551383" y="1737360"/>
            <a:ext cx="5303520" cy="2788920"/>
          </a:xfrm>
          <a:prstGeom prst="roundRect">
            <a:avLst>
              <a:gd name="adj" fmla="val 5902"/>
            </a:avLst>
          </a:prstGeom>
          <a:solidFill>
            <a:srgbClr val="EEF2FA"/>
          </a:solidFill>
          <a:ln/>
        </p:spPr>
      </p:sp>
      <p:sp>
        <p:nvSpPr>
          <p:cNvPr id="17" name="anim2_111"/>
          <p:cNvSpPr txBox="1"/>
          <p:nvPr/>
        </p:nvSpPr>
        <p:spPr>
          <a:xfrm>
            <a:off x="871423" y="1965960"/>
            <a:ext cx="4663440" cy="457200"/>
          </a:xfrm>
          <a:prstGeom prst="rect">
            <a:avLst/>
          </a:prstGeom>
          <a:noFill/>
          <a:ln/>
        </p:spPr>
        <p:txBody>
          <a:bodyPr wrap="square" lIns="0" tIns="0" rIns="0" bIns="0" rtlCol="0" anchor="t"/>
          <a:lstStyle/>
          <a:p>
            <a:pPr rtl="1" algn="r" indent="0" marL="0">
              <a:buNone/>
            </a:pPr>
            <a:r>
              <a:rPr lang="ar-SA" altLang="en-US" sz="2000" b="1" dirty="0">
                <a:solidFill>
                  <a:srgbClr val="052977"/>
                </a:solidFill>
                <a:latin typeface="Cairo" pitchFamily="34" charset="0"/>
                <a:ea typeface="Cairo" pitchFamily="34" charset="-122"/>
                <a:cs typeface="Cairo" pitchFamily="34" charset="-120"/>
              </a:rPr>
              <a:t>ما تقدمه نافذة</a:t>
            </a:r>
            <a:endParaRPr lang="ar-SA" sz="2000" dirty="0"/>
          </a:p>
        </p:txBody>
      </p:sp>
      <p:pic>
        <p:nvPicPr>
          <p:cNvPr id="18" name="anim2_112" descr="نافذة أفراد">    </p:cNvPr>
          <p:cNvPicPr>
            <a:picLocks noChangeAspect="1"/>
          </p:cNvPicPr>
          <p:nvPr/>
        </p:nvPicPr>
        <p:blipFill>
          <a:blip r:embed="rId6"/>
          <a:stretch>
            <a:fillRect/>
          </a:stretch>
        </p:blipFill>
        <p:spPr>
          <a:xfrm>
            <a:off x="5223967" y="2660904"/>
            <a:ext cx="310896" cy="310896"/>
          </a:xfrm>
          <a:prstGeom prst="rect">
            <a:avLst/>
          </a:prstGeom>
        </p:spPr>
      </p:pic>
      <p:sp>
        <p:nvSpPr>
          <p:cNvPr id="19" name="anim2_113"/>
          <p:cNvSpPr txBox="1"/>
          <p:nvPr/>
        </p:nvSpPr>
        <p:spPr>
          <a:xfrm>
            <a:off x="825703" y="2606040"/>
            <a:ext cx="4251960" cy="420624"/>
          </a:xfrm>
          <a:prstGeom prst="rect">
            <a:avLst/>
          </a:prstGeom>
          <a:noFill/>
          <a:ln/>
        </p:spPr>
        <p:txBody>
          <a:bodyPr wrap="square" lIns="0" tIns="0" rIns="0" bIns="0" rtlCol="0" anchor="ctr"/>
          <a:lstStyle/>
          <a:p>
            <a:pPr rtl="1" algn="r" indent="0" marL="0">
              <a:buNone/>
            </a:pPr>
            <a:r>
              <a:rPr lang="ar-SA" altLang="en-US" sz="1500" dirty="0">
                <a:solidFill>
                  <a:srgbClr val="1A2340"/>
                </a:solidFill>
                <a:latin typeface="Cairo" pitchFamily="34" charset="0"/>
                <a:ea typeface="Cairo" pitchFamily="34" charset="-122"/>
                <a:cs typeface="Cairo" pitchFamily="34" charset="-120"/>
              </a:rPr>
              <a:t>نافذة واحدة لخدمات المدينة وفعالياتها</a:t>
            </a:r>
            <a:endParaRPr lang="ar-SA" sz="1500" dirty="0"/>
          </a:p>
        </p:txBody>
      </p:sp>
      <p:pic>
        <p:nvPicPr>
          <p:cNvPr id="20" name="anim2_114" descr="نافذة أفراد">    </p:cNvPr>
          <p:cNvPicPr>
            <a:picLocks noChangeAspect="1"/>
          </p:cNvPicPr>
          <p:nvPr/>
        </p:nvPicPr>
        <p:blipFill>
          <a:blip r:embed="rId7"/>
          <a:stretch>
            <a:fillRect/>
          </a:stretch>
        </p:blipFill>
        <p:spPr>
          <a:xfrm>
            <a:off x="5223967" y="3264408"/>
            <a:ext cx="310896" cy="310896"/>
          </a:xfrm>
          <a:prstGeom prst="rect">
            <a:avLst/>
          </a:prstGeom>
        </p:spPr>
      </p:pic>
      <p:sp>
        <p:nvSpPr>
          <p:cNvPr id="21" name="anim2_115"/>
          <p:cNvSpPr txBox="1"/>
          <p:nvPr/>
        </p:nvSpPr>
        <p:spPr>
          <a:xfrm>
            <a:off x="825703" y="3209544"/>
            <a:ext cx="4251960" cy="420624"/>
          </a:xfrm>
          <a:prstGeom prst="rect">
            <a:avLst/>
          </a:prstGeom>
          <a:noFill/>
          <a:ln/>
        </p:spPr>
        <p:txBody>
          <a:bodyPr wrap="square" lIns="0" tIns="0" rIns="0" bIns="0" rtlCol="0" anchor="ctr"/>
          <a:lstStyle/>
          <a:p>
            <a:pPr rtl="1" algn="r" indent="0" marL="0">
              <a:buNone/>
            </a:pPr>
            <a:r>
              <a:rPr lang="ar-SA" altLang="en-US" sz="1500" dirty="0">
                <a:solidFill>
                  <a:srgbClr val="1A2340"/>
                </a:solidFill>
                <a:latin typeface="Cairo" pitchFamily="34" charset="0"/>
                <a:ea typeface="Cairo" pitchFamily="34" charset="-122"/>
                <a:cs typeface="Cairo" pitchFamily="34" charset="-120"/>
              </a:rPr>
              <a:t>وصول أسرع للسكان والزوار</a:t>
            </a:r>
            <a:endParaRPr lang="ar-SA" sz="1500" dirty="0"/>
          </a:p>
        </p:txBody>
      </p:sp>
      <p:pic>
        <p:nvPicPr>
          <p:cNvPr id="22" name="anim2_116" descr="نافذة أفراد">    </p:cNvPr>
          <p:cNvPicPr>
            <a:picLocks noChangeAspect="1"/>
          </p:cNvPicPr>
          <p:nvPr/>
        </p:nvPicPr>
        <p:blipFill>
          <a:blip r:embed="rId8"/>
          <a:stretch>
            <a:fillRect/>
          </a:stretch>
        </p:blipFill>
        <p:spPr>
          <a:xfrm>
            <a:off x="5223967" y="3867912"/>
            <a:ext cx="310896" cy="310896"/>
          </a:xfrm>
          <a:prstGeom prst="rect">
            <a:avLst/>
          </a:prstGeom>
        </p:spPr>
      </p:pic>
      <p:sp>
        <p:nvSpPr>
          <p:cNvPr id="23" name="anim2_117"/>
          <p:cNvSpPr txBox="1"/>
          <p:nvPr/>
        </p:nvSpPr>
        <p:spPr>
          <a:xfrm>
            <a:off x="825703" y="3813048"/>
            <a:ext cx="4251960" cy="420624"/>
          </a:xfrm>
          <a:prstGeom prst="rect">
            <a:avLst/>
          </a:prstGeom>
          <a:noFill/>
          <a:ln/>
        </p:spPr>
        <p:txBody>
          <a:bodyPr wrap="square" lIns="0" tIns="0" rIns="0" bIns="0" rtlCol="0" anchor="ctr"/>
          <a:lstStyle/>
          <a:p>
            <a:pPr rtl="1" algn="r" indent="0" marL="0">
              <a:buNone/>
            </a:pPr>
            <a:r>
              <a:rPr lang="ar-SA" altLang="en-US" sz="1500" dirty="0">
                <a:solidFill>
                  <a:srgbClr val="1A2340"/>
                </a:solidFill>
                <a:latin typeface="Cairo" pitchFamily="34" charset="0"/>
                <a:ea typeface="Cairo" pitchFamily="34" charset="-122"/>
                <a:cs typeface="Cairo" pitchFamily="34" charset="-120"/>
              </a:rPr>
              <a:t>تجربة واحدة في المدن الأربع</a:t>
            </a:r>
            <a:endParaRPr lang="ar-SA" sz="1500" dirty="0"/>
          </a:p>
        </p:txBody>
      </p:sp>
      <p:sp>
        <p:nvSpPr>
          <p:cNvPr id="24" name="anim3_118"/>
          <p:cNvSpPr/>
          <p:nvPr/>
        </p:nvSpPr>
        <p:spPr>
          <a:xfrm>
            <a:off x="548640" y="4846320"/>
            <a:ext cx="11094415" cy="1051560"/>
          </a:xfrm>
          <a:prstGeom prst="roundRect">
            <a:avLst>
              <a:gd name="adj" fmla="val 13913"/>
            </a:avLst>
          </a:prstGeom>
          <a:solidFill>
            <a:srgbClr val="052977"/>
          </a:solidFill>
          <a:ln/>
        </p:spPr>
      </p:sp>
      <p:sp>
        <p:nvSpPr>
          <p:cNvPr id="25" name="anim3_119"/>
          <p:cNvSpPr/>
          <p:nvPr/>
        </p:nvSpPr>
        <p:spPr>
          <a:xfrm>
            <a:off x="10710367" y="5042916"/>
            <a:ext cx="658368" cy="658368"/>
          </a:xfrm>
          <a:prstGeom prst="ellipse">
            <a:avLst/>
          </a:prstGeom>
          <a:solidFill>
            <a:srgbClr val="FFFFFF"/>
          </a:solidFill>
          <a:ln/>
        </p:spPr>
      </p:sp>
      <p:pic>
        <p:nvPicPr>
          <p:cNvPr id="26" name="anim3_120" descr="نافذة أفراد">    </p:cNvPr>
          <p:cNvPicPr>
            <a:picLocks noChangeAspect="1"/>
          </p:cNvPicPr>
          <p:nvPr/>
        </p:nvPicPr>
        <p:blipFill>
          <a:blip r:embed="rId9"/>
          <a:stretch>
            <a:fillRect/>
          </a:stretch>
        </p:blipFill>
        <p:spPr>
          <a:xfrm>
            <a:off x="10894710" y="5227259"/>
            <a:ext cx="289682" cy="289682"/>
          </a:xfrm>
          <a:prstGeom prst="rect">
            <a:avLst/>
          </a:prstGeom>
        </p:spPr>
      </p:pic>
      <p:sp>
        <p:nvSpPr>
          <p:cNvPr id="27" name="anim3_121"/>
          <p:cNvSpPr txBox="1"/>
          <p:nvPr/>
        </p:nvSpPr>
        <p:spPr>
          <a:xfrm>
            <a:off x="914400" y="4846320"/>
            <a:ext cx="9585655" cy="105156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Cairo" pitchFamily="34" charset="0"/>
                <a:ea typeface="Cairo" pitchFamily="34" charset="-122"/>
                <a:cs typeface="Cairo" pitchFamily="34" charset="-120"/>
              </a:rPr>
              <a:t>سؤال للحضور: كم تطبيقًا أو موقعًا تحتاج اليوم لتعرف فعاليات مدينتك وتصل إلى خدماتها؟</a:t>
            </a:r>
            <a:endParaRPr lang="ar-SA"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2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childTnLst>
                          </p:cTn>
                        </p:par>
                        <p:par>
                          <p:cTn id="52" fill="hold">
                            <p:stCondLst>
                              <p:cond delay="700"/>
                            </p:stCondLst>
                            <p:childTnLst>
                              <p:par>
                                <p:cTn id="28" presetID="10"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5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par>
                          <p:cTn id="65" fill="hold">
                            <p:stCondLst>
                              <p:cond delay="1400"/>
                            </p:stCondLst>
                            <p:childTnLst>
                              <p:par>
                                <p:cTn id="53" presetID="10"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5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5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5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3" grpId="0" animBg="1"/>
      <p:bldP spid="15" grpId="0" animBg="1"/>
      <p:bldP spid="16" grpId="0" animBg="1"/>
      <p:bldP spid="17" grpId="0" animBg="1"/>
      <p:bldP spid="19" grpId="0" animBg="1"/>
      <p:bldP spid="21" grpId="0" animBg="1"/>
      <p:bldP spid="23" grpId="0" animBg="1"/>
      <p:bldP spid="24" grpId="0" animBg="1"/>
      <p:bldP spid="25"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خدمات نافذة أفراد</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اكتشف المدينة</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8</a:t>
            </a:r>
            <a:endParaRPr lang="ar-SA" sz="1100" dirty="0"/>
          </a:p>
        </p:txBody>
      </p:sp>
      <p:sp>
        <p:nvSpPr>
          <p:cNvPr id="8" name="anim1_122"/>
          <p:cNvSpPr/>
          <p:nvPr/>
        </p:nvSpPr>
        <p:spPr>
          <a:xfrm>
            <a:off x="8214055" y="1874520"/>
            <a:ext cx="3429000" cy="3246120"/>
          </a:xfrm>
          <a:prstGeom prst="roundRect">
            <a:avLst>
              <a:gd name="adj" fmla="val 5634"/>
            </a:avLst>
          </a:prstGeom>
          <a:solidFill>
            <a:srgbClr val="EEF2FA"/>
          </a:solidFill>
          <a:ln/>
        </p:spPr>
      </p:sp>
      <p:sp>
        <p:nvSpPr>
          <p:cNvPr id="9" name="anim1_123"/>
          <p:cNvSpPr/>
          <p:nvPr/>
        </p:nvSpPr>
        <p:spPr>
          <a:xfrm>
            <a:off x="9334195" y="2286000"/>
            <a:ext cx="1188720" cy="1188720"/>
          </a:xfrm>
          <a:prstGeom prst="ellipse">
            <a:avLst/>
          </a:prstGeom>
          <a:solidFill>
            <a:srgbClr val="052977"/>
          </a:solidFill>
          <a:ln/>
        </p:spPr>
      </p:sp>
      <p:pic>
        <p:nvPicPr>
          <p:cNvPr id="10" name="anim1_124" descr="نافذة أفراد">    </p:cNvPr>
          <p:cNvPicPr>
            <a:picLocks noChangeAspect="1"/>
          </p:cNvPicPr>
          <p:nvPr/>
        </p:nvPicPr>
        <p:blipFill>
          <a:blip r:embed="rId3"/>
          <a:stretch>
            <a:fillRect/>
          </a:stretch>
        </p:blipFill>
        <p:spPr>
          <a:xfrm>
            <a:off x="9667037" y="2618842"/>
            <a:ext cx="523037" cy="523037"/>
          </a:xfrm>
          <a:prstGeom prst="rect">
            <a:avLst/>
          </a:prstGeom>
        </p:spPr>
      </p:pic>
      <p:sp>
        <p:nvSpPr>
          <p:cNvPr id="11" name="anim1_125"/>
          <p:cNvSpPr txBox="1"/>
          <p:nvPr/>
        </p:nvSpPr>
        <p:spPr>
          <a:xfrm>
            <a:off x="8488375" y="3703320"/>
            <a:ext cx="2880360" cy="548640"/>
          </a:xfrm>
          <a:prstGeom prst="rect">
            <a:avLst/>
          </a:prstGeom>
          <a:noFill/>
          <a:ln/>
        </p:spPr>
        <p:txBody>
          <a:bodyPr wrap="square" lIns="0" tIns="0" rIns="0" bIns="0" rtlCol="0" anchor="t"/>
          <a:lstStyle/>
          <a:p>
            <a:pPr rtl="1" algn="ctr" indent="0" marL="0">
              <a:buNone/>
            </a:pPr>
            <a:r>
              <a:rPr lang="ar-SA" altLang="en-US" sz="2400" b="1" dirty="0">
                <a:solidFill>
                  <a:srgbClr val="052977"/>
                </a:solidFill>
                <a:latin typeface="Cairo" pitchFamily="34" charset="0"/>
                <a:ea typeface="Cairo" pitchFamily="34" charset="-122"/>
                <a:cs typeface="Cairo" pitchFamily="34" charset="-120"/>
              </a:rPr>
              <a:t>الأماكن</a:t>
            </a:r>
            <a:endParaRPr lang="ar-SA" sz="2400" dirty="0"/>
          </a:p>
        </p:txBody>
      </p:sp>
      <p:sp>
        <p:nvSpPr>
          <p:cNvPr id="12" name="anim1_126"/>
          <p:cNvSpPr txBox="1"/>
          <p:nvPr/>
        </p:nvSpPr>
        <p:spPr>
          <a:xfrm>
            <a:off x="8488375" y="4343400"/>
            <a:ext cx="2880360" cy="731520"/>
          </a:xfrm>
          <a:prstGeom prst="rect">
            <a:avLst/>
          </a:prstGeom>
          <a:noFill/>
          <a:ln/>
        </p:spPr>
        <p:txBody>
          <a:bodyPr wrap="square" lIns="0" tIns="0" rIns="0" bIns="0" rtlCol="0" anchor="t"/>
          <a:lstStyle/>
          <a:p>
            <a:pPr rtl="1" algn="ctr" indent="0" marL="0">
              <a:buNone/>
            </a:pPr>
            <a:r>
              <a:rPr lang="ar-SA" altLang="en-US" sz="1500" dirty="0">
                <a:solidFill>
                  <a:srgbClr val="1A2340"/>
                </a:solidFill>
                <a:latin typeface="Cairo" pitchFamily="34" charset="0"/>
                <a:ea typeface="Cairo" pitchFamily="34" charset="-122"/>
                <a:cs typeface="Cairo" pitchFamily="34" charset="-120"/>
              </a:rPr>
              <a:t>تعرّف على وجهات المدينة ومعالمها</a:t>
            </a:r>
            <a:endParaRPr lang="ar-SA" sz="1500" dirty="0"/>
          </a:p>
        </p:txBody>
      </p:sp>
      <p:sp>
        <p:nvSpPr>
          <p:cNvPr id="13" name="anim2_127"/>
          <p:cNvSpPr/>
          <p:nvPr/>
        </p:nvSpPr>
        <p:spPr>
          <a:xfrm>
            <a:off x="4382719" y="1874520"/>
            <a:ext cx="3429000" cy="3246120"/>
          </a:xfrm>
          <a:prstGeom prst="roundRect">
            <a:avLst>
              <a:gd name="adj" fmla="val 5634"/>
            </a:avLst>
          </a:prstGeom>
          <a:solidFill>
            <a:srgbClr val="EEF2FA"/>
          </a:solidFill>
          <a:ln/>
        </p:spPr>
      </p:sp>
      <p:sp>
        <p:nvSpPr>
          <p:cNvPr id="14" name="anim2_128"/>
          <p:cNvSpPr/>
          <p:nvPr/>
        </p:nvSpPr>
        <p:spPr>
          <a:xfrm>
            <a:off x="5502859" y="2286000"/>
            <a:ext cx="1188720" cy="1188720"/>
          </a:xfrm>
          <a:prstGeom prst="ellipse">
            <a:avLst/>
          </a:prstGeom>
          <a:solidFill>
            <a:srgbClr val="052977"/>
          </a:solidFill>
          <a:ln/>
        </p:spPr>
      </p:sp>
      <p:pic>
        <p:nvPicPr>
          <p:cNvPr id="15" name="anim2_129" descr="نافذة أفراد">    </p:cNvPr>
          <p:cNvPicPr>
            <a:picLocks noChangeAspect="1"/>
          </p:cNvPicPr>
          <p:nvPr/>
        </p:nvPicPr>
        <p:blipFill>
          <a:blip r:embed="rId4"/>
          <a:stretch>
            <a:fillRect/>
          </a:stretch>
        </p:blipFill>
        <p:spPr>
          <a:xfrm>
            <a:off x="5835701" y="2618842"/>
            <a:ext cx="523037" cy="523037"/>
          </a:xfrm>
          <a:prstGeom prst="rect">
            <a:avLst/>
          </a:prstGeom>
        </p:spPr>
      </p:pic>
      <p:sp>
        <p:nvSpPr>
          <p:cNvPr id="16" name="anim2_130"/>
          <p:cNvSpPr txBox="1"/>
          <p:nvPr/>
        </p:nvSpPr>
        <p:spPr>
          <a:xfrm>
            <a:off x="4657039" y="3703320"/>
            <a:ext cx="2880360" cy="548640"/>
          </a:xfrm>
          <a:prstGeom prst="rect">
            <a:avLst/>
          </a:prstGeom>
          <a:noFill/>
          <a:ln/>
        </p:spPr>
        <p:txBody>
          <a:bodyPr wrap="square" lIns="0" tIns="0" rIns="0" bIns="0" rtlCol="0" anchor="t"/>
          <a:lstStyle/>
          <a:p>
            <a:pPr rtl="1" algn="ctr" indent="0" marL="0">
              <a:buNone/>
            </a:pPr>
            <a:r>
              <a:rPr lang="ar-SA" altLang="en-US" sz="2400" b="1" dirty="0">
                <a:solidFill>
                  <a:srgbClr val="052977"/>
                </a:solidFill>
                <a:latin typeface="Cairo" pitchFamily="34" charset="0"/>
                <a:ea typeface="Cairo" pitchFamily="34" charset="-122"/>
                <a:cs typeface="Cairo" pitchFamily="34" charset="-120"/>
              </a:rPr>
              <a:t>الفعاليات</a:t>
            </a:r>
            <a:endParaRPr lang="ar-SA" sz="2400" dirty="0"/>
          </a:p>
        </p:txBody>
      </p:sp>
      <p:sp>
        <p:nvSpPr>
          <p:cNvPr id="17" name="anim2_131"/>
          <p:cNvSpPr txBox="1"/>
          <p:nvPr/>
        </p:nvSpPr>
        <p:spPr>
          <a:xfrm>
            <a:off x="4657039" y="4343400"/>
            <a:ext cx="2880360" cy="731520"/>
          </a:xfrm>
          <a:prstGeom prst="rect">
            <a:avLst/>
          </a:prstGeom>
          <a:noFill/>
          <a:ln/>
        </p:spPr>
        <p:txBody>
          <a:bodyPr wrap="square" lIns="0" tIns="0" rIns="0" bIns="0" rtlCol="0" anchor="t"/>
          <a:lstStyle/>
          <a:p>
            <a:pPr rtl="1" algn="ctr" indent="0" marL="0">
              <a:buNone/>
            </a:pPr>
            <a:r>
              <a:rPr lang="ar-SA" altLang="en-US" sz="1500" dirty="0">
                <a:solidFill>
                  <a:srgbClr val="1A2340"/>
                </a:solidFill>
                <a:latin typeface="Cairo" pitchFamily="34" charset="0"/>
                <a:ea typeface="Cairo" pitchFamily="34" charset="-122"/>
                <a:cs typeface="Cairo" pitchFamily="34" charset="-120"/>
              </a:rPr>
              <a:t>تابع فعاليات المدينة في مكان واحد</a:t>
            </a:r>
            <a:endParaRPr lang="ar-SA" sz="1500" dirty="0"/>
          </a:p>
        </p:txBody>
      </p:sp>
      <p:sp>
        <p:nvSpPr>
          <p:cNvPr id="18" name="anim3_132"/>
          <p:cNvSpPr/>
          <p:nvPr/>
        </p:nvSpPr>
        <p:spPr>
          <a:xfrm>
            <a:off x="551383" y="1874520"/>
            <a:ext cx="3429000" cy="3246120"/>
          </a:xfrm>
          <a:prstGeom prst="roundRect">
            <a:avLst>
              <a:gd name="adj" fmla="val 5634"/>
            </a:avLst>
          </a:prstGeom>
          <a:solidFill>
            <a:srgbClr val="EEF2FA"/>
          </a:solidFill>
          <a:ln/>
        </p:spPr>
      </p:sp>
      <p:sp>
        <p:nvSpPr>
          <p:cNvPr id="19" name="anim3_133"/>
          <p:cNvSpPr/>
          <p:nvPr/>
        </p:nvSpPr>
        <p:spPr>
          <a:xfrm>
            <a:off x="1671523" y="2286000"/>
            <a:ext cx="1188720" cy="1188720"/>
          </a:xfrm>
          <a:prstGeom prst="ellipse">
            <a:avLst/>
          </a:prstGeom>
          <a:solidFill>
            <a:srgbClr val="052977"/>
          </a:solidFill>
          <a:ln/>
        </p:spPr>
      </p:sp>
      <p:pic>
        <p:nvPicPr>
          <p:cNvPr id="20" name="anim3_134" descr="نافذة أفراد">    </p:cNvPr>
          <p:cNvPicPr>
            <a:picLocks noChangeAspect="1"/>
          </p:cNvPicPr>
          <p:nvPr/>
        </p:nvPicPr>
        <p:blipFill>
          <a:blip r:embed="rId5"/>
          <a:stretch>
            <a:fillRect/>
          </a:stretch>
        </p:blipFill>
        <p:spPr>
          <a:xfrm>
            <a:off x="2004365" y="2618842"/>
            <a:ext cx="523037" cy="523037"/>
          </a:xfrm>
          <a:prstGeom prst="rect">
            <a:avLst/>
          </a:prstGeom>
        </p:spPr>
      </p:pic>
      <p:sp>
        <p:nvSpPr>
          <p:cNvPr id="21" name="anim3_135"/>
          <p:cNvSpPr txBox="1"/>
          <p:nvPr/>
        </p:nvSpPr>
        <p:spPr>
          <a:xfrm>
            <a:off x="825703" y="3703320"/>
            <a:ext cx="2880360" cy="548640"/>
          </a:xfrm>
          <a:prstGeom prst="rect">
            <a:avLst/>
          </a:prstGeom>
          <a:noFill/>
          <a:ln/>
        </p:spPr>
        <p:txBody>
          <a:bodyPr wrap="square" lIns="0" tIns="0" rIns="0" bIns="0" rtlCol="0" anchor="t"/>
          <a:lstStyle/>
          <a:p>
            <a:pPr rtl="1" algn="ctr" indent="0" marL="0">
              <a:buNone/>
            </a:pPr>
            <a:r>
              <a:rPr lang="ar-SA" altLang="en-US" sz="2400" b="1" dirty="0">
                <a:solidFill>
                  <a:srgbClr val="052977"/>
                </a:solidFill>
                <a:latin typeface="Cairo" pitchFamily="34" charset="0"/>
                <a:ea typeface="Cairo" pitchFamily="34" charset="-122"/>
                <a:cs typeface="Cairo" pitchFamily="34" charset="-120"/>
              </a:rPr>
              <a:t>التجارب</a:t>
            </a:r>
            <a:endParaRPr lang="ar-SA" sz="2400" dirty="0"/>
          </a:p>
        </p:txBody>
      </p:sp>
      <p:sp>
        <p:nvSpPr>
          <p:cNvPr id="22" name="anim3_136"/>
          <p:cNvSpPr txBox="1"/>
          <p:nvPr/>
        </p:nvSpPr>
        <p:spPr>
          <a:xfrm>
            <a:off x="825703" y="4343400"/>
            <a:ext cx="2880360" cy="731520"/>
          </a:xfrm>
          <a:prstGeom prst="rect">
            <a:avLst/>
          </a:prstGeom>
          <a:noFill/>
          <a:ln/>
        </p:spPr>
        <p:txBody>
          <a:bodyPr wrap="square" lIns="0" tIns="0" rIns="0" bIns="0" rtlCol="0" anchor="t"/>
          <a:lstStyle/>
          <a:p>
            <a:pPr rtl="1" algn="ctr" indent="0" marL="0">
              <a:buNone/>
            </a:pPr>
            <a:r>
              <a:rPr lang="ar-SA" altLang="en-US" sz="1500" dirty="0">
                <a:solidFill>
                  <a:srgbClr val="1A2340"/>
                </a:solidFill>
                <a:latin typeface="Cairo" pitchFamily="34" charset="0"/>
                <a:ea typeface="Cairo" pitchFamily="34" charset="-122"/>
                <a:cs typeface="Cairo" pitchFamily="34" charset="-120"/>
              </a:rPr>
              <a:t>تجارب المدينة للسكان والزوار</a:t>
            </a:r>
            <a:endParaRPr lang="ar-SA"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childTnLst>
                          </p:cTn>
                        </p:par>
                        <p:par>
                          <p:cTn id="34"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par>
                          <p:cTn id="50" fill="hold">
                            <p:stCondLst>
                              <p:cond delay="14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خدمات نافذة أفراد</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أنجز من التطبيق</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9</a:t>
            </a:r>
            <a:endParaRPr lang="ar-SA" sz="1100" dirty="0"/>
          </a:p>
        </p:txBody>
      </p:sp>
      <p:sp>
        <p:nvSpPr>
          <p:cNvPr id="8" name="anim1_137"/>
          <p:cNvSpPr/>
          <p:nvPr/>
        </p:nvSpPr>
        <p:spPr>
          <a:xfrm>
            <a:off x="914400" y="1783080"/>
            <a:ext cx="3749040" cy="3749040"/>
          </a:xfrm>
          <a:prstGeom prst="ellipse">
            <a:avLst/>
          </a:prstGeom>
          <a:solidFill>
            <a:srgbClr val="EEF2FA"/>
          </a:solidFill>
          <a:ln/>
        </p:spPr>
      </p:sp>
      <p:pic>
        <p:nvPicPr>
          <p:cNvPr id="9" name="anim1_138" descr="نافذة أفراد">    </p:cNvPr>
          <p:cNvPicPr>
            <a:picLocks noChangeAspect="1"/>
          </p:cNvPicPr>
          <p:nvPr/>
        </p:nvPicPr>
        <p:blipFill>
          <a:blip r:embed="rId3"/>
          <a:stretch>
            <a:fillRect/>
          </a:stretch>
        </p:blipFill>
        <p:spPr>
          <a:xfrm>
            <a:off x="2057400" y="2788920"/>
            <a:ext cx="1463040" cy="1463040"/>
          </a:xfrm>
          <a:prstGeom prst="rect">
            <a:avLst/>
          </a:prstGeom>
        </p:spPr>
      </p:pic>
      <p:sp>
        <p:nvSpPr>
          <p:cNvPr id="10" name="anim2_139"/>
          <p:cNvSpPr/>
          <p:nvPr/>
        </p:nvSpPr>
        <p:spPr>
          <a:xfrm>
            <a:off x="5486400" y="1783080"/>
            <a:ext cx="6156655" cy="1051560"/>
          </a:xfrm>
          <a:prstGeom prst="roundRect">
            <a:avLst>
              <a:gd name="adj" fmla="val 13913"/>
            </a:avLst>
          </a:prstGeom>
          <a:solidFill>
            <a:srgbClr val="FFFFFF"/>
          </a:solidFill>
          <a:ln w="12700">
            <a:solidFill>
              <a:srgbClr val="D6DEEE"/>
            </a:solidFill>
            <a:prstDash val="solid"/>
          </a:ln>
        </p:spPr>
      </p:sp>
      <p:sp>
        <p:nvSpPr>
          <p:cNvPr id="11" name="anim2_140"/>
          <p:cNvSpPr/>
          <p:nvPr/>
        </p:nvSpPr>
        <p:spPr>
          <a:xfrm>
            <a:off x="10728655" y="1965960"/>
            <a:ext cx="685800" cy="685800"/>
          </a:xfrm>
          <a:prstGeom prst="ellipse">
            <a:avLst/>
          </a:prstGeom>
          <a:solidFill>
            <a:srgbClr val="052977"/>
          </a:solidFill>
          <a:ln/>
        </p:spPr>
      </p:sp>
      <p:pic>
        <p:nvPicPr>
          <p:cNvPr id="12" name="anim2_141" descr="نافذة أفراد">    </p:cNvPr>
          <p:cNvPicPr>
            <a:picLocks noChangeAspect="1"/>
          </p:cNvPicPr>
          <p:nvPr/>
        </p:nvPicPr>
        <p:blipFill>
          <a:blip r:embed="rId4"/>
          <a:stretch>
            <a:fillRect/>
          </a:stretch>
        </p:blipFill>
        <p:spPr>
          <a:xfrm>
            <a:off x="10920679" y="2157984"/>
            <a:ext cx="301752" cy="301752"/>
          </a:xfrm>
          <a:prstGeom prst="rect">
            <a:avLst/>
          </a:prstGeom>
        </p:spPr>
      </p:pic>
      <p:sp>
        <p:nvSpPr>
          <p:cNvPr id="13" name="anim2_142"/>
          <p:cNvSpPr txBox="1"/>
          <p:nvPr/>
        </p:nvSpPr>
        <p:spPr>
          <a:xfrm>
            <a:off x="5760720" y="1911096"/>
            <a:ext cx="4876495" cy="411480"/>
          </a:xfrm>
          <a:prstGeom prst="rect">
            <a:avLst/>
          </a:prstGeom>
          <a:noFill/>
          <a:ln/>
        </p:spPr>
        <p:txBody>
          <a:bodyPr wrap="square" lIns="0" tIns="0" rIns="0" bIns="0" rtlCol="0" anchor="t"/>
          <a:lstStyle/>
          <a:p>
            <a:pPr rtl="1" algn="r" indent="0" marL="0">
              <a:buNone/>
            </a:pPr>
            <a:r>
              <a:rPr lang="ar-SA" altLang="en-US" sz="1900" b="1" dirty="0">
                <a:solidFill>
                  <a:srgbClr val="052977"/>
                </a:solidFill>
                <a:latin typeface="Cairo" pitchFamily="34" charset="0"/>
                <a:ea typeface="Cairo" pitchFamily="34" charset="-122"/>
                <a:cs typeface="Cairo" pitchFamily="34" charset="-120"/>
              </a:rPr>
              <a:t>خدمات المدينة</a:t>
            </a:r>
            <a:endParaRPr lang="ar-SA" sz="1900" dirty="0"/>
          </a:p>
        </p:txBody>
      </p:sp>
      <p:sp>
        <p:nvSpPr>
          <p:cNvPr id="14" name="anim2_143"/>
          <p:cNvSpPr txBox="1"/>
          <p:nvPr/>
        </p:nvSpPr>
        <p:spPr>
          <a:xfrm>
            <a:off x="5760720" y="2331720"/>
            <a:ext cx="4876495" cy="365760"/>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الوصول إلى خدمات المدينة من مكان واحد</a:t>
            </a:r>
            <a:endParaRPr lang="ar-SA" sz="1400" dirty="0"/>
          </a:p>
        </p:txBody>
      </p:sp>
      <p:sp>
        <p:nvSpPr>
          <p:cNvPr id="15" name="anim3_144"/>
          <p:cNvSpPr/>
          <p:nvPr/>
        </p:nvSpPr>
        <p:spPr>
          <a:xfrm>
            <a:off x="5486400" y="3063240"/>
            <a:ext cx="6156655" cy="1051560"/>
          </a:xfrm>
          <a:prstGeom prst="roundRect">
            <a:avLst>
              <a:gd name="adj" fmla="val 13913"/>
            </a:avLst>
          </a:prstGeom>
          <a:solidFill>
            <a:srgbClr val="FFFFFF"/>
          </a:solidFill>
          <a:ln w="12700">
            <a:solidFill>
              <a:srgbClr val="D6DEEE"/>
            </a:solidFill>
            <a:prstDash val="solid"/>
          </a:ln>
        </p:spPr>
      </p:sp>
      <p:sp>
        <p:nvSpPr>
          <p:cNvPr id="16" name="anim3_145"/>
          <p:cNvSpPr/>
          <p:nvPr/>
        </p:nvSpPr>
        <p:spPr>
          <a:xfrm>
            <a:off x="10728655" y="3246120"/>
            <a:ext cx="685800" cy="685800"/>
          </a:xfrm>
          <a:prstGeom prst="ellipse">
            <a:avLst/>
          </a:prstGeom>
          <a:solidFill>
            <a:srgbClr val="052977"/>
          </a:solidFill>
          <a:ln/>
        </p:spPr>
      </p:sp>
      <p:pic>
        <p:nvPicPr>
          <p:cNvPr id="17" name="anim3_146" descr="نافذة أفراد">    </p:cNvPr>
          <p:cNvPicPr>
            <a:picLocks noChangeAspect="1"/>
          </p:cNvPicPr>
          <p:nvPr/>
        </p:nvPicPr>
        <p:blipFill>
          <a:blip r:embed="rId5"/>
          <a:stretch>
            <a:fillRect/>
          </a:stretch>
        </p:blipFill>
        <p:spPr>
          <a:xfrm>
            <a:off x="10920679" y="3438144"/>
            <a:ext cx="301752" cy="301752"/>
          </a:xfrm>
          <a:prstGeom prst="rect">
            <a:avLst/>
          </a:prstGeom>
        </p:spPr>
      </p:pic>
      <p:sp>
        <p:nvSpPr>
          <p:cNvPr id="18" name="anim3_147"/>
          <p:cNvSpPr txBox="1"/>
          <p:nvPr/>
        </p:nvSpPr>
        <p:spPr>
          <a:xfrm>
            <a:off x="5760720" y="3191256"/>
            <a:ext cx="4876495" cy="411480"/>
          </a:xfrm>
          <a:prstGeom prst="rect">
            <a:avLst/>
          </a:prstGeom>
          <a:noFill/>
          <a:ln/>
        </p:spPr>
        <p:txBody>
          <a:bodyPr wrap="square" lIns="0" tIns="0" rIns="0" bIns="0" rtlCol="0" anchor="t"/>
          <a:lstStyle/>
          <a:p>
            <a:pPr rtl="1" algn="r" indent="0" marL="0">
              <a:buNone/>
            </a:pPr>
            <a:r>
              <a:rPr lang="ar-SA" altLang="en-US" sz="1900" b="1" dirty="0">
                <a:solidFill>
                  <a:srgbClr val="052977"/>
                </a:solidFill>
                <a:latin typeface="Cairo" pitchFamily="34" charset="0"/>
                <a:ea typeface="Cairo" pitchFamily="34" charset="-122"/>
                <a:cs typeface="Cairo" pitchFamily="34" charset="-120"/>
              </a:rPr>
              <a:t>الفرص</a:t>
            </a:r>
            <a:endParaRPr lang="ar-SA" sz="1900" dirty="0"/>
          </a:p>
        </p:txBody>
      </p:sp>
      <p:sp>
        <p:nvSpPr>
          <p:cNvPr id="19" name="anim3_148"/>
          <p:cNvSpPr txBox="1"/>
          <p:nvPr/>
        </p:nvSpPr>
        <p:spPr>
          <a:xfrm>
            <a:off x="5760720" y="3611880"/>
            <a:ext cx="4876495" cy="365760"/>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اطّلع على فرص المدينة المتاحة</a:t>
            </a:r>
            <a:endParaRPr lang="ar-SA" sz="1400" dirty="0"/>
          </a:p>
        </p:txBody>
      </p:sp>
      <p:sp>
        <p:nvSpPr>
          <p:cNvPr id="20" name="anim4_149"/>
          <p:cNvSpPr/>
          <p:nvPr/>
        </p:nvSpPr>
        <p:spPr>
          <a:xfrm>
            <a:off x="5486400" y="4343400"/>
            <a:ext cx="6156655" cy="1051560"/>
          </a:xfrm>
          <a:prstGeom prst="roundRect">
            <a:avLst>
              <a:gd name="adj" fmla="val 13913"/>
            </a:avLst>
          </a:prstGeom>
          <a:solidFill>
            <a:srgbClr val="FFFFFF"/>
          </a:solidFill>
          <a:ln w="12700">
            <a:solidFill>
              <a:srgbClr val="D6DEEE"/>
            </a:solidFill>
            <a:prstDash val="solid"/>
          </a:ln>
        </p:spPr>
      </p:sp>
      <p:sp>
        <p:nvSpPr>
          <p:cNvPr id="21" name="anim4_150"/>
          <p:cNvSpPr/>
          <p:nvPr/>
        </p:nvSpPr>
        <p:spPr>
          <a:xfrm>
            <a:off x="10728655" y="4526280"/>
            <a:ext cx="685800" cy="685800"/>
          </a:xfrm>
          <a:prstGeom prst="ellipse">
            <a:avLst/>
          </a:prstGeom>
          <a:solidFill>
            <a:srgbClr val="052977"/>
          </a:solidFill>
          <a:ln/>
        </p:spPr>
      </p:sp>
      <p:pic>
        <p:nvPicPr>
          <p:cNvPr id="22" name="anim4_151" descr="نافذة أفراد">    </p:cNvPr>
          <p:cNvPicPr>
            <a:picLocks noChangeAspect="1"/>
          </p:cNvPicPr>
          <p:nvPr/>
        </p:nvPicPr>
        <p:blipFill>
          <a:blip r:embed="rId6"/>
          <a:stretch>
            <a:fillRect/>
          </a:stretch>
        </p:blipFill>
        <p:spPr>
          <a:xfrm>
            <a:off x="10920679" y="4718304"/>
            <a:ext cx="301752" cy="301752"/>
          </a:xfrm>
          <a:prstGeom prst="rect">
            <a:avLst/>
          </a:prstGeom>
        </p:spPr>
      </p:pic>
      <p:sp>
        <p:nvSpPr>
          <p:cNvPr id="23" name="anim4_152"/>
          <p:cNvSpPr txBox="1"/>
          <p:nvPr/>
        </p:nvSpPr>
        <p:spPr>
          <a:xfrm>
            <a:off x="5760720" y="4471416"/>
            <a:ext cx="4876495" cy="411480"/>
          </a:xfrm>
          <a:prstGeom prst="rect">
            <a:avLst/>
          </a:prstGeom>
          <a:noFill/>
          <a:ln/>
        </p:spPr>
        <p:txBody>
          <a:bodyPr wrap="square" lIns="0" tIns="0" rIns="0" bIns="0" rtlCol="0" anchor="t"/>
          <a:lstStyle/>
          <a:p>
            <a:pPr rtl="1" algn="r" indent="0" marL="0">
              <a:buNone/>
            </a:pPr>
            <a:r>
              <a:rPr lang="ar-SA" altLang="en-US" sz="1900" b="1" dirty="0">
                <a:solidFill>
                  <a:srgbClr val="052977"/>
                </a:solidFill>
                <a:latin typeface="Cairo" pitchFamily="34" charset="0"/>
                <a:ea typeface="Cairo" pitchFamily="34" charset="-122"/>
                <a:cs typeface="Cairo" pitchFamily="34" charset="-120"/>
              </a:rPr>
              <a:t>المدن الأربع</a:t>
            </a:r>
            <a:endParaRPr lang="ar-SA" sz="1900" dirty="0"/>
          </a:p>
        </p:txBody>
      </p:sp>
      <p:sp>
        <p:nvSpPr>
          <p:cNvPr id="24" name="anim4_153"/>
          <p:cNvSpPr txBox="1"/>
          <p:nvPr/>
        </p:nvSpPr>
        <p:spPr>
          <a:xfrm>
            <a:off x="5760720" y="4892040"/>
            <a:ext cx="4876495" cy="365760"/>
          </a:xfrm>
          <a:prstGeom prst="rect">
            <a:avLst/>
          </a:prstGeom>
          <a:noFill/>
          <a:ln/>
        </p:spPr>
        <p:txBody>
          <a:bodyPr wrap="square" lIns="0" tIns="0" rIns="0" bIns="0" rtlCol="0" anchor="t"/>
          <a:lstStyle/>
          <a:p>
            <a:pPr rtl="1" algn="r" indent="0" marL="0">
              <a:buNone/>
            </a:pPr>
            <a:r>
              <a:rPr lang="ar-SA" altLang="en-US" sz="1400" dirty="0">
                <a:solidFill>
                  <a:srgbClr val="5B6784"/>
                </a:solidFill>
                <a:latin typeface="Cairo" pitchFamily="34" charset="0"/>
                <a:ea typeface="Cairo" pitchFamily="34" charset="-122"/>
                <a:cs typeface="Cairo" pitchFamily="34" charset="-120"/>
              </a:rPr>
              <a:t>الجبيل ورأس الخير وينبع وجازان في تطبيق واحد</a:t>
            </a:r>
            <a:endParaRPr lang="ar-SA"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8"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par>
                          <p:cTn id="25" fill="hold">
                            <p:stCondLst>
                              <p:cond delay="700"/>
                            </p:stCondLst>
                            <p:childTnLst>
                              <p:par>
                                <p:cTn id="10" presetID="10"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5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childTnLst>
                          </p:cTn>
                        </p:par>
                        <p:par>
                          <p:cTn id="41" fill="hold">
                            <p:stCondLst>
                              <p:cond delay="1400"/>
                            </p:stCondLst>
                            <p:childTnLst>
                              <p:par>
                                <p:cTn id="26" presetID="10"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childTnLst>
                          </p:cTn>
                        </p:par>
                        <p:par>
                          <p:cTn id="57"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5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التطبيق</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رحلة المستخدم: من الفتح إلى الإنجاز</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10</a:t>
            </a:r>
            <a:endParaRPr lang="ar-SA" sz="1100" dirty="0"/>
          </a:p>
        </p:txBody>
      </p:sp>
      <p:sp>
        <p:nvSpPr>
          <p:cNvPr id="8" name="anim1_154"/>
          <p:cNvSpPr/>
          <p:nvPr/>
        </p:nvSpPr>
        <p:spPr>
          <a:xfrm>
            <a:off x="2141182" y="3360420"/>
            <a:ext cx="7909331" cy="0"/>
          </a:xfrm>
          <a:prstGeom prst="line">
            <a:avLst/>
          </a:prstGeom>
          <a:noFill/>
          <a:ln w="25400">
            <a:solidFill>
              <a:srgbClr val="D6DEEE"/>
            </a:solidFill>
            <a:prstDash val="solid"/>
          </a:ln>
        </p:spPr>
      </p:sp>
      <p:sp>
        <p:nvSpPr>
          <p:cNvPr id="9" name="anim1_155"/>
          <p:cNvSpPr/>
          <p:nvPr/>
        </p:nvSpPr>
        <p:spPr>
          <a:xfrm>
            <a:off x="9479013" y="2788920"/>
            <a:ext cx="1143000" cy="1143000"/>
          </a:xfrm>
          <a:prstGeom prst="ellipse">
            <a:avLst/>
          </a:prstGeom>
          <a:solidFill>
            <a:srgbClr val="052977"/>
          </a:solidFill>
          <a:ln/>
        </p:spPr>
      </p:sp>
      <p:pic>
        <p:nvPicPr>
          <p:cNvPr id="10" name="anim1_156" descr="نافذة أفراد">    </p:cNvPr>
          <p:cNvPicPr>
            <a:picLocks noChangeAspect="1"/>
          </p:cNvPicPr>
          <p:nvPr/>
        </p:nvPicPr>
        <p:blipFill>
          <a:blip r:embed="rId3"/>
          <a:stretch>
            <a:fillRect/>
          </a:stretch>
        </p:blipFill>
        <p:spPr>
          <a:xfrm>
            <a:off x="9799053" y="3108960"/>
            <a:ext cx="502920" cy="502920"/>
          </a:xfrm>
          <a:prstGeom prst="rect">
            <a:avLst/>
          </a:prstGeom>
        </p:spPr>
      </p:pic>
      <p:sp>
        <p:nvSpPr>
          <p:cNvPr id="11" name="anim1_157"/>
          <p:cNvSpPr/>
          <p:nvPr/>
        </p:nvSpPr>
        <p:spPr>
          <a:xfrm>
            <a:off x="10237965" y="2679192"/>
            <a:ext cx="420624" cy="420624"/>
          </a:xfrm>
          <a:prstGeom prst="ellipse">
            <a:avLst/>
          </a:prstGeom>
          <a:solidFill>
            <a:srgbClr val="FFFFFF"/>
          </a:solidFill>
          <a:ln w="19050">
            <a:solidFill>
              <a:srgbClr val="052977"/>
            </a:solidFill>
            <a:prstDash val="solid"/>
          </a:ln>
        </p:spPr>
      </p:sp>
      <p:sp>
        <p:nvSpPr>
          <p:cNvPr id="12" name="anim1_158"/>
          <p:cNvSpPr txBox="1"/>
          <p:nvPr/>
        </p:nvSpPr>
        <p:spPr>
          <a:xfrm>
            <a:off x="10237965" y="2679192"/>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052977"/>
                </a:solidFill>
                <a:latin typeface="Cairo" pitchFamily="34" charset="0"/>
                <a:ea typeface="Cairo" pitchFamily="34" charset="-122"/>
                <a:cs typeface="Cairo" pitchFamily="34" charset="-120"/>
              </a:rPr>
              <a:t>1</a:t>
            </a:r>
            <a:endParaRPr lang="ar-SA" sz="1400" dirty="0"/>
          </a:p>
        </p:txBody>
      </p:sp>
      <p:sp>
        <p:nvSpPr>
          <p:cNvPr id="13" name="anim1_159"/>
          <p:cNvSpPr txBox="1"/>
          <p:nvPr/>
        </p:nvSpPr>
        <p:spPr>
          <a:xfrm>
            <a:off x="8823731" y="4206240"/>
            <a:ext cx="2453564" cy="457200"/>
          </a:xfrm>
          <a:prstGeom prst="rect">
            <a:avLst/>
          </a:prstGeom>
          <a:noFill/>
          <a:ln/>
        </p:spPr>
        <p:txBody>
          <a:bodyPr wrap="square" lIns="0" tIns="0" rIns="0" bIns="0" rtlCol="0" anchor="t"/>
          <a:lstStyle/>
          <a:p>
            <a:pPr rtl="1" algn="ctr" indent="0" marL="0">
              <a:buNone/>
            </a:pPr>
            <a:r>
              <a:rPr lang="ar-SA" altLang="en-US" sz="2000" b="1" dirty="0">
                <a:solidFill>
                  <a:srgbClr val="052977"/>
                </a:solidFill>
                <a:latin typeface="Cairo" pitchFamily="34" charset="0"/>
                <a:ea typeface="Cairo" pitchFamily="34" charset="-122"/>
                <a:cs typeface="Cairo" pitchFamily="34" charset="-120"/>
              </a:rPr>
              <a:t>افتح التطبيق</a:t>
            </a:r>
            <a:endParaRPr lang="ar-SA" sz="2000" dirty="0"/>
          </a:p>
        </p:txBody>
      </p:sp>
      <p:sp>
        <p:nvSpPr>
          <p:cNvPr id="14" name="anim1_160"/>
          <p:cNvSpPr txBox="1"/>
          <p:nvPr/>
        </p:nvSpPr>
        <p:spPr>
          <a:xfrm>
            <a:off x="8823731" y="4709160"/>
            <a:ext cx="2453564" cy="411480"/>
          </a:xfrm>
          <a:prstGeom prst="rect">
            <a:avLst/>
          </a:prstGeom>
          <a:noFill/>
          <a:ln/>
        </p:spPr>
        <p:txBody>
          <a:bodyPr wrap="square" lIns="0" tIns="0" rIns="0" bIns="0" rtlCol="0" anchor="t"/>
          <a:lstStyle/>
          <a:p>
            <a:pPr rtl="1" algn="ctr" indent="0" marL="0">
              <a:buNone/>
            </a:pPr>
            <a:r>
              <a:rPr lang="ar-SA" altLang="en-US" sz="1500" dirty="0">
                <a:solidFill>
                  <a:srgbClr val="5B6784"/>
                </a:solidFill>
                <a:latin typeface="Cairo" pitchFamily="34" charset="0"/>
                <a:ea typeface="Cairo" pitchFamily="34" charset="-122"/>
                <a:cs typeface="Cairo" pitchFamily="34" charset="-120"/>
              </a:rPr>
              <a:t>ابدأ من الشاشة الرئيسية</a:t>
            </a:r>
            <a:endParaRPr lang="ar-SA" sz="1500" dirty="0"/>
          </a:p>
        </p:txBody>
      </p:sp>
      <p:sp>
        <p:nvSpPr>
          <p:cNvPr id="15" name="anim2_161"/>
          <p:cNvSpPr/>
          <p:nvPr/>
        </p:nvSpPr>
        <p:spPr>
          <a:xfrm>
            <a:off x="6842569" y="2788920"/>
            <a:ext cx="1143000" cy="1143000"/>
          </a:xfrm>
          <a:prstGeom prst="ellipse">
            <a:avLst/>
          </a:prstGeom>
          <a:solidFill>
            <a:srgbClr val="052977"/>
          </a:solidFill>
          <a:ln/>
        </p:spPr>
      </p:sp>
      <p:pic>
        <p:nvPicPr>
          <p:cNvPr id="16" name="anim2_162" descr="نافذة أفراد">    </p:cNvPr>
          <p:cNvPicPr>
            <a:picLocks noChangeAspect="1"/>
          </p:cNvPicPr>
          <p:nvPr/>
        </p:nvPicPr>
        <p:blipFill>
          <a:blip r:embed="rId4"/>
          <a:stretch>
            <a:fillRect/>
          </a:stretch>
        </p:blipFill>
        <p:spPr>
          <a:xfrm>
            <a:off x="7162609" y="3108960"/>
            <a:ext cx="502920" cy="502920"/>
          </a:xfrm>
          <a:prstGeom prst="rect">
            <a:avLst/>
          </a:prstGeom>
        </p:spPr>
      </p:pic>
      <p:sp>
        <p:nvSpPr>
          <p:cNvPr id="17" name="anim2_163"/>
          <p:cNvSpPr/>
          <p:nvPr/>
        </p:nvSpPr>
        <p:spPr>
          <a:xfrm>
            <a:off x="7601521" y="2679192"/>
            <a:ext cx="420624" cy="420624"/>
          </a:xfrm>
          <a:prstGeom prst="ellipse">
            <a:avLst/>
          </a:prstGeom>
          <a:solidFill>
            <a:srgbClr val="FFFFFF"/>
          </a:solidFill>
          <a:ln w="19050">
            <a:solidFill>
              <a:srgbClr val="052977"/>
            </a:solidFill>
            <a:prstDash val="solid"/>
          </a:ln>
        </p:spPr>
      </p:sp>
      <p:sp>
        <p:nvSpPr>
          <p:cNvPr id="18" name="anim2_164"/>
          <p:cNvSpPr txBox="1"/>
          <p:nvPr/>
        </p:nvSpPr>
        <p:spPr>
          <a:xfrm>
            <a:off x="7601521" y="2679192"/>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052977"/>
                </a:solidFill>
                <a:latin typeface="Cairo" pitchFamily="34" charset="0"/>
                <a:ea typeface="Cairo" pitchFamily="34" charset="-122"/>
                <a:cs typeface="Cairo" pitchFamily="34" charset="-120"/>
              </a:rPr>
              <a:t>2</a:t>
            </a:r>
            <a:endParaRPr lang="ar-SA" sz="1400" dirty="0"/>
          </a:p>
        </p:txBody>
      </p:sp>
      <p:sp>
        <p:nvSpPr>
          <p:cNvPr id="19" name="anim2_165"/>
          <p:cNvSpPr txBox="1"/>
          <p:nvPr/>
        </p:nvSpPr>
        <p:spPr>
          <a:xfrm>
            <a:off x="6187288" y="4206240"/>
            <a:ext cx="2453564" cy="457200"/>
          </a:xfrm>
          <a:prstGeom prst="rect">
            <a:avLst/>
          </a:prstGeom>
          <a:noFill/>
          <a:ln/>
        </p:spPr>
        <p:txBody>
          <a:bodyPr wrap="square" lIns="0" tIns="0" rIns="0" bIns="0" rtlCol="0" anchor="t"/>
          <a:lstStyle/>
          <a:p>
            <a:pPr rtl="1" algn="ctr" indent="0" marL="0">
              <a:buNone/>
            </a:pPr>
            <a:r>
              <a:rPr lang="ar-SA" altLang="en-US" sz="2000" b="1" dirty="0">
                <a:solidFill>
                  <a:srgbClr val="052977"/>
                </a:solidFill>
                <a:latin typeface="Cairo" pitchFamily="34" charset="0"/>
                <a:ea typeface="Cairo" pitchFamily="34" charset="-122"/>
                <a:cs typeface="Cairo" pitchFamily="34" charset="-120"/>
              </a:rPr>
              <a:t>اختر الخدمة</a:t>
            </a:r>
            <a:endParaRPr lang="ar-SA" sz="2000" dirty="0"/>
          </a:p>
        </p:txBody>
      </p:sp>
      <p:sp>
        <p:nvSpPr>
          <p:cNvPr id="20" name="anim2_166"/>
          <p:cNvSpPr txBox="1"/>
          <p:nvPr/>
        </p:nvSpPr>
        <p:spPr>
          <a:xfrm>
            <a:off x="6187288" y="4709160"/>
            <a:ext cx="2453564" cy="411480"/>
          </a:xfrm>
          <a:prstGeom prst="rect">
            <a:avLst/>
          </a:prstGeom>
          <a:noFill/>
          <a:ln/>
        </p:spPr>
        <p:txBody>
          <a:bodyPr wrap="square" lIns="0" tIns="0" rIns="0" bIns="0" rtlCol="0" anchor="t"/>
          <a:lstStyle/>
          <a:p>
            <a:pPr rtl="1" algn="ctr" indent="0" marL="0">
              <a:buNone/>
            </a:pPr>
            <a:r>
              <a:rPr lang="ar-SA" altLang="en-US" sz="1500" dirty="0">
                <a:solidFill>
                  <a:srgbClr val="5B6784"/>
                </a:solidFill>
                <a:latin typeface="Cairo" pitchFamily="34" charset="0"/>
                <a:ea typeface="Cairo" pitchFamily="34" charset="-122"/>
                <a:cs typeface="Cairo" pitchFamily="34" charset="-120"/>
              </a:rPr>
              <a:t>حدّد الخدمة التي تحتاجها</a:t>
            </a:r>
            <a:endParaRPr lang="ar-SA" sz="1500" dirty="0"/>
          </a:p>
        </p:txBody>
      </p:sp>
      <p:sp>
        <p:nvSpPr>
          <p:cNvPr id="21" name="anim3_167"/>
          <p:cNvSpPr/>
          <p:nvPr/>
        </p:nvSpPr>
        <p:spPr>
          <a:xfrm>
            <a:off x="4206126" y="2788920"/>
            <a:ext cx="1143000" cy="1143000"/>
          </a:xfrm>
          <a:prstGeom prst="ellipse">
            <a:avLst/>
          </a:prstGeom>
          <a:solidFill>
            <a:srgbClr val="052977"/>
          </a:solidFill>
          <a:ln/>
        </p:spPr>
      </p:sp>
      <p:pic>
        <p:nvPicPr>
          <p:cNvPr id="22" name="anim3_168" descr="نافذة أفراد">    </p:cNvPr>
          <p:cNvPicPr>
            <a:picLocks noChangeAspect="1"/>
          </p:cNvPicPr>
          <p:nvPr/>
        </p:nvPicPr>
        <p:blipFill>
          <a:blip r:embed="rId5"/>
          <a:stretch>
            <a:fillRect/>
          </a:stretch>
        </p:blipFill>
        <p:spPr>
          <a:xfrm>
            <a:off x="4526166" y="3108960"/>
            <a:ext cx="502920" cy="502920"/>
          </a:xfrm>
          <a:prstGeom prst="rect">
            <a:avLst/>
          </a:prstGeom>
        </p:spPr>
      </p:pic>
      <p:sp>
        <p:nvSpPr>
          <p:cNvPr id="23" name="anim3_169"/>
          <p:cNvSpPr/>
          <p:nvPr/>
        </p:nvSpPr>
        <p:spPr>
          <a:xfrm>
            <a:off x="4965078" y="2679192"/>
            <a:ext cx="420624" cy="420624"/>
          </a:xfrm>
          <a:prstGeom prst="ellipse">
            <a:avLst/>
          </a:prstGeom>
          <a:solidFill>
            <a:srgbClr val="FFFFFF"/>
          </a:solidFill>
          <a:ln w="19050">
            <a:solidFill>
              <a:srgbClr val="052977"/>
            </a:solidFill>
            <a:prstDash val="solid"/>
          </a:ln>
        </p:spPr>
      </p:sp>
      <p:sp>
        <p:nvSpPr>
          <p:cNvPr id="24" name="anim3_170"/>
          <p:cNvSpPr txBox="1"/>
          <p:nvPr/>
        </p:nvSpPr>
        <p:spPr>
          <a:xfrm>
            <a:off x="4965078" y="2679192"/>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052977"/>
                </a:solidFill>
                <a:latin typeface="Cairo" pitchFamily="34" charset="0"/>
                <a:ea typeface="Cairo" pitchFamily="34" charset="-122"/>
                <a:cs typeface="Cairo" pitchFamily="34" charset="-120"/>
              </a:rPr>
              <a:t>3</a:t>
            </a:r>
            <a:endParaRPr lang="ar-SA" sz="1400" dirty="0"/>
          </a:p>
        </p:txBody>
      </p:sp>
      <p:sp>
        <p:nvSpPr>
          <p:cNvPr id="25" name="anim3_171"/>
          <p:cNvSpPr txBox="1"/>
          <p:nvPr/>
        </p:nvSpPr>
        <p:spPr>
          <a:xfrm>
            <a:off x="3550844" y="4206240"/>
            <a:ext cx="2453564" cy="457200"/>
          </a:xfrm>
          <a:prstGeom prst="rect">
            <a:avLst/>
          </a:prstGeom>
          <a:noFill/>
          <a:ln/>
        </p:spPr>
        <p:txBody>
          <a:bodyPr wrap="square" lIns="0" tIns="0" rIns="0" bIns="0" rtlCol="0" anchor="t"/>
          <a:lstStyle/>
          <a:p>
            <a:pPr rtl="1" algn="ctr" indent="0" marL="0">
              <a:buNone/>
            </a:pPr>
            <a:r>
              <a:rPr lang="ar-SA" altLang="en-US" sz="2000" b="1" dirty="0">
                <a:solidFill>
                  <a:srgbClr val="052977"/>
                </a:solidFill>
                <a:latin typeface="Cairo" pitchFamily="34" charset="0"/>
                <a:ea typeface="Cairo" pitchFamily="34" charset="-122"/>
                <a:cs typeface="Cairo" pitchFamily="34" charset="-120"/>
              </a:rPr>
              <a:t>أكمل الطلب</a:t>
            </a:r>
            <a:endParaRPr lang="ar-SA" sz="2000" dirty="0"/>
          </a:p>
        </p:txBody>
      </p:sp>
      <p:sp>
        <p:nvSpPr>
          <p:cNvPr id="26" name="anim3_172"/>
          <p:cNvSpPr txBox="1"/>
          <p:nvPr/>
        </p:nvSpPr>
        <p:spPr>
          <a:xfrm>
            <a:off x="3550844" y="4709160"/>
            <a:ext cx="2453564" cy="411480"/>
          </a:xfrm>
          <a:prstGeom prst="rect">
            <a:avLst/>
          </a:prstGeom>
          <a:noFill/>
          <a:ln/>
        </p:spPr>
        <p:txBody>
          <a:bodyPr wrap="square" lIns="0" tIns="0" rIns="0" bIns="0" rtlCol="0" anchor="t"/>
          <a:lstStyle/>
          <a:p>
            <a:pPr rtl="1" algn="ctr" indent="0" marL="0">
              <a:buNone/>
            </a:pPr>
            <a:r>
              <a:rPr lang="ar-SA" altLang="en-US" sz="1500" dirty="0">
                <a:solidFill>
                  <a:srgbClr val="5B6784"/>
                </a:solidFill>
                <a:latin typeface="Cairo" pitchFamily="34" charset="0"/>
                <a:ea typeface="Cairo" pitchFamily="34" charset="-122"/>
                <a:cs typeface="Cairo" pitchFamily="34" charset="-120"/>
              </a:rPr>
              <a:t>أدخل البيانات المطلوبة</a:t>
            </a:r>
            <a:endParaRPr lang="ar-SA" sz="1500" dirty="0"/>
          </a:p>
        </p:txBody>
      </p:sp>
      <p:sp>
        <p:nvSpPr>
          <p:cNvPr id="27" name="anim4_173"/>
          <p:cNvSpPr/>
          <p:nvPr/>
        </p:nvSpPr>
        <p:spPr>
          <a:xfrm>
            <a:off x="1569682" y="2788920"/>
            <a:ext cx="1143000" cy="1143000"/>
          </a:xfrm>
          <a:prstGeom prst="ellipse">
            <a:avLst/>
          </a:prstGeom>
          <a:solidFill>
            <a:srgbClr val="052977"/>
          </a:solidFill>
          <a:ln/>
        </p:spPr>
      </p:sp>
      <p:pic>
        <p:nvPicPr>
          <p:cNvPr id="28" name="anim4_174" descr="نافذة أفراد">    </p:cNvPr>
          <p:cNvPicPr>
            <a:picLocks noChangeAspect="1"/>
          </p:cNvPicPr>
          <p:nvPr/>
        </p:nvPicPr>
        <p:blipFill>
          <a:blip r:embed="rId6"/>
          <a:stretch>
            <a:fillRect/>
          </a:stretch>
        </p:blipFill>
        <p:spPr>
          <a:xfrm>
            <a:off x="1889722" y="3108960"/>
            <a:ext cx="502920" cy="502920"/>
          </a:xfrm>
          <a:prstGeom prst="rect">
            <a:avLst/>
          </a:prstGeom>
        </p:spPr>
      </p:pic>
      <p:sp>
        <p:nvSpPr>
          <p:cNvPr id="29" name="anim4_175"/>
          <p:cNvSpPr/>
          <p:nvPr/>
        </p:nvSpPr>
        <p:spPr>
          <a:xfrm>
            <a:off x="2328634" y="2679192"/>
            <a:ext cx="420624" cy="420624"/>
          </a:xfrm>
          <a:prstGeom prst="ellipse">
            <a:avLst/>
          </a:prstGeom>
          <a:solidFill>
            <a:srgbClr val="FFFFFF"/>
          </a:solidFill>
          <a:ln w="19050">
            <a:solidFill>
              <a:srgbClr val="052977"/>
            </a:solidFill>
            <a:prstDash val="solid"/>
          </a:ln>
        </p:spPr>
      </p:sp>
      <p:sp>
        <p:nvSpPr>
          <p:cNvPr id="30" name="anim4_176"/>
          <p:cNvSpPr txBox="1"/>
          <p:nvPr/>
        </p:nvSpPr>
        <p:spPr>
          <a:xfrm>
            <a:off x="2328634" y="2679192"/>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052977"/>
                </a:solidFill>
                <a:latin typeface="Cairo" pitchFamily="34" charset="0"/>
                <a:ea typeface="Cairo" pitchFamily="34" charset="-122"/>
                <a:cs typeface="Cairo" pitchFamily="34" charset="-120"/>
              </a:rPr>
              <a:t>4</a:t>
            </a:r>
            <a:endParaRPr lang="ar-SA" sz="1400" dirty="0"/>
          </a:p>
        </p:txBody>
      </p:sp>
      <p:sp>
        <p:nvSpPr>
          <p:cNvPr id="31" name="anim4_177"/>
          <p:cNvSpPr txBox="1"/>
          <p:nvPr/>
        </p:nvSpPr>
        <p:spPr>
          <a:xfrm>
            <a:off x="914400" y="4206240"/>
            <a:ext cx="2453564" cy="457200"/>
          </a:xfrm>
          <a:prstGeom prst="rect">
            <a:avLst/>
          </a:prstGeom>
          <a:noFill/>
          <a:ln/>
        </p:spPr>
        <p:txBody>
          <a:bodyPr wrap="square" lIns="0" tIns="0" rIns="0" bIns="0" rtlCol="0" anchor="t"/>
          <a:lstStyle/>
          <a:p>
            <a:pPr rtl="1" algn="ctr" indent="0" marL="0">
              <a:buNone/>
            </a:pPr>
            <a:r>
              <a:rPr lang="ar-SA" altLang="en-US" sz="2000" b="1" dirty="0">
                <a:solidFill>
                  <a:srgbClr val="052977"/>
                </a:solidFill>
                <a:latin typeface="Cairo" pitchFamily="34" charset="0"/>
                <a:ea typeface="Cairo" pitchFamily="34" charset="-122"/>
                <a:cs typeface="Cairo" pitchFamily="34" charset="-120"/>
              </a:rPr>
              <a:t>أنجز الخدمة</a:t>
            </a:r>
            <a:endParaRPr lang="ar-SA" sz="2000" dirty="0"/>
          </a:p>
        </p:txBody>
      </p:sp>
      <p:sp>
        <p:nvSpPr>
          <p:cNvPr id="32" name="anim4_178"/>
          <p:cNvSpPr txBox="1"/>
          <p:nvPr/>
        </p:nvSpPr>
        <p:spPr>
          <a:xfrm>
            <a:off x="914400" y="4709160"/>
            <a:ext cx="2453564" cy="411480"/>
          </a:xfrm>
          <a:prstGeom prst="rect">
            <a:avLst/>
          </a:prstGeom>
          <a:noFill/>
          <a:ln/>
        </p:spPr>
        <p:txBody>
          <a:bodyPr wrap="square" lIns="0" tIns="0" rIns="0" bIns="0" rtlCol="0" anchor="t"/>
          <a:lstStyle/>
          <a:p>
            <a:pPr rtl="1" algn="ctr" indent="0" marL="0">
              <a:buNone/>
            </a:pPr>
            <a:r>
              <a:rPr lang="ar-SA" altLang="en-US" sz="1500" dirty="0">
                <a:solidFill>
                  <a:srgbClr val="5B6784"/>
                </a:solidFill>
                <a:latin typeface="Cairo" pitchFamily="34" charset="0"/>
                <a:ea typeface="Cairo" pitchFamily="34" charset="-122"/>
                <a:cs typeface="Cairo" pitchFamily="34" charset="-120"/>
              </a:rPr>
              <a:t>من التطبيق نفسه</a:t>
            </a:r>
            <a:endParaRPr lang="ar-SA"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2" fill="hold">
                      <p:stCondLst>
                        <p:cond delay="indefinite"/>
                        <p:cond evt="onBegin" delay="0">
                          <p:tn val="2"/>
                        </p:cond>
                      </p:stCondLst>
                      <p:childTnLst>
                        <p:par>
                          <p:cTn id="2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par>
                          <p:cTn id="43" fill="hold">
                            <p:stCondLst>
                              <p:cond delay="70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childTnLst>
                          </p:cTn>
                        </p:par>
                        <p:par>
                          <p:cTn id="62" fill="hold">
                            <p:stCondLst>
                              <p:cond delay="1400"/>
                            </p:stCondLst>
                            <p:childTnLst>
                              <p:par>
                                <p:cTn id="44" presetID="10" presetClass="entr" presetSubtype="0"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5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5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5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5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50"/>
                                        <p:tgtEl>
                                          <p:spTgt spid="26"/>
                                        </p:tgtEl>
                                      </p:cBhvr>
                                    </p:animEffect>
                                  </p:childTnLst>
                                </p:cTn>
                              </p:par>
                            </p:childTnLst>
                          </p:cTn>
                        </p:par>
                        <p:par>
                          <p:cTn id="81" fill="hold">
                            <p:stCondLst>
                              <p:cond delay="2100"/>
                            </p:stCondLst>
                            <p:childTnLst>
                              <p:par>
                                <p:cTn id="63" presetID="10" presetClass="entr" presetSubtype="0"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50"/>
                                        <p:tgtEl>
                                          <p:spTgt spid="2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5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50"/>
                                        <p:tgtEl>
                                          <p:spTgt spid="3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9" grpId="0" animBg="1"/>
      <p:bldP spid="30"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المستقبل</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52977"/>
                </a:solidFill>
                <a:latin typeface="Cairo" pitchFamily="34" charset="0"/>
                <a:ea typeface="Cairo" pitchFamily="34" charset="-122"/>
                <a:cs typeface="Cairo" pitchFamily="34" charset="-120"/>
              </a:rPr>
              <a:t>خارطة الطريق</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11</a:t>
            </a:r>
            <a:endParaRPr lang="ar-SA" sz="1100" dirty="0"/>
          </a:p>
        </p:txBody>
      </p:sp>
      <p:sp>
        <p:nvSpPr>
          <p:cNvPr id="8" name="anim2_179"/>
          <p:cNvSpPr/>
          <p:nvPr/>
        </p:nvSpPr>
        <p:spPr>
          <a:xfrm flipH="1">
            <a:off x="5715000" y="3566160"/>
            <a:ext cx="761695" cy="0"/>
          </a:xfrm>
          <a:prstGeom prst="line">
            <a:avLst/>
          </a:prstGeom>
          <a:noFill/>
          <a:ln w="25400">
            <a:solidFill>
              <a:srgbClr val="5B6784"/>
            </a:solidFill>
            <a:prstDash val="solid"/>
            <a:tailEnd type="triangle"/>
          </a:ln>
        </p:spPr>
      </p:sp>
      <p:sp>
        <p:nvSpPr>
          <p:cNvPr id="9" name="anim1_180"/>
          <p:cNvSpPr/>
          <p:nvPr/>
        </p:nvSpPr>
        <p:spPr>
          <a:xfrm>
            <a:off x="6705295" y="1920240"/>
            <a:ext cx="4572000" cy="3291840"/>
          </a:xfrm>
          <a:prstGeom prst="roundRect">
            <a:avLst>
              <a:gd name="adj" fmla="val 5556"/>
            </a:avLst>
          </a:prstGeom>
          <a:solidFill>
            <a:srgbClr val="EEF2FA"/>
          </a:solidFill>
          <a:ln/>
        </p:spPr>
      </p:sp>
      <p:sp>
        <p:nvSpPr>
          <p:cNvPr id="10" name="anim1_181"/>
          <p:cNvSpPr/>
          <p:nvPr/>
        </p:nvSpPr>
        <p:spPr>
          <a:xfrm>
            <a:off x="9997135" y="2286000"/>
            <a:ext cx="914400" cy="914400"/>
          </a:xfrm>
          <a:prstGeom prst="ellipse">
            <a:avLst/>
          </a:prstGeom>
          <a:solidFill>
            <a:srgbClr val="052977"/>
          </a:solidFill>
          <a:ln/>
        </p:spPr>
      </p:sp>
      <p:pic>
        <p:nvPicPr>
          <p:cNvPr id="11" name="anim1_182" descr="نافذة أفراد">    </p:cNvPr>
          <p:cNvPicPr>
            <a:picLocks noChangeAspect="1"/>
          </p:cNvPicPr>
          <p:nvPr/>
        </p:nvPicPr>
        <p:blipFill>
          <a:blip r:embed="rId3"/>
          <a:stretch>
            <a:fillRect/>
          </a:stretch>
        </p:blipFill>
        <p:spPr>
          <a:xfrm>
            <a:off x="10244023" y="2532888"/>
            <a:ext cx="420624" cy="420624"/>
          </a:xfrm>
          <a:prstGeom prst="rect">
            <a:avLst/>
          </a:prstGeom>
        </p:spPr>
      </p:pic>
      <p:sp>
        <p:nvSpPr>
          <p:cNvPr id="12" name="anim1_183"/>
          <p:cNvSpPr txBox="1"/>
          <p:nvPr/>
        </p:nvSpPr>
        <p:spPr>
          <a:xfrm>
            <a:off x="7071055" y="2331720"/>
            <a:ext cx="2743200"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المرحلة الأولى</a:t>
            </a:r>
            <a:endParaRPr lang="ar-SA" sz="1400" dirty="0"/>
          </a:p>
        </p:txBody>
      </p:sp>
      <p:sp>
        <p:nvSpPr>
          <p:cNvPr id="13" name="anim1_184"/>
          <p:cNvSpPr txBox="1"/>
          <p:nvPr/>
        </p:nvSpPr>
        <p:spPr>
          <a:xfrm>
            <a:off x="7071055" y="3383280"/>
            <a:ext cx="3840480" cy="640080"/>
          </a:xfrm>
          <a:prstGeom prst="rect">
            <a:avLst/>
          </a:prstGeom>
          <a:noFill/>
          <a:ln/>
        </p:spPr>
        <p:txBody>
          <a:bodyPr wrap="square" lIns="0" tIns="0" rIns="0" bIns="0" rtlCol="0" anchor="t"/>
          <a:lstStyle/>
          <a:p>
            <a:pPr rtl="1" algn="r" indent="0" marL="0">
              <a:buNone/>
            </a:pPr>
            <a:r>
              <a:rPr lang="ar-SA" altLang="en-US" sz="3000" b="1" dirty="0">
                <a:solidFill>
                  <a:srgbClr val="052977"/>
                </a:solidFill>
                <a:latin typeface="Cairo" pitchFamily="34" charset="0"/>
                <a:ea typeface="Cairo" pitchFamily="34" charset="-122"/>
                <a:cs typeface="Cairo" pitchFamily="34" charset="-120"/>
              </a:rPr>
              <a:t>نافذة أفراد</a:t>
            </a:r>
            <a:endParaRPr lang="ar-SA" sz="3000" dirty="0"/>
          </a:p>
        </p:txBody>
      </p:sp>
      <p:sp>
        <p:nvSpPr>
          <p:cNvPr id="14" name="anim1_185"/>
          <p:cNvSpPr txBox="1"/>
          <p:nvPr/>
        </p:nvSpPr>
        <p:spPr>
          <a:xfrm>
            <a:off x="7071055" y="4023360"/>
            <a:ext cx="3840480" cy="411480"/>
          </a:xfrm>
          <a:prstGeom prst="rect">
            <a:avLst/>
          </a:prstGeom>
          <a:noFill/>
          <a:ln/>
        </p:spPr>
        <p:txBody>
          <a:bodyPr wrap="square" lIns="0" tIns="0" rIns="0" bIns="0" rtlCol="0" anchor="t"/>
          <a:lstStyle/>
          <a:p>
            <a:pPr rtl="1" algn="r" indent="0" marL="0">
              <a:buNone/>
            </a:pPr>
            <a:r>
              <a:rPr lang="ar-SA" altLang="en-US" sz="1600" dirty="0">
                <a:solidFill>
                  <a:srgbClr val="1A2340"/>
                </a:solidFill>
                <a:latin typeface="Cairo" pitchFamily="34" charset="0"/>
                <a:ea typeface="Cairo" pitchFamily="34" charset="-122"/>
                <a:cs typeface="Cairo" pitchFamily="34" charset="-120"/>
              </a:rPr>
              <a:t>للسكان والزوار</a:t>
            </a:r>
            <a:endParaRPr lang="ar-SA" sz="1600" dirty="0"/>
          </a:p>
        </p:txBody>
      </p:sp>
      <p:sp>
        <p:nvSpPr>
          <p:cNvPr id="15" name="anim1_186"/>
          <p:cNvSpPr/>
          <p:nvPr/>
        </p:nvSpPr>
        <p:spPr>
          <a:xfrm>
            <a:off x="9174175" y="4480560"/>
            <a:ext cx="1737360" cy="457200"/>
          </a:xfrm>
          <a:prstGeom prst="roundRect">
            <a:avLst>
              <a:gd name="adj" fmla="val 50000"/>
            </a:avLst>
          </a:prstGeom>
          <a:solidFill>
            <a:srgbClr val="052977"/>
          </a:solidFill>
          <a:ln/>
        </p:spPr>
      </p:sp>
      <p:sp>
        <p:nvSpPr>
          <p:cNvPr id="16" name="anim1_187"/>
          <p:cNvSpPr txBox="1"/>
          <p:nvPr/>
        </p:nvSpPr>
        <p:spPr>
          <a:xfrm>
            <a:off x="9174175" y="4480560"/>
            <a:ext cx="1737360" cy="457200"/>
          </a:xfrm>
          <a:prstGeom prst="rect">
            <a:avLst/>
          </a:prstGeom>
          <a:noFill/>
          <a:ln/>
        </p:spPr>
        <p:txBody>
          <a:bodyPr wrap="square" lIns="0" tIns="0" rIns="0" bIns="0" rtlCol="0" anchor="ctr"/>
          <a:lstStyle/>
          <a:p>
            <a:pPr rtl="1" algn="ctr" indent="0" marL="0">
              <a:buNone/>
            </a:pPr>
            <a:r>
              <a:rPr lang="ar-SA" altLang="en-US" sz="1400" b="1" dirty="0">
                <a:solidFill>
                  <a:srgbClr val="FFFFFF"/>
                </a:solidFill>
                <a:latin typeface="Cairo" pitchFamily="34" charset="0"/>
                <a:ea typeface="Cairo" pitchFamily="34" charset="-122"/>
                <a:cs typeface="Cairo" pitchFamily="34" charset="-120"/>
              </a:rPr>
              <a:t>الإطلاق الحالي</a:t>
            </a:r>
            <a:endParaRPr lang="ar-SA" sz="1400" dirty="0"/>
          </a:p>
        </p:txBody>
      </p:sp>
      <p:sp>
        <p:nvSpPr>
          <p:cNvPr id="17" name="anim3_188"/>
          <p:cNvSpPr/>
          <p:nvPr/>
        </p:nvSpPr>
        <p:spPr>
          <a:xfrm>
            <a:off x="914400" y="1920240"/>
            <a:ext cx="4572000" cy="3291840"/>
          </a:xfrm>
          <a:prstGeom prst="roundRect">
            <a:avLst>
              <a:gd name="adj" fmla="val 5556"/>
            </a:avLst>
          </a:prstGeom>
          <a:solidFill>
            <a:srgbClr val="E7F5F0"/>
          </a:solidFill>
          <a:ln/>
        </p:spPr>
      </p:sp>
      <p:sp>
        <p:nvSpPr>
          <p:cNvPr id="18" name="anim3_189"/>
          <p:cNvSpPr/>
          <p:nvPr/>
        </p:nvSpPr>
        <p:spPr>
          <a:xfrm>
            <a:off x="4206240" y="2286000"/>
            <a:ext cx="914400" cy="914400"/>
          </a:xfrm>
          <a:prstGeom prst="ellipse">
            <a:avLst/>
          </a:prstGeom>
          <a:solidFill>
            <a:srgbClr val="0B9D76"/>
          </a:solidFill>
          <a:ln/>
        </p:spPr>
      </p:sp>
      <p:pic>
        <p:nvPicPr>
          <p:cNvPr id="19" name="anim3_190" descr="نافذة أفراد">    </p:cNvPr>
          <p:cNvPicPr>
            <a:picLocks noChangeAspect="1"/>
          </p:cNvPicPr>
          <p:nvPr/>
        </p:nvPicPr>
        <p:blipFill>
          <a:blip r:embed="rId4"/>
          <a:stretch>
            <a:fillRect/>
          </a:stretch>
        </p:blipFill>
        <p:spPr>
          <a:xfrm>
            <a:off x="4453128" y="2532888"/>
            <a:ext cx="420624" cy="420624"/>
          </a:xfrm>
          <a:prstGeom prst="rect">
            <a:avLst/>
          </a:prstGeom>
        </p:spPr>
      </p:pic>
      <p:sp>
        <p:nvSpPr>
          <p:cNvPr id="20" name="anim3_191"/>
          <p:cNvSpPr txBox="1"/>
          <p:nvPr/>
        </p:nvSpPr>
        <p:spPr>
          <a:xfrm>
            <a:off x="1280160" y="2331720"/>
            <a:ext cx="2743200" cy="365760"/>
          </a:xfrm>
          <a:prstGeom prst="rect">
            <a:avLst/>
          </a:prstGeom>
          <a:noFill/>
          <a:ln/>
        </p:spPr>
        <p:txBody>
          <a:bodyPr wrap="square" lIns="0" tIns="0" rIns="0" bIns="0" rtlCol="0" anchor="t"/>
          <a:lstStyle/>
          <a:p>
            <a:pPr rtl="1" algn="r" indent="0" marL="0">
              <a:buNone/>
            </a:pPr>
            <a:r>
              <a:rPr lang="ar-SA" altLang="en-US" sz="1400" b="1" dirty="0">
                <a:solidFill>
                  <a:srgbClr val="5B6784"/>
                </a:solidFill>
                <a:latin typeface="Cairo" pitchFamily="34" charset="0"/>
                <a:ea typeface="Cairo" pitchFamily="34" charset="-122"/>
                <a:cs typeface="Cairo" pitchFamily="34" charset="-120"/>
              </a:rPr>
              <a:t>المرحلة التالية</a:t>
            </a:r>
            <a:endParaRPr lang="ar-SA" sz="1400" dirty="0"/>
          </a:p>
        </p:txBody>
      </p:sp>
      <p:sp>
        <p:nvSpPr>
          <p:cNvPr id="21" name="anim3_192"/>
          <p:cNvSpPr txBox="1"/>
          <p:nvPr/>
        </p:nvSpPr>
        <p:spPr>
          <a:xfrm>
            <a:off x="1280160" y="3383280"/>
            <a:ext cx="3840480" cy="640080"/>
          </a:xfrm>
          <a:prstGeom prst="rect">
            <a:avLst/>
          </a:prstGeom>
          <a:noFill/>
          <a:ln/>
        </p:spPr>
        <p:txBody>
          <a:bodyPr wrap="square" lIns="0" tIns="0" rIns="0" bIns="0" rtlCol="0" anchor="t"/>
          <a:lstStyle/>
          <a:p>
            <a:pPr rtl="1" algn="r" indent="0" marL="0">
              <a:buNone/>
            </a:pPr>
            <a:r>
              <a:rPr lang="ar-SA" altLang="en-US" sz="3000" b="1" dirty="0">
                <a:solidFill>
                  <a:srgbClr val="0B9D76"/>
                </a:solidFill>
                <a:latin typeface="Cairo" pitchFamily="34" charset="0"/>
                <a:ea typeface="Cairo" pitchFamily="34" charset="-122"/>
                <a:cs typeface="Cairo" pitchFamily="34" charset="-120"/>
              </a:rPr>
              <a:t>نافذة أعمال</a:t>
            </a:r>
            <a:endParaRPr lang="ar-SA" sz="3000" dirty="0"/>
          </a:p>
        </p:txBody>
      </p:sp>
      <p:sp>
        <p:nvSpPr>
          <p:cNvPr id="22" name="anim3_193"/>
          <p:cNvSpPr txBox="1"/>
          <p:nvPr/>
        </p:nvSpPr>
        <p:spPr>
          <a:xfrm>
            <a:off x="1280160" y="4023360"/>
            <a:ext cx="3840480" cy="411480"/>
          </a:xfrm>
          <a:prstGeom prst="rect">
            <a:avLst/>
          </a:prstGeom>
          <a:noFill/>
          <a:ln/>
        </p:spPr>
        <p:txBody>
          <a:bodyPr wrap="square" lIns="0" tIns="0" rIns="0" bIns="0" rtlCol="0" anchor="t"/>
          <a:lstStyle/>
          <a:p>
            <a:pPr rtl="1" algn="r" indent="0" marL="0">
              <a:buNone/>
            </a:pPr>
            <a:r>
              <a:rPr lang="ar-SA" altLang="en-US" sz="1600" dirty="0">
                <a:solidFill>
                  <a:srgbClr val="1A2340"/>
                </a:solidFill>
                <a:latin typeface="Cairo" pitchFamily="34" charset="0"/>
                <a:ea typeface="Cairo" pitchFamily="34" charset="-122"/>
                <a:cs typeface="Cairo" pitchFamily="34" charset="-120"/>
              </a:rPr>
              <a:t>لأصحاب الأعمال</a:t>
            </a:r>
            <a:endParaRPr lang="ar-SA" sz="1600" dirty="0"/>
          </a:p>
        </p:txBody>
      </p:sp>
      <p:sp>
        <p:nvSpPr>
          <p:cNvPr id="23" name="anim3_194"/>
          <p:cNvSpPr/>
          <p:nvPr/>
        </p:nvSpPr>
        <p:spPr>
          <a:xfrm>
            <a:off x="3383280" y="4480560"/>
            <a:ext cx="1737360" cy="457200"/>
          </a:xfrm>
          <a:prstGeom prst="roundRect">
            <a:avLst>
              <a:gd name="adj" fmla="val 50000"/>
            </a:avLst>
          </a:prstGeom>
          <a:solidFill>
            <a:srgbClr val="0B9D76"/>
          </a:solidFill>
          <a:ln/>
        </p:spPr>
      </p:sp>
      <p:sp>
        <p:nvSpPr>
          <p:cNvPr id="24" name="anim3_195"/>
          <p:cNvSpPr txBox="1"/>
          <p:nvPr/>
        </p:nvSpPr>
        <p:spPr>
          <a:xfrm>
            <a:off x="3383280" y="4480560"/>
            <a:ext cx="1737360" cy="457200"/>
          </a:xfrm>
          <a:prstGeom prst="rect">
            <a:avLst/>
          </a:prstGeom>
          <a:noFill/>
          <a:ln/>
        </p:spPr>
        <p:txBody>
          <a:bodyPr wrap="square" lIns="0" tIns="0" rIns="0" bIns="0" rtlCol="0" anchor="ctr"/>
          <a:lstStyle/>
          <a:p>
            <a:pPr rtl="1" algn="ctr" indent="0" marL="0">
              <a:buNone/>
            </a:pPr>
            <a:r>
              <a:rPr lang="ar-SA" altLang="en-US" sz="1400" b="1" dirty="0">
                <a:solidFill>
                  <a:srgbClr val="FFFFFF"/>
                </a:solidFill>
                <a:latin typeface="Cairo" pitchFamily="34" charset="0"/>
                <a:ea typeface="Cairo" pitchFamily="34" charset="-122"/>
                <a:cs typeface="Cairo" pitchFamily="34" charset="-120"/>
              </a:rPr>
              <a:t>قادمة</a:t>
            </a:r>
            <a:endParaRPr lang="ar-SA"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2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5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5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5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50"/>
                                        <p:tgtEl>
                                          <p:spTgt spid="16"/>
                                        </p:tgtEl>
                                      </p:cBhvr>
                                    </p:animEffect>
                                  </p:childTnLst>
                                </p:cTn>
                              </p:par>
                            </p:childTnLst>
                          </p:cTn>
                        </p:par>
                        <p:par>
                          <p:cTn id="31" fill="hold">
                            <p:stCondLst>
                              <p:cond delay="7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50"/>
                                        <p:tgtEl>
                                          <p:spTgt spid="8"/>
                                        </p:tgtEl>
                                      </p:cBhvr>
                                    </p:animEffect>
                                  </p:childTnLst>
                                </p:cTn>
                              </p:par>
                            </p:childTnLst>
                          </p:cTn>
                        </p:par>
                        <p:par>
                          <p:cTn id="56" fill="hold">
                            <p:stCondLst>
                              <p:cond delay="1400"/>
                            </p:stCondLst>
                            <p:childTnLst>
                              <p:par>
                                <p:cTn id="32" presetID="10"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5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5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0B9D76"/>
                </a:solidFill>
                <a:latin typeface="Cairo" pitchFamily="34" charset="0"/>
                <a:ea typeface="Cairo" pitchFamily="34" charset="-122"/>
                <a:cs typeface="Cairo" pitchFamily="34" charset="-120"/>
              </a:rPr>
              <a:t>نافذة أعمال</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B9D76"/>
                </a:solidFill>
                <a:latin typeface="Cairo" pitchFamily="34" charset="0"/>
                <a:ea typeface="Cairo" pitchFamily="34" charset="-122"/>
                <a:cs typeface="Cairo" pitchFamily="34" charset="-120"/>
              </a:rPr>
              <a:t>نافذة أعمال: الخدمات القادمة</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12</a:t>
            </a:r>
            <a:endParaRPr lang="ar-SA" sz="1100" dirty="0"/>
          </a:p>
        </p:txBody>
      </p:sp>
      <p:sp>
        <p:nvSpPr>
          <p:cNvPr id="8" name="anim1_196"/>
          <p:cNvSpPr/>
          <p:nvPr/>
        </p:nvSpPr>
        <p:spPr>
          <a:xfrm>
            <a:off x="8214055" y="1874520"/>
            <a:ext cx="3429000" cy="3246120"/>
          </a:xfrm>
          <a:prstGeom prst="roundRect">
            <a:avLst>
              <a:gd name="adj" fmla="val 5634"/>
            </a:avLst>
          </a:prstGeom>
          <a:solidFill>
            <a:srgbClr val="FFFFFF"/>
          </a:solidFill>
          <a:ln w="15875">
            <a:solidFill>
              <a:srgbClr val="0B9D76"/>
            </a:solidFill>
            <a:prstDash val="solid"/>
          </a:ln>
        </p:spPr>
      </p:sp>
      <p:sp>
        <p:nvSpPr>
          <p:cNvPr id="9" name="anim1_197"/>
          <p:cNvSpPr/>
          <p:nvPr/>
        </p:nvSpPr>
        <p:spPr>
          <a:xfrm>
            <a:off x="9379915" y="2331720"/>
            <a:ext cx="1097280" cy="1097280"/>
          </a:xfrm>
          <a:prstGeom prst="ellipse">
            <a:avLst/>
          </a:prstGeom>
          <a:solidFill>
            <a:srgbClr val="E7F5F0"/>
          </a:solidFill>
          <a:ln/>
        </p:spPr>
      </p:sp>
      <p:pic>
        <p:nvPicPr>
          <p:cNvPr id="10" name="anim1_198" descr="نافذة أفراد">    </p:cNvPr>
          <p:cNvPicPr>
            <a:picLocks noChangeAspect="1"/>
          </p:cNvPicPr>
          <p:nvPr/>
        </p:nvPicPr>
        <p:blipFill>
          <a:blip r:embed="rId3"/>
          <a:stretch>
            <a:fillRect/>
          </a:stretch>
        </p:blipFill>
        <p:spPr>
          <a:xfrm>
            <a:off x="9687154" y="2638958"/>
            <a:ext cx="482803" cy="482803"/>
          </a:xfrm>
          <a:prstGeom prst="rect">
            <a:avLst/>
          </a:prstGeom>
        </p:spPr>
      </p:pic>
      <p:sp>
        <p:nvSpPr>
          <p:cNvPr id="11" name="anim1_199"/>
          <p:cNvSpPr txBox="1"/>
          <p:nvPr/>
        </p:nvSpPr>
        <p:spPr>
          <a:xfrm>
            <a:off x="8488375" y="3703320"/>
            <a:ext cx="2880360" cy="548640"/>
          </a:xfrm>
          <a:prstGeom prst="rect">
            <a:avLst/>
          </a:prstGeom>
          <a:noFill/>
          <a:ln/>
        </p:spPr>
        <p:txBody>
          <a:bodyPr wrap="square" lIns="0" tIns="0" rIns="0" bIns="0" rtlCol="0" anchor="t"/>
          <a:lstStyle/>
          <a:p>
            <a:pPr rtl="1" algn="ctr" indent="0" marL="0">
              <a:buNone/>
            </a:pPr>
            <a:r>
              <a:rPr lang="ar-SA" altLang="en-US" sz="2200" b="1" dirty="0">
                <a:solidFill>
                  <a:srgbClr val="0B9D76"/>
                </a:solidFill>
                <a:latin typeface="Cairo" pitchFamily="34" charset="0"/>
                <a:ea typeface="Cairo" pitchFamily="34" charset="-122"/>
                <a:cs typeface="Cairo" pitchFamily="34" charset="-120"/>
              </a:rPr>
              <a:t>خدمات المنشآت</a:t>
            </a:r>
            <a:endParaRPr lang="ar-SA" sz="2200" dirty="0"/>
          </a:p>
        </p:txBody>
      </p:sp>
      <p:sp>
        <p:nvSpPr>
          <p:cNvPr id="12" name="anim1_200"/>
          <p:cNvSpPr txBox="1"/>
          <p:nvPr/>
        </p:nvSpPr>
        <p:spPr>
          <a:xfrm>
            <a:off x="8488375" y="4343400"/>
            <a:ext cx="2880360" cy="731520"/>
          </a:xfrm>
          <a:prstGeom prst="rect">
            <a:avLst/>
          </a:prstGeom>
          <a:noFill/>
          <a:ln/>
        </p:spPr>
        <p:txBody>
          <a:bodyPr wrap="square" lIns="0" tIns="0" rIns="0" bIns="0" rtlCol="0" anchor="t"/>
          <a:lstStyle/>
          <a:p>
            <a:pPr rtl="1" algn="ctr" indent="0" marL="0">
              <a:buNone/>
            </a:pPr>
            <a:r>
              <a:rPr lang="ar-SA" altLang="en-US" sz="1500" dirty="0">
                <a:solidFill>
                  <a:srgbClr val="1A2340"/>
                </a:solidFill>
                <a:latin typeface="Cairo" pitchFamily="34" charset="0"/>
                <a:ea typeface="Cairo" pitchFamily="34" charset="-122"/>
                <a:cs typeface="Cairo" pitchFamily="34" charset="-120"/>
              </a:rPr>
              <a:t>خدمات المدينة لأصحاب الأعمال من نافذة واحدة</a:t>
            </a:r>
            <a:endParaRPr lang="ar-SA" sz="1500" dirty="0"/>
          </a:p>
        </p:txBody>
      </p:sp>
      <p:sp>
        <p:nvSpPr>
          <p:cNvPr id="13" name="anim2_201"/>
          <p:cNvSpPr/>
          <p:nvPr/>
        </p:nvSpPr>
        <p:spPr>
          <a:xfrm>
            <a:off x="4382719" y="1874520"/>
            <a:ext cx="3429000" cy="3246120"/>
          </a:xfrm>
          <a:prstGeom prst="roundRect">
            <a:avLst>
              <a:gd name="adj" fmla="val 5634"/>
            </a:avLst>
          </a:prstGeom>
          <a:solidFill>
            <a:srgbClr val="FFFFFF"/>
          </a:solidFill>
          <a:ln w="15875">
            <a:solidFill>
              <a:srgbClr val="0B9D76"/>
            </a:solidFill>
            <a:prstDash val="solid"/>
          </a:ln>
        </p:spPr>
      </p:sp>
      <p:sp>
        <p:nvSpPr>
          <p:cNvPr id="14" name="anim2_202"/>
          <p:cNvSpPr/>
          <p:nvPr/>
        </p:nvSpPr>
        <p:spPr>
          <a:xfrm>
            <a:off x="5548579" y="2331720"/>
            <a:ext cx="1097280" cy="1097280"/>
          </a:xfrm>
          <a:prstGeom prst="ellipse">
            <a:avLst/>
          </a:prstGeom>
          <a:solidFill>
            <a:srgbClr val="E7F5F0"/>
          </a:solidFill>
          <a:ln/>
        </p:spPr>
      </p:sp>
      <p:pic>
        <p:nvPicPr>
          <p:cNvPr id="15" name="anim2_203" descr="نافذة أفراد">    </p:cNvPr>
          <p:cNvPicPr>
            <a:picLocks noChangeAspect="1"/>
          </p:cNvPicPr>
          <p:nvPr/>
        </p:nvPicPr>
        <p:blipFill>
          <a:blip r:embed="rId4"/>
          <a:stretch>
            <a:fillRect/>
          </a:stretch>
        </p:blipFill>
        <p:spPr>
          <a:xfrm>
            <a:off x="5855818" y="2638958"/>
            <a:ext cx="482803" cy="482803"/>
          </a:xfrm>
          <a:prstGeom prst="rect">
            <a:avLst/>
          </a:prstGeom>
        </p:spPr>
      </p:pic>
      <p:sp>
        <p:nvSpPr>
          <p:cNvPr id="16" name="anim2_204"/>
          <p:cNvSpPr txBox="1"/>
          <p:nvPr/>
        </p:nvSpPr>
        <p:spPr>
          <a:xfrm>
            <a:off x="4657039" y="3703320"/>
            <a:ext cx="2880360" cy="548640"/>
          </a:xfrm>
          <a:prstGeom prst="rect">
            <a:avLst/>
          </a:prstGeom>
          <a:noFill/>
          <a:ln/>
        </p:spPr>
        <p:txBody>
          <a:bodyPr wrap="square" lIns="0" tIns="0" rIns="0" bIns="0" rtlCol="0" anchor="t"/>
          <a:lstStyle/>
          <a:p>
            <a:pPr rtl="1" algn="ctr" indent="0" marL="0">
              <a:buNone/>
            </a:pPr>
            <a:r>
              <a:rPr lang="ar-SA" altLang="en-US" sz="2200" b="1" dirty="0">
                <a:solidFill>
                  <a:srgbClr val="0B9D76"/>
                </a:solidFill>
                <a:latin typeface="Cairo" pitchFamily="34" charset="0"/>
                <a:ea typeface="Cairo" pitchFamily="34" charset="-122"/>
                <a:cs typeface="Cairo" pitchFamily="34" charset="-120"/>
              </a:rPr>
              <a:t>فرص الأعمال</a:t>
            </a:r>
            <a:endParaRPr lang="ar-SA" sz="2200" dirty="0"/>
          </a:p>
        </p:txBody>
      </p:sp>
      <p:sp>
        <p:nvSpPr>
          <p:cNvPr id="17" name="anim2_205"/>
          <p:cNvSpPr txBox="1"/>
          <p:nvPr/>
        </p:nvSpPr>
        <p:spPr>
          <a:xfrm>
            <a:off x="4657039" y="4343400"/>
            <a:ext cx="2880360" cy="731520"/>
          </a:xfrm>
          <a:prstGeom prst="rect">
            <a:avLst/>
          </a:prstGeom>
          <a:noFill/>
          <a:ln/>
        </p:spPr>
        <p:txBody>
          <a:bodyPr wrap="square" lIns="0" tIns="0" rIns="0" bIns="0" rtlCol="0" anchor="t"/>
          <a:lstStyle/>
          <a:p>
            <a:pPr rtl="1" algn="ctr" indent="0" marL="0">
              <a:buNone/>
            </a:pPr>
            <a:r>
              <a:rPr lang="ar-SA" altLang="en-US" sz="1500" dirty="0">
                <a:solidFill>
                  <a:srgbClr val="1A2340"/>
                </a:solidFill>
                <a:latin typeface="Cairo" pitchFamily="34" charset="0"/>
                <a:ea typeface="Cairo" pitchFamily="34" charset="-122"/>
                <a:cs typeface="Cairo" pitchFamily="34" charset="-120"/>
              </a:rPr>
              <a:t>الاطلاع على الفرص في المدن الأربع</a:t>
            </a:r>
            <a:endParaRPr lang="ar-SA" sz="1500" dirty="0"/>
          </a:p>
        </p:txBody>
      </p:sp>
      <p:sp>
        <p:nvSpPr>
          <p:cNvPr id="18" name="anim3_206"/>
          <p:cNvSpPr/>
          <p:nvPr/>
        </p:nvSpPr>
        <p:spPr>
          <a:xfrm>
            <a:off x="551383" y="1874520"/>
            <a:ext cx="3429000" cy="3246120"/>
          </a:xfrm>
          <a:prstGeom prst="roundRect">
            <a:avLst>
              <a:gd name="adj" fmla="val 5634"/>
            </a:avLst>
          </a:prstGeom>
          <a:solidFill>
            <a:srgbClr val="FFFFFF"/>
          </a:solidFill>
          <a:ln w="15875">
            <a:solidFill>
              <a:srgbClr val="0B9D76"/>
            </a:solidFill>
            <a:prstDash val="solid"/>
          </a:ln>
        </p:spPr>
      </p:sp>
      <p:sp>
        <p:nvSpPr>
          <p:cNvPr id="19" name="anim3_207"/>
          <p:cNvSpPr/>
          <p:nvPr/>
        </p:nvSpPr>
        <p:spPr>
          <a:xfrm>
            <a:off x="1717243" y="2331720"/>
            <a:ext cx="1097280" cy="1097280"/>
          </a:xfrm>
          <a:prstGeom prst="ellipse">
            <a:avLst/>
          </a:prstGeom>
          <a:solidFill>
            <a:srgbClr val="E7F5F0"/>
          </a:solidFill>
          <a:ln/>
        </p:spPr>
      </p:sp>
      <p:pic>
        <p:nvPicPr>
          <p:cNvPr id="20" name="anim3_208" descr="نافذة أفراد">    </p:cNvPr>
          <p:cNvPicPr>
            <a:picLocks noChangeAspect="1"/>
          </p:cNvPicPr>
          <p:nvPr/>
        </p:nvPicPr>
        <p:blipFill>
          <a:blip r:embed="rId5"/>
          <a:stretch>
            <a:fillRect/>
          </a:stretch>
        </p:blipFill>
        <p:spPr>
          <a:xfrm>
            <a:off x="2024482" y="2638958"/>
            <a:ext cx="482803" cy="482803"/>
          </a:xfrm>
          <a:prstGeom prst="rect">
            <a:avLst/>
          </a:prstGeom>
        </p:spPr>
      </p:pic>
      <p:sp>
        <p:nvSpPr>
          <p:cNvPr id="21" name="anim3_209"/>
          <p:cNvSpPr txBox="1"/>
          <p:nvPr/>
        </p:nvSpPr>
        <p:spPr>
          <a:xfrm>
            <a:off x="825703" y="3703320"/>
            <a:ext cx="2880360" cy="548640"/>
          </a:xfrm>
          <a:prstGeom prst="rect">
            <a:avLst/>
          </a:prstGeom>
          <a:noFill/>
          <a:ln/>
        </p:spPr>
        <p:txBody>
          <a:bodyPr wrap="square" lIns="0" tIns="0" rIns="0" bIns="0" rtlCol="0" anchor="t"/>
          <a:lstStyle/>
          <a:p>
            <a:pPr rtl="1" algn="ctr" indent="0" marL="0">
              <a:buNone/>
            </a:pPr>
            <a:r>
              <a:rPr lang="ar-SA" altLang="en-US" sz="2200" b="1" dirty="0">
                <a:solidFill>
                  <a:srgbClr val="0B9D76"/>
                </a:solidFill>
                <a:latin typeface="Cairo" pitchFamily="34" charset="0"/>
                <a:ea typeface="Cairo" pitchFamily="34" charset="-122"/>
                <a:cs typeface="Cairo" pitchFamily="34" charset="-120"/>
              </a:rPr>
              <a:t>فعاليات الأعمال</a:t>
            </a:r>
            <a:endParaRPr lang="ar-SA" sz="2200" dirty="0"/>
          </a:p>
        </p:txBody>
      </p:sp>
      <p:sp>
        <p:nvSpPr>
          <p:cNvPr id="22" name="anim3_210"/>
          <p:cNvSpPr txBox="1"/>
          <p:nvPr/>
        </p:nvSpPr>
        <p:spPr>
          <a:xfrm>
            <a:off x="825703" y="4343400"/>
            <a:ext cx="2880360" cy="731520"/>
          </a:xfrm>
          <a:prstGeom prst="rect">
            <a:avLst/>
          </a:prstGeom>
          <a:noFill/>
          <a:ln/>
        </p:spPr>
        <p:txBody>
          <a:bodyPr wrap="square" lIns="0" tIns="0" rIns="0" bIns="0" rtlCol="0" anchor="t"/>
          <a:lstStyle/>
          <a:p>
            <a:pPr rtl="1" algn="ctr" indent="0" marL="0">
              <a:buNone/>
            </a:pPr>
            <a:r>
              <a:rPr lang="ar-SA" altLang="en-US" sz="1500" dirty="0">
                <a:solidFill>
                  <a:srgbClr val="1A2340"/>
                </a:solidFill>
                <a:latin typeface="Cairo" pitchFamily="34" charset="0"/>
                <a:ea typeface="Cairo" pitchFamily="34" charset="-122"/>
                <a:cs typeface="Cairo" pitchFamily="34" charset="-120"/>
              </a:rPr>
              <a:t>متابعة فعاليات الأعمال في المدينة</a:t>
            </a:r>
            <a:endParaRPr lang="ar-SA"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childTnLst>
                          </p:cTn>
                        </p:par>
                        <p:par>
                          <p:cTn id="34"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par>
                          <p:cTn id="50" fill="hold">
                            <p:stCondLst>
                              <p:cond delay="14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1737360" y="-1737360"/>
            <a:ext cx="4206240" cy="4244479"/>
          </a:xfrm>
          <a:prstGeom prst="rect">
            <a:avLst/>
          </a:prstGeom>
        </p:spPr>
      </p:pic>
      <p:sp>
        <p:nvSpPr>
          <p:cNvPr id="3" name="Text 0"/>
          <p:cNvSpPr txBox="1"/>
          <p:nvPr/>
        </p:nvSpPr>
        <p:spPr>
          <a:xfrm>
            <a:off x="4754880" y="411480"/>
            <a:ext cx="6888175" cy="365760"/>
          </a:xfrm>
          <a:prstGeom prst="rect">
            <a:avLst/>
          </a:prstGeom>
          <a:noFill/>
          <a:ln/>
        </p:spPr>
        <p:txBody>
          <a:bodyPr wrap="square" lIns="0" tIns="0" rIns="0" bIns="0" rtlCol="0" anchor="t"/>
          <a:lstStyle/>
          <a:p>
            <a:pPr rtl="1" algn="r" indent="0" marL="0">
              <a:buNone/>
            </a:pPr>
            <a:r>
              <a:rPr lang="ar-SA" altLang="en-US" sz="1400" b="1" dirty="0">
                <a:solidFill>
                  <a:srgbClr val="0B9D76"/>
                </a:solidFill>
                <a:latin typeface="Cairo" pitchFamily="34" charset="0"/>
                <a:ea typeface="Cairo" pitchFamily="34" charset="-122"/>
                <a:cs typeface="Cairo" pitchFamily="34" charset="-120"/>
              </a:rPr>
              <a:t>نافذة أعمال</a:t>
            </a:r>
            <a:endParaRPr lang="ar-SA" sz="1400" dirty="0"/>
          </a:p>
        </p:txBody>
      </p:sp>
      <p:sp>
        <p:nvSpPr>
          <p:cNvPr id="4" name="Text 1"/>
          <p:cNvSpPr txBox="1"/>
          <p:nvPr/>
        </p:nvSpPr>
        <p:spPr>
          <a:xfrm>
            <a:off x="2926080" y="731520"/>
            <a:ext cx="8716975" cy="777240"/>
          </a:xfrm>
          <a:prstGeom prst="rect">
            <a:avLst/>
          </a:prstGeom>
          <a:noFill/>
          <a:ln/>
        </p:spPr>
        <p:txBody>
          <a:bodyPr wrap="square" lIns="0" tIns="0" rIns="0" bIns="0" rtlCol="0" anchor="t"/>
          <a:lstStyle/>
          <a:p>
            <a:pPr rtl="1" algn="r" indent="0" marL="0">
              <a:buNone/>
            </a:pPr>
            <a:r>
              <a:rPr lang="ar-SA" altLang="en-US" sz="3200" b="1" dirty="0">
                <a:solidFill>
                  <a:srgbClr val="0B9D76"/>
                </a:solidFill>
                <a:latin typeface="Cairo" pitchFamily="34" charset="0"/>
                <a:ea typeface="Cairo" pitchFamily="34" charset="-122"/>
                <a:cs typeface="Cairo" pitchFamily="34" charset="-120"/>
              </a:rPr>
              <a:t>ماذا تقدم نافذة أعمال لأصحاب الأعمال؟</a:t>
            </a:r>
            <a:endParaRPr lang="ar-SA" sz="3200" dirty="0"/>
          </a:p>
        </p:txBody>
      </p:sp>
      <p:pic>
        <p:nvPicPr>
          <p:cNvPr id="5" name="Image 1" descr="شعار نافذة">    </p:cNvPr>
          <p:cNvPicPr>
            <a:picLocks noChangeAspect="1"/>
          </p:cNvPicPr>
          <p:nvPr/>
        </p:nvPicPr>
        <p:blipFill>
          <a:blip r:embed="rId2"/>
          <a:stretch>
            <a:fillRect/>
          </a:stretch>
        </p:blipFill>
        <p:spPr>
          <a:xfrm>
            <a:off x="548640" y="6245352"/>
            <a:ext cx="310896" cy="313722"/>
          </a:xfrm>
          <a:prstGeom prst="rect">
            <a:avLst/>
          </a:prstGeom>
        </p:spPr>
      </p:pic>
      <p:sp>
        <p:nvSpPr>
          <p:cNvPr id="6" name="Text 2"/>
          <p:cNvSpPr txBox="1"/>
          <p:nvPr/>
        </p:nvSpPr>
        <p:spPr>
          <a:xfrm>
            <a:off x="932688" y="6245352"/>
            <a:ext cx="1463040" cy="310896"/>
          </a:xfrm>
          <a:prstGeom prst="rect">
            <a:avLst/>
          </a:prstGeom>
          <a:noFill/>
          <a:ln/>
        </p:spPr>
        <p:txBody>
          <a:bodyPr wrap="square" lIns="0" tIns="0" rIns="0" bIns="0" rtlCol="0" anchor="ctr"/>
          <a:lstStyle/>
          <a:p>
            <a:pPr rtl="1" algn="l" indent="0" marL="0">
              <a:buNone/>
            </a:pPr>
            <a:r>
              <a:rPr lang="ar-SA" altLang="en-US" sz="1100" b="1" dirty="0">
                <a:solidFill>
                  <a:srgbClr val="052977"/>
                </a:solidFill>
                <a:latin typeface="Cairo" pitchFamily="34" charset="0"/>
                <a:ea typeface="Cairo" pitchFamily="34" charset="-122"/>
                <a:cs typeface="Cairo" pitchFamily="34" charset="-120"/>
              </a:rPr>
              <a:t>نافذة أفراد</a:t>
            </a:r>
            <a:endParaRPr lang="ar-SA" sz="1100" dirty="0"/>
          </a:p>
        </p:txBody>
      </p:sp>
      <p:sp>
        <p:nvSpPr>
          <p:cNvPr id="7" name="Text 3"/>
          <p:cNvSpPr txBox="1"/>
          <p:nvPr/>
        </p:nvSpPr>
        <p:spPr>
          <a:xfrm>
            <a:off x="11094415" y="6245352"/>
            <a:ext cx="548640" cy="310896"/>
          </a:xfrm>
          <a:prstGeom prst="rect">
            <a:avLst/>
          </a:prstGeom>
          <a:noFill/>
          <a:ln/>
        </p:spPr>
        <p:txBody>
          <a:bodyPr wrap="square" lIns="0" tIns="0" rIns="0" bIns="0" rtlCol="0" anchor="ctr"/>
          <a:lstStyle/>
          <a:p>
            <a:pPr rtl="1" algn="r" indent="0" marL="0">
              <a:buNone/>
            </a:pPr>
            <a:r>
              <a:rPr lang="ar-SA" altLang="en-US" sz="1100" dirty="0">
                <a:solidFill>
                  <a:srgbClr val="5B6784"/>
                </a:solidFill>
                <a:latin typeface="Cairo" pitchFamily="34" charset="0"/>
                <a:ea typeface="Cairo" pitchFamily="34" charset="-122"/>
                <a:cs typeface="Cairo" pitchFamily="34" charset="-120"/>
              </a:rPr>
              <a:t>13</a:t>
            </a:r>
            <a:endParaRPr lang="ar-SA" sz="1100" dirty="0"/>
          </a:p>
        </p:txBody>
      </p:sp>
      <p:sp>
        <p:nvSpPr>
          <p:cNvPr id="8" name="anim1_211"/>
          <p:cNvSpPr/>
          <p:nvPr/>
        </p:nvSpPr>
        <p:spPr>
          <a:xfrm>
            <a:off x="6293815" y="1783080"/>
            <a:ext cx="5349240" cy="1691640"/>
          </a:xfrm>
          <a:prstGeom prst="roundRect">
            <a:avLst>
              <a:gd name="adj" fmla="val 9730"/>
            </a:avLst>
          </a:prstGeom>
          <a:solidFill>
            <a:srgbClr val="E7F5F0"/>
          </a:solidFill>
          <a:ln/>
        </p:spPr>
      </p:sp>
      <p:sp>
        <p:nvSpPr>
          <p:cNvPr id="9" name="anim1_212"/>
          <p:cNvSpPr/>
          <p:nvPr/>
        </p:nvSpPr>
        <p:spPr>
          <a:xfrm>
            <a:off x="10408615" y="2171700"/>
            <a:ext cx="914400" cy="914400"/>
          </a:xfrm>
          <a:prstGeom prst="ellipse">
            <a:avLst/>
          </a:prstGeom>
          <a:solidFill>
            <a:srgbClr val="0B9D76"/>
          </a:solidFill>
          <a:ln/>
        </p:spPr>
      </p:sp>
      <p:pic>
        <p:nvPicPr>
          <p:cNvPr id="10" name="anim1_213" descr="نافذة أفراد">    </p:cNvPr>
          <p:cNvPicPr>
            <a:picLocks noChangeAspect="1"/>
          </p:cNvPicPr>
          <p:nvPr/>
        </p:nvPicPr>
        <p:blipFill>
          <a:blip r:embed="rId3"/>
          <a:stretch>
            <a:fillRect/>
          </a:stretch>
        </p:blipFill>
        <p:spPr>
          <a:xfrm>
            <a:off x="10655503" y="2418588"/>
            <a:ext cx="420624" cy="420624"/>
          </a:xfrm>
          <a:prstGeom prst="rect">
            <a:avLst/>
          </a:prstGeom>
        </p:spPr>
      </p:pic>
      <p:sp>
        <p:nvSpPr>
          <p:cNvPr id="11" name="anim1_214"/>
          <p:cNvSpPr txBox="1"/>
          <p:nvPr/>
        </p:nvSpPr>
        <p:spPr>
          <a:xfrm>
            <a:off x="6613855" y="2167128"/>
            <a:ext cx="3657600" cy="457200"/>
          </a:xfrm>
          <a:prstGeom prst="rect">
            <a:avLst/>
          </a:prstGeom>
          <a:noFill/>
          <a:ln/>
        </p:spPr>
        <p:txBody>
          <a:bodyPr wrap="square" lIns="0" tIns="0" rIns="0" bIns="0" rtlCol="0" anchor="t"/>
          <a:lstStyle/>
          <a:p>
            <a:pPr rtl="1" algn="r" indent="0" marL="0">
              <a:buNone/>
            </a:pPr>
            <a:r>
              <a:rPr lang="ar-SA" altLang="en-US" sz="2100" b="1" dirty="0">
                <a:solidFill>
                  <a:srgbClr val="0B9D76"/>
                </a:solidFill>
                <a:latin typeface="Cairo" pitchFamily="34" charset="0"/>
                <a:ea typeface="Cairo" pitchFamily="34" charset="-122"/>
                <a:cs typeface="Cairo" pitchFamily="34" charset="-120"/>
              </a:rPr>
              <a:t>نافذة واحدة</a:t>
            </a:r>
            <a:endParaRPr lang="ar-SA" sz="2100" dirty="0"/>
          </a:p>
        </p:txBody>
      </p:sp>
      <p:sp>
        <p:nvSpPr>
          <p:cNvPr id="12" name="anim1_215"/>
          <p:cNvSpPr txBox="1"/>
          <p:nvPr/>
        </p:nvSpPr>
        <p:spPr>
          <a:xfrm>
            <a:off x="6613855" y="2651760"/>
            <a:ext cx="3657600" cy="411480"/>
          </a:xfrm>
          <a:prstGeom prst="rect">
            <a:avLst/>
          </a:prstGeom>
          <a:noFill/>
          <a:ln/>
        </p:spPr>
        <p:txBody>
          <a:bodyPr wrap="square" lIns="0" tIns="0" rIns="0" bIns="0" rtlCol="0" anchor="t"/>
          <a:lstStyle/>
          <a:p>
            <a:pPr rtl="1" algn="r" indent="0" marL="0">
              <a:buNone/>
            </a:pPr>
            <a:r>
              <a:rPr lang="ar-SA" altLang="en-US" sz="1500" dirty="0">
                <a:solidFill>
                  <a:srgbClr val="1A2340"/>
                </a:solidFill>
                <a:latin typeface="Cairo" pitchFamily="34" charset="0"/>
                <a:ea typeface="Cairo" pitchFamily="34" charset="-122"/>
                <a:cs typeface="Cairo" pitchFamily="34" charset="-120"/>
              </a:rPr>
              <a:t>بدل التنقل بين قنوات متعددة</a:t>
            </a:r>
            <a:endParaRPr lang="ar-SA" sz="1500" dirty="0"/>
          </a:p>
        </p:txBody>
      </p:sp>
      <p:sp>
        <p:nvSpPr>
          <p:cNvPr id="13" name="anim2_216"/>
          <p:cNvSpPr/>
          <p:nvPr/>
        </p:nvSpPr>
        <p:spPr>
          <a:xfrm>
            <a:off x="551383" y="1783080"/>
            <a:ext cx="5349240" cy="1691640"/>
          </a:xfrm>
          <a:prstGeom prst="roundRect">
            <a:avLst>
              <a:gd name="adj" fmla="val 9730"/>
            </a:avLst>
          </a:prstGeom>
          <a:solidFill>
            <a:srgbClr val="E7F5F0"/>
          </a:solidFill>
          <a:ln/>
        </p:spPr>
      </p:sp>
      <p:sp>
        <p:nvSpPr>
          <p:cNvPr id="14" name="anim2_217"/>
          <p:cNvSpPr/>
          <p:nvPr/>
        </p:nvSpPr>
        <p:spPr>
          <a:xfrm>
            <a:off x="4666183" y="2171700"/>
            <a:ext cx="914400" cy="914400"/>
          </a:xfrm>
          <a:prstGeom prst="ellipse">
            <a:avLst/>
          </a:prstGeom>
          <a:solidFill>
            <a:srgbClr val="0B9D76"/>
          </a:solidFill>
          <a:ln/>
        </p:spPr>
      </p:sp>
      <p:pic>
        <p:nvPicPr>
          <p:cNvPr id="15" name="anim2_218" descr="نافذة أفراد">    </p:cNvPr>
          <p:cNvPicPr>
            <a:picLocks noChangeAspect="1"/>
          </p:cNvPicPr>
          <p:nvPr/>
        </p:nvPicPr>
        <p:blipFill>
          <a:blip r:embed="rId4"/>
          <a:stretch>
            <a:fillRect/>
          </a:stretch>
        </p:blipFill>
        <p:spPr>
          <a:xfrm>
            <a:off x="4913071" y="2418588"/>
            <a:ext cx="420624" cy="420624"/>
          </a:xfrm>
          <a:prstGeom prst="rect">
            <a:avLst/>
          </a:prstGeom>
        </p:spPr>
      </p:pic>
      <p:sp>
        <p:nvSpPr>
          <p:cNvPr id="16" name="anim2_219"/>
          <p:cNvSpPr txBox="1"/>
          <p:nvPr/>
        </p:nvSpPr>
        <p:spPr>
          <a:xfrm>
            <a:off x="871423" y="2167128"/>
            <a:ext cx="3657600" cy="457200"/>
          </a:xfrm>
          <a:prstGeom prst="rect">
            <a:avLst/>
          </a:prstGeom>
          <a:noFill/>
          <a:ln/>
        </p:spPr>
        <p:txBody>
          <a:bodyPr wrap="square" lIns="0" tIns="0" rIns="0" bIns="0" rtlCol="0" anchor="t"/>
          <a:lstStyle/>
          <a:p>
            <a:pPr rtl="1" algn="r" indent="0" marL="0">
              <a:buNone/>
            </a:pPr>
            <a:r>
              <a:rPr lang="ar-SA" altLang="en-US" sz="2100" b="1" dirty="0">
                <a:solidFill>
                  <a:srgbClr val="0B9D76"/>
                </a:solidFill>
                <a:latin typeface="Cairo" pitchFamily="34" charset="0"/>
                <a:ea typeface="Cairo" pitchFamily="34" charset="-122"/>
                <a:cs typeface="Cairo" pitchFamily="34" charset="-120"/>
              </a:rPr>
              <a:t>وقت أقل</a:t>
            </a:r>
            <a:endParaRPr lang="ar-SA" sz="2100" dirty="0"/>
          </a:p>
        </p:txBody>
      </p:sp>
      <p:sp>
        <p:nvSpPr>
          <p:cNvPr id="17" name="anim2_220"/>
          <p:cNvSpPr txBox="1"/>
          <p:nvPr/>
        </p:nvSpPr>
        <p:spPr>
          <a:xfrm>
            <a:off x="871423" y="2651760"/>
            <a:ext cx="3657600" cy="411480"/>
          </a:xfrm>
          <a:prstGeom prst="rect">
            <a:avLst/>
          </a:prstGeom>
          <a:noFill/>
          <a:ln/>
        </p:spPr>
        <p:txBody>
          <a:bodyPr wrap="square" lIns="0" tIns="0" rIns="0" bIns="0" rtlCol="0" anchor="t"/>
          <a:lstStyle/>
          <a:p>
            <a:pPr rtl="1" algn="r" indent="0" marL="0">
              <a:buNone/>
            </a:pPr>
            <a:r>
              <a:rPr lang="ar-SA" altLang="en-US" sz="1500" dirty="0">
                <a:solidFill>
                  <a:srgbClr val="1A2340"/>
                </a:solidFill>
                <a:latin typeface="Cairo" pitchFamily="34" charset="0"/>
                <a:ea typeface="Cairo" pitchFamily="34" charset="-122"/>
                <a:cs typeface="Cairo" pitchFamily="34" charset="-120"/>
              </a:rPr>
              <a:t>وصول أسرع إلى الخدمات</a:t>
            </a:r>
            <a:endParaRPr lang="ar-SA" sz="1500" dirty="0"/>
          </a:p>
        </p:txBody>
      </p:sp>
      <p:sp>
        <p:nvSpPr>
          <p:cNvPr id="18" name="anim3_221"/>
          <p:cNvSpPr/>
          <p:nvPr/>
        </p:nvSpPr>
        <p:spPr>
          <a:xfrm>
            <a:off x="6293815" y="3794760"/>
            <a:ext cx="5349240" cy="1691640"/>
          </a:xfrm>
          <a:prstGeom prst="roundRect">
            <a:avLst>
              <a:gd name="adj" fmla="val 9730"/>
            </a:avLst>
          </a:prstGeom>
          <a:solidFill>
            <a:srgbClr val="E7F5F0"/>
          </a:solidFill>
          <a:ln/>
        </p:spPr>
      </p:sp>
      <p:sp>
        <p:nvSpPr>
          <p:cNvPr id="19" name="anim3_222"/>
          <p:cNvSpPr/>
          <p:nvPr/>
        </p:nvSpPr>
        <p:spPr>
          <a:xfrm>
            <a:off x="10408615" y="4183380"/>
            <a:ext cx="914400" cy="914400"/>
          </a:xfrm>
          <a:prstGeom prst="ellipse">
            <a:avLst/>
          </a:prstGeom>
          <a:solidFill>
            <a:srgbClr val="0B9D76"/>
          </a:solidFill>
          <a:ln/>
        </p:spPr>
      </p:sp>
      <p:pic>
        <p:nvPicPr>
          <p:cNvPr id="20" name="anim3_223" descr="نافذة أفراد">    </p:cNvPr>
          <p:cNvPicPr>
            <a:picLocks noChangeAspect="1"/>
          </p:cNvPicPr>
          <p:nvPr/>
        </p:nvPicPr>
        <p:blipFill>
          <a:blip r:embed="rId5"/>
          <a:stretch>
            <a:fillRect/>
          </a:stretch>
        </p:blipFill>
        <p:spPr>
          <a:xfrm>
            <a:off x="10655503" y="4430268"/>
            <a:ext cx="420624" cy="420624"/>
          </a:xfrm>
          <a:prstGeom prst="rect">
            <a:avLst/>
          </a:prstGeom>
        </p:spPr>
      </p:pic>
      <p:sp>
        <p:nvSpPr>
          <p:cNvPr id="21" name="anim3_224"/>
          <p:cNvSpPr txBox="1"/>
          <p:nvPr/>
        </p:nvSpPr>
        <p:spPr>
          <a:xfrm>
            <a:off x="6613855" y="4178808"/>
            <a:ext cx="3657600" cy="457200"/>
          </a:xfrm>
          <a:prstGeom prst="rect">
            <a:avLst/>
          </a:prstGeom>
          <a:noFill/>
          <a:ln/>
        </p:spPr>
        <p:txBody>
          <a:bodyPr wrap="square" lIns="0" tIns="0" rIns="0" bIns="0" rtlCol="0" anchor="t"/>
          <a:lstStyle/>
          <a:p>
            <a:pPr rtl="1" algn="r" indent="0" marL="0">
              <a:buNone/>
            </a:pPr>
            <a:r>
              <a:rPr lang="ar-SA" altLang="en-US" sz="2100" b="1" dirty="0">
                <a:solidFill>
                  <a:srgbClr val="0B9D76"/>
                </a:solidFill>
                <a:latin typeface="Cairo" pitchFamily="34" charset="0"/>
                <a:ea typeface="Cairo" pitchFamily="34" charset="-122"/>
                <a:cs typeface="Cairo" pitchFamily="34" charset="-120"/>
              </a:rPr>
              <a:t>رؤية أوضح</a:t>
            </a:r>
            <a:endParaRPr lang="ar-SA" sz="2100" dirty="0"/>
          </a:p>
        </p:txBody>
      </p:sp>
      <p:sp>
        <p:nvSpPr>
          <p:cNvPr id="22" name="anim3_225"/>
          <p:cNvSpPr txBox="1"/>
          <p:nvPr/>
        </p:nvSpPr>
        <p:spPr>
          <a:xfrm>
            <a:off x="6613855" y="4663440"/>
            <a:ext cx="3657600" cy="411480"/>
          </a:xfrm>
          <a:prstGeom prst="rect">
            <a:avLst/>
          </a:prstGeom>
          <a:noFill/>
          <a:ln/>
        </p:spPr>
        <p:txBody>
          <a:bodyPr wrap="square" lIns="0" tIns="0" rIns="0" bIns="0" rtlCol="0" anchor="t"/>
          <a:lstStyle/>
          <a:p>
            <a:pPr rtl="1" algn="r" indent="0" marL="0">
              <a:buNone/>
            </a:pPr>
            <a:r>
              <a:rPr lang="ar-SA" altLang="en-US" sz="1500" dirty="0">
                <a:solidFill>
                  <a:srgbClr val="1A2340"/>
                </a:solidFill>
                <a:latin typeface="Cairo" pitchFamily="34" charset="0"/>
                <a:ea typeface="Cairo" pitchFamily="34" charset="-122"/>
                <a:cs typeface="Cairo" pitchFamily="34" charset="-120"/>
              </a:rPr>
              <a:t>اطلاع على الفرص في المدن الأربع</a:t>
            </a:r>
            <a:endParaRPr lang="ar-SA" sz="1500" dirty="0"/>
          </a:p>
        </p:txBody>
      </p:sp>
      <p:sp>
        <p:nvSpPr>
          <p:cNvPr id="23" name="anim4_226"/>
          <p:cNvSpPr/>
          <p:nvPr/>
        </p:nvSpPr>
        <p:spPr>
          <a:xfrm>
            <a:off x="551383" y="3794760"/>
            <a:ext cx="5349240" cy="1691640"/>
          </a:xfrm>
          <a:prstGeom prst="roundRect">
            <a:avLst>
              <a:gd name="adj" fmla="val 9730"/>
            </a:avLst>
          </a:prstGeom>
          <a:solidFill>
            <a:srgbClr val="E7F5F0"/>
          </a:solidFill>
          <a:ln/>
        </p:spPr>
      </p:sp>
      <p:sp>
        <p:nvSpPr>
          <p:cNvPr id="24" name="anim4_227"/>
          <p:cNvSpPr/>
          <p:nvPr/>
        </p:nvSpPr>
        <p:spPr>
          <a:xfrm>
            <a:off x="4666183" y="4183380"/>
            <a:ext cx="914400" cy="914400"/>
          </a:xfrm>
          <a:prstGeom prst="ellipse">
            <a:avLst/>
          </a:prstGeom>
          <a:solidFill>
            <a:srgbClr val="0B9D76"/>
          </a:solidFill>
          <a:ln/>
        </p:spPr>
      </p:sp>
      <p:pic>
        <p:nvPicPr>
          <p:cNvPr id="25" name="anim4_228" descr="نافذة أفراد">    </p:cNvPr>
          <p:cNvPicPr>
            <a:picLocks noChangeAspect="1"/>
          </p:cNvPicPr>
          <p:nvPr/>
        </p:nvPicPr>
        <p:blipFill>
          <a:blip r:embed="rId6"/>
          <a:stretch>
            <a:fillRect/>
          </a:stretch>
        </p:blipFill>
        <p:spPr>
          <a:xfrm>
            <a:off x="4913071" y="4430268"/>
            <a:ext cx="420624" cy="420624"/>
          </a:xfrm>
          <a:prstGeom prst="rect">
            <a:avLst/>
          </a:prstGeom>
        </p:spPr>
      </p:pic>
      <p:sp>
        <p:nvSpPr>
          <p:cNvPr id="26" name="anim4_229"/>
          <p:cNvSpPr txBox="1"/>
          <p:nvPr/>
        </p:nvSpPr>
        <p:spPr>
          <a:xfrm>
            <a:off x="871423" y="4178808"/>
            <a:ext cx="3657600" cy="457200"/>
          </a:xfrm>
          <a:prstGeom prst="rect">
            <a:avLst/>
          </a:prstGeom>
          <a:noFill/>
          <a:ln/>
        </p:spPr>
        <p:txBody>
          <a:bodyPr wrap="square" lIns="0" tIns="0" rIns="0" bIns="0" rtlCol="0" anchor="t"/>
          <a:lstStyle/>
          <a:p>
            <a:pPr rtl="1" algn="r" indent="0" marL="0">
              <a:buNone/>
            </a:pPr>
            <a:r>
              <a:rPr lang="ar-SA" altLang="en-US" sz="2100" b="1" dirty="0">
                <a:solidFill>
                  <a:srgbClr val="0B9D76"/>
                </a:solidFill>
                <a:latin typeface="Cairo" pitchFamily="34" charset="0"/>
                <a:ea typeface="Cairo" pitchFamily="34" charset="-122"/>
                <a:cs typeface="Cairo" pitchFamily="34" charset="-120"/>
              </a:rPr>
              <a:t>تجربة متصلة</a:t>
            </a:r>
            <a:endParaRPr lang="ar-SA" sz="2100" dirty="0"/>
          </a:p>
        </p:txBody>
      </p:sp>
      <p:sp>
        <p:nvSpPr>
          <p:cNvPr id="27" name="anim4_230"/>
          <p:cNvSpPr txBox="1"/>
          <p:nvPr/>
        </p:nvSpPr>
        <p:spPr>
          <a:xfrm>
            <a:off x="871423" y="4663440"/>
            <a:ext cx="3657600" cy="411480"/>
          </a:xfrm>
          <a:prstGeom prst="rect">
            <a:avLst/>
          </a:prstGeom>
          <a:noFill/>
          <a:ln/>
        </p:spPr>
        <p:txBody>
          <a:bodyPr wrap="square" lIns="0" tIns="0" rIns="0" bIns="0" rtlCol="0" anchor="t"/>
          <a:lstStyle/>
          <a:p>
            <a:pPr rtl="1" algn="r" indent="0" marL="0">
              <a:buNone/>
            </a:pPr>
            <a:r>
              <a:rPr lang="ar-SA" altLang="en-US" sz="1500" dirty="0">
                <a:solidFill>
                  <a:srgbClr val="1A2340"/>
                </a:solidFill>
                <a:latin typeface="Cairo" pitchFamily="34" charset="0"/>
                <a:ea typeface="Cairo" pitchFamily="34" charset="-122"/>
                <a:cs typeface="Cairo" pitchFamily="34" charset="-120"/>
              </a:rPr>
              <a:t>هوية وتجربة موحدة مع نافذة أفراد</a:t>
            </a:r>
            <a:endParaRPr lang="ar-SA"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7"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childTnLst>
                          </p:cTn>
                        </p:par>
                        <p:par>
                          <p:cTn id="34" fill="hold">
                            <p:stCondLst>
                              <p:cond delay="7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par>
                          <p:cTn id="50" fill="hold">
                            <p:stCondLst>
                              <p:cond delay="14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50"/>
                                        <p:tgtEl>
                                          <p:spTgt spid="22"/>
                                        </p:tgtEl>
                                      </p:cBhvr>
                                    </p:animEffect>
                                  </p:childTnLst>
                                </p:cTn>
                              </p:par>
                            </p:childTnLst>
                          </p:cTn>
                        </p:par>
                        <p:par>
                          <p:cTn id="66" fill="hold">
                            <p:stCondLst>
                              <p:cond delay="2100"/>
                            </p:stCondLst>
                            <p:childTnLst>
                              <p:par>
                                <p:cTn id="51" presetID="10" presetClass="entr" presetSubtype="0" fill="hold" grpId="0" nodeType="after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5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زخرفة شعار نافذة">    </p:cNvPr>
          <p:cNvPicPr>
            <a:picLocks noChangeAspect="1"/>
          </p:cNvPicPr>
          <p:nvPr/>
        </p:nvPicPr>
        <p:blipFill>
          <a:blip r:embed="rId1">
            <a:alphaModFix amt="6000"/>
          </a:blip>
          <a:stretch>
            <a:fillRect/>
          </a:stretch>
        </p:blipFill>
        <p:spPr>
          <a:xfrm>
            <a:off x="8503920" y="-2103120"/>
            <a:ext cx="5486400" cy="5536276"/>
          </a:xfrm>
          <a:prstGeom prst="rect">
            <a:avLst/>
          </a:prstGeom>
        </p:spPr>
      </p:pic>
      <p:pic>
        <p:nvPicPr>
          <p:cNvPr id="3" name="Image 1" descr="زخرفة شعار نافذة">    </p:cNvPr>
          <p:cNvPicPr>
            <a:picLocks noChangeAspect="1"/>
          </p:cNvPicPr>
          <p:nvPr/>
        </p:nvPicPr>
        <p:blipFill>
          <a:blip r:embed="rId2">
            <a:alphaModFix amt="6000"/>
          </a:blip>
          <a:stretch>
            <a:fillRect/>
          </a:stretch>
        </p:blipFill>
        <p:spPr>
          <a:xfrm>
            <a:off x="-2011680" y="3931920"/>
            <a:ext cx="4937760" cy="4982649"/>
          </a:xfrm>
          <a:prstGeom prst="rect">
            <a:avLst/>
          </a:prstGeom>
        </p:spPr>
      </p:pic>
      <p:pic>
        <p:nvPicPr>
          <p:cNvPr id="4" name="anim1_231" descr="نافذة أفراد">    </p:cNvPr>
          <p:cNvPicPr>
            <a:picLocks noChangeAspect="1"/>
          </p:cNvPicPr>
          <p:nvPr/>
        </p:nvPicPr>
        <p:blipFill>
          <a:blip r:embed="rId3"/>
          <a:stretch>
            <a:fillRect/>
          </a:stretch>
        </p:blipFill>
        <p:spPr>
          <a:xfrm>
            <a:off x="10088575" y="1005840"/>
            <a:ext cx="1188720" cy="1199527"/>
          </a:xfrm>
          <a:prstGeom prst="rect">
            <a:avLst/>
          </a:prstGeom>
        </p:spPr>
      </p:pic>
      <p:sp>
        <p:nvSpPr>
          <p:cNvPr id="5" name="anim2_232"/>
          <p:cNvSpPr txBox="1"/>
          <p:nvPr/>
        </p:nvSpPr>
        <p:spPr>
          <a:xfrm>
            <a:off x="4572000" y="2514600"/>
            <a:ext cx="6705295" cy="822960"/>
          </a:xfrm>
          <a:prstGeom prst="rect">
            <a:avLst/>
          </a:prstGeom>
          <a:noFill/>
          <a:ln/>
        </p:spPr>
        <p:txBody>
          <a:bodyPr wrap="square" lIns="0" tIns="0" rIns="0" bIns="0" rtlCol="0" anchor="t"/>
          <a:lstStyle/>
          <a:p>
            <a:pPr rtl="1" algn="r" indent="0" marL="0">
              <a:buNone/>
            </a:pPr>
            <a:r>
              <a:rPr lang="ar-SA" altLang="en-US" sz="3600" b="1" dirty="0">
                <a:solidFill>
                  <a:srgbClr val="052977"/>
                </a:solidFill>
                <a:latin typeface="Cairo" pitchFamily="34" charset="0"/>
                <a:ea typeface="Cairo" pitchFamily="34" charset="-122"/>
                <a:cs typeface="Cairo" pitchFamily="34" charset="-120"/>
              </a:rPr>
              <a:t>نافذة أفراد: نافذتكم إلى المدينة</a:t>
            </a:r>
            <a:endParaRPr lang="ar-SA" sz="3600" dirty="0"/>
          </a:p>
        </p:txBody>
      </p:sp>
      <p:sp>
        <p:nvSpPr>
          <p:cNvPr id="6" name="anim3_233"/>
          <p:cNvSpPr txBox="1"/>
          <p:nvPr/>
        </p:nvSpPr>
        <p:spPr>
          <a:xfrm>
            <a:off x="4572000" y="3383280"/>
            <a:ext cx="6705295" cy="822960"/>
          </a:xfrm>
          <a:prstGeom prst="rect">
            <a:avLst/>
          </a:prstGeom>
          <a:noFill/>
          <a:ln/>
        </p:spPr>
        <p:txBody>
          <a:bodyPr wrap="square" lIns="0" tIns="0" rIns="0" bIns="0" rtlCol="0" anchor="t"/>
          <a:lstStyle/>
          <a:p>
            <a:pPr rtl="1" algn="r" indent="0" marL="0">
              <a:buNone/>
            </a:pPr>
            <a:r>
              <a:rPr lang="ar-SA" altLang="en-US" sz="2000" dirty="0">
                <a:solidFill>
                  <a:srgbClr val="1A2340"/>
                </a:solidFill>
                <a:latin typeface="Cairo" pitchFamily="34" charset="0"/>
                <a:ea typeface="Cairo" pitchFamily="34" charset="-122"/>
                <a:cs typeface="Cairo" pitchFamily="34" charset="-120"/>
              </a:rPr>
              <a:t>نعلن اليوم تدشين التطبيق للسكان والزوار.</a:t>
            </a:r>
            <a:endParaRPr lang="ar-SA" sz="2000" dirty="0"/>
          </a:p>
        </p:txBody>
      </p:sp>
      <p:sp>
        <p:nvSpPr>
          <p:cNvPr id="7" name="anim3_234"/>
          <p:cNvSpPr txBox="1"/>
          <p:nvPr/>
        </p:nvSpPr>
        <p:spPr>
          <a:xfrm>
            <a:off x="4572000" y="4343400"/>
            <a:ext cx="6705295" cy="548640"/>
          </a:xfrm>
          <a:prstGeom prst="rect">
            <a:avLst/>
          </a:prstGeom>
          <a:noFill/>
          <a:ln/>
        </p:spPr>
        <p:txBody>
          <a:bodyPr wrap="square" lIns="0" tIns="0" rIns="0" bIns="0" rtlCol="0" anchor="t"/>
          <a:lstStyle/>
          <a:p>
            <a:pPr rtl="1" algn="r" indent="0" marL="0">
              <a:buNone/>
            </a:pPr>
            <a:r>
              <a:rPr lang="ar-SA" altLang="en-US" sz="2200" b="1" dirty="0">
                <a:solidFill>
                  <a:srgbClr val="5B6784"/>
                </a:solidFill>
                <a:latin typeface="Cairo" pitchFamily="34" charset="0"/>
                <a:ea typeface="Cairo" pitchFamily="34" charset="-122"/>
                <a:cs typeface="Cairo" pitchFamily="34" charset="-120"/>
              </a:rPr>
              <a:t>شكرًا لكم</a:t>
            </a:r>
            <a:endParaRPr lang="ar-SA" sz="2200" dirty="0"/>
          </a:p>
        </p:txBody>
      </p:sp>
      <p:sp>
        <p:nvSpPr>
          <p:cNvPr id="8" name="anim2_235"/>
          <p:cNvSpPr/>
          <p:nvPr/>
        </p:nvSpPr>
        <p:spPr>
          <a:xfrm>
            <a:off x="1097280" y="1417320"/>
            <a:ext cx="2743200" cy="2743200"/>
          </a:xfrm>
          <a:prstGeom prst="roundRect">
            <a:avLst>
              <a:gd name="adj" fmla="val 6667"/>
            </a:avLst>
          </a:prstGeom>
          <a:solidFill>
            <a:srgbClr val="FFFFFF"/>
          </a:solidFill>
          <a:ln w="19050">
            <a:solidFill>
              <a:srgbClr val="052977"/>
            </a:solidFill>
            <a:prstDash val="solid"/>
          </a:ln>
        </p:spPr>
      </p:sp>
      <p:pic>
        <p:nvPicPr>
          <p:cNvPr id="9" name="anim2_236" descr="نافذة أفراد">    </p:cNvPr>
          <p:cNvPicPr>
            <a:picLocks noChangeAspect="1"/>
          </p:cNvPicPr>
          <p:nvPr/>
        </p:nvPicPr>
        <p:blipFill>
          <a:blip r:embed="rId4"/>
          <a:stretch>
            <a:fillRect/>
          </a:stretch>
        </p:blipFill>
        <p:spPr>
          <a:xfrm>
            <a:off x="1600200" y="1920240"/>
            <a:ext cx="1737360" cy="1737360"/>
          </a:xfrm>
          <a:prstGeom prst="rect">
            <a:avLst/>
          </a:prstGeom>
        </p:spPr>
      </p:pic>
      <p:sp>
        <p:nvSpPr>
          <p:cNvPr id="10" name="anim2_237"/>
          <p:cNvSpPr txBox="1"/>
          <p:nvPr/>
        </p:nvSpPr>
        <p:spPr>
          <a:xfrm>
            <a:off x="822960" y="4343400"/>
            <a:ext cx="3291840" cy="411480"/>
          </a:xfrm>
          <a:prstGeom prst="rect">
            <a:avLst/>
          </a:prstGeom>
          <a:noFill/>
          <a:ln/>
        </p:spPr>
        <p:txBody>
          <a:bodyPr wrap="square" lIns="0" tIns="0" rIns="0" bIns="0" rtlCol="0" anchor="t"/>
          <a:lstStyle/>
          <a:p>
            <a:pPr rtl="1" algn="ctr" indent="0" marL="0">
              <a:buNone/>
            </a:pPr>
            <a:r>
              <a:rPr lang="ar-SA" altLang="en-US" sz="1500" b="1" dirty="0">
                <a:solidFill>
                  <a:srgbClr val="052977"/>
                </a:solidFill>
                <a:latin typeface="Cairo" pitchFamily="34" charset="0"/>
                <a:ea typeface="Cairo" pitchFamily="34" charset="-122"/>
                <a:cs typeface="Cairo" pitchFamily="34" charset="-120"/>
              </a:rPr>
              <a:t>امسح الرمز لتحميل التطبيق</a:t>
            </a:r>
            <a:endParaRPr lang="ar-SA" sz="1500" dirty="0"/>
          </a:p>
        </p:txBody>
      </p:sp>
      <p:sp>
        <p:nvSpPr>
          <p:cNvPr id="11" name="anim4_238"/>
          <p:cNvSpPr txBox="1"/>
          <p:nvPr/>
        </p:nvSpPr>
        <p:spPr>
          <a:xfrm>
            <a:off x="1828800" y="5989320"/>
            <a:ext cx="8534095" cy="411480"/>
          </a:xfrm>
          <a:prstGeom prst="rect">
            <a:avLst/>
          </a:prstGeom>
          <a:noFill/>
          <a:ln/>
        </p:spPr>
        <p:txBody>
          <a:bodyPr wrap="square" lIns="0" tIns="0" rIns="0" bIns="0" rtlCol="0" anchor="t"/>
          <a:lstStyle/>
          <a:p>
            <a:pPr rtl="1" algn="ctr" indent="0" marL="0">
              <a:buNone/>
            </a:pPr>
            <a:r>
              <a:rPr lang="ar-SA" altLang="en-US" sz="1400" dirty="0">
                <a:solidFill>
                  <a:srgbClr val="5B6784"/>
                </a:solidFill>
                <a:latin typeface="Cairo" pitchFamily="34" charset="0"/>
                <a:ea typeface="Cairo" pitchFamily="34" charset="-122"/>
                <a:cs typeface="Cairo" pitchFamily="34" charset="-120"/>
              </a:rPr>
              <a:t>تطوير شركة رقيم للحلول الذكية</a:t>
            </a:r>
            <a:endParaRPr lang="ar-SA"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9" fill="hold">
                            <p:stCondLst>
                              <p:cond delay="7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childTnLst>
                                </p:cTn>
                              </p:par>
                            </p:childTnLst>
                          </p:cTn>
                        </p:par>
                        <p:par>
                          <p:cTn id="26"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5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50"/>
                                        <p:tgtEl>
                                          <p:spTgt spid="7"/>
                                        </p:tgtEl>
                                      </p:cBhvr>
                                    </p:animEffect>
                                  </p:childTnLst>
                                </p:cTn>
                              </p:par>
                            </p:childTnLst>
                          </p:cTn>
                        </p:par>
                        <p:par>
                          <p:cTn id="30" fill="hold">
                            <p:stCondLst>
                              <p:cond delay="2100"/>
                            </p:stCondLst>
                            <p:childTnLst>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i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i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شركة رقيم للحلول الذكية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نافذة أفراد</dc:title>
  <dc:subject>PptxGenJS Presentation</dc:subject>
  <dc:creator>PptxGenJS</dc:creator>
  <cp:lastModifiedBy>PptxGenJS</cp:lastModifiedBy>
  <cp:revision>1</cp:revision>
  <dcterms:created xsi:type="dcterms:W3CDTF">2026-09-29T21:43:20Z</dcterms:created>
  <dcterms:modified xsi:type="dcterms:W3CDTF">2026-09-29T21:43:20Z</dcterms:modified>
</cp:coreProperties>
</file>